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efbe7098934de4" /><Relationship Type="http://schemas.openxmlformats.org/officeDocument/2006/relationships/extended-properties" Target="/docProps/app.xml" Id="R4d677b219de9420b" /><Relationship Type="http://schemas.openxmlformats.org/officeDocument/2006/relationships/officeDocument" Target="/ppt/presentation.xml" Id="R10216c0132e34b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105d1000f24301"/>
  </p:sldMasterIdLst>
  <p:notesMasterIdLst>
    <p:notesMasterId xmlns:r="http://schemas.openxmlformats.org/officeDocument/2006/relationships" r:id="Rec788046dc4b4679"/>
  </p:notesMasterIdLst>
  <p:sldIdLst>
    <p:sldId xmlns:r="http://schemas.openxmlformats.org/officeDocument/2006/relationships" id="256" r:id="R082eb740ad9d4333"/>
    <p:sldId xmlns:r="http://schemas.openxmlformats.org/officeDocument/2006/relationships" id="257" r:id="R210f01b1d4874913"/>
    <p:sldId xmlns:r="http://schemas.openxmlformats.org/officeDocument/2006/relationships" id="258" r:id="R1f9208dd8b644ec9"/>
    <p:sldId xmlns:r="http://schemas.openxmlformats.org/officeDocument/2006/relationships" id="259" r:id="R4f0ec28199fb4aec"/>
    <p:sldId xmlns:r="http://schemas.openxmlformats.org/officeDocument/2006/relationships" id="260" r:id="R0c6a496550534181"/>
    <p:sldId xmlns:r="http://schemas.openxmlformats.org/officeDocument/2006/relationships" id="261" r:id="R1191622e333c45a3"/>
    <p:sldId xmlns:r="http://schemas.openxmlformats.org/officeDocument/2006/relationships" id="262" r:id="R9b9cb531c25a4aae"/>
    <p:sldId xmlns:r="http://schemas.openxmlformats.org/officeDocument/2006/relationships" id="263" r:id="R43ff276ea4ed46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97755f85194435a" /><Relationship Type="http://schemas.openxmlformats.org/officeDocument/2006/relationships/slideMaster" Target="/ppt/slideMasters/slideMaster1.xml" Id="Rf7105d1000f24301" /><Relationship Type="http://schemas.openxmlformats.org/officeDocument/2006/relationships/notesMaster" Target="/ppt/notesMasters/notesMaster1.xml" Id="Rec788046dc4b4679" /><Relationship Type="http://schemas.openxmlformats.org/officeDocument/2006/relationships/presProps" Target="/ppt/presProps.xml" Id="R295182c020484665" /><Relationship Type="http://schemas.openxmlformats.org/officeDocument/2006/relationships/tableStyles" Target="/ppt/tableStyles.xml" Id="R6cc4e478c4694e67" /><Relationship Type="http://schemas.openxmlformats.org/officeDocument/2006/relationships/slide" Target="/ppt/slides/slide1.xml" Id="R082eb740ad9d4333" /><Relationship Type="http://schemas.openxmlformats.org/officeDocument/2006/relationships/slide" Target="/ppt/slides/slide2.xml" Id="R210f01b1d4874913" /><Relationship Type="http://schemas.openxmlformats.org/officeDocument/2006/relationships/slide" Target="/ppt/slides/slide3.xml" Id="R1f9208dd8b644ec9" /><Relationship Type="http://schemas.openxmlformats.org/officeDocument/2006/relationships/slide" Target="/ppt/slides/slide4.xml" Id="R4f0ec28199fb4aec" /><Relationship Type="http://schemas.openxmlformats.org/officeDocument/2006/relationships/slide" Target="/ppt/slides/slide5.xml" Id="R0c6a496550534181" /><Relationship Type="http://schemas.openxmlformats.org/officeDocument/2006/relationships/slide" Target="/ppt/slides/slide6.xml" Id="R1191622e333c45a3" /><Relationship Type="http://schemas.openxmlformats.org/officeDocument/2006/relationships/slide" Target="/ppt/slides/slide7.xml" Id="R9b9cb531c25a4aae" /><Relationship Type="http://schemas.openxmlformats.org/officeDocument/2006/relationships/slide" Target="/ppt/slides/slide8.xml" Id="R43ff276ea4ed46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e3b60b7f68847e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12394675cbc4779" /><Relationship Type="http://schemas.openxmlformats.org/officeDocument/2006/relationships/notesMaster" Target="/ppt/notesMasters/notesMaster1.xml" Id="R285bf491b7634d3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bf3bda25d146d2" /><Relationship Type="http://schemas.openxmlformats.org/officeDocument/2006/relationships/notesMaster" Target="/ppt/notesMasters/notesMaster1.xml" Id="R87bf826d50e644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a3f1701e674776" /><Relationship Type="http://schemas.openxmlformats.org/officeDocument/2006/relationships/notesMaster" Target="/ppt/notesMasters/notesMaster1.xml" Id="Ra055ca2b06e0446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e49818b9a574b62" /><Relationship Type="http://schemas.openxmlformats.org/officeDocument/2006/relationships/notesMaster" Target="/ppt/notesMasters/notesMaster1.xml" Id="Rf33c33237bf84fc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620b55c8d247cb" /><Relationship Type="http://schemas.openxmlformats.org/officeDocument/2006/relationships/notesMaster" Target="/ppt/notesMasters/notesMaster1.xml" Id="R55a51c85f45a4e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959a6c58e114a26" /><Relationship Type="http://schemas.openxmlformats.org/officeDocument/2006/relationships/notesMaster" Target="/ppt/notesMasters/notesMaster1.xml" Id="R7c1b43de0f164d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9c4a00694cc40be" /><Relationship Type="http://schemas.openxmlformats.org/officeDocument/2006/relationships/notesMaster" Target="/ppt/notesMasters/notesMaster1.xml" Id="Rb62174df06b04b3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0e817c9ecf4f8b" /><Relationship Type="http://schemas.openxmlformats.org/officeDocument/2006/relationships/notesMaster" Target="/ppt/notesMasters/notesMaster1.xml" Id="Rd7e85fd559a747d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https://pubmed.ncbi.nlm.nih.gov/?term=%28%28oligonucleotide+OR+%22nucleic+acid%22+OR+siRNA%29+AND+%28%22LC-MS%22+OR+chromatography+OR+%22mass+spectrometry%22%29%29+AND+%28%222025%2F08%2F02%22%5BDate+-+Publication%5D+%3A+%222026%2F08%2F02%22%5BDate+-+Publication%5D%29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https://www.reddit.com/r/CHROMATOGRAPHY/comments/1h1i93y/waters_acquity_uplc_beh_17_um_21_x_100_mm_column/</a:t>
            </a:r>
          </a:p>
          <a:p xmlns:a="http://schemas.openxmlformats.org/drawingml/2006/main">
            <a:r>
              <a:t>- https://www.reddit.com/r/CHROMATOGRAPHY/comments/1e3y2sy/getting_started_with_empower_3/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https://www.reddit.com/r/CHROMATOGRAPHY/comments/1uk333s/update_uplc_waters_high_pressure_problem/</a:t>
            </a:r>
          </a:p>
          <a:p xmlns:a="http://schemas.openxmlformats.org/drawingml/2006/main">
            <a:r>
              <a:t>- https://www.reddit.com/r/CHROMATOGRAPHY/comments/1h1i93y/waters_acquity_uplc_beh_17_um_21_x_100_mm_column/</a:t>
            </a:r>
          </a:p>
          <a:p xmlns:a="http://schemas.openxmlformats.org/drawingml/2006/main">
            <a:r>
              <a:t>- https://www.reddit.com/r/CHROMATOGRAPHY/comments/1e3y2sy/getting_started_with_empower_3/</a:t>
            </a:r>
          </a:p>
          <a:p xmlns:a="http://schemas.openxmlformats.org/drawingml/2006/main">
            <a:r>
              <a:t>- https://www.labwrench.com/thread/135698/hplc-pump-and-autosampler-preventative-performance-maintenance</a:t>
            </a:r>
          </a:p>
          <a:p xmlns:a="http://schemas.openxmlformats.org/drawingml/2006/main">
            <a:r>
              <a:t>- https://www.reddit.com/r/CHROMATOGRAPHY/comments/1somxpf/waters_acquity_arc_lcms_214_nm_uv_baseline/</a:t>
            </a:r>
          </a:p>
          <a:p xmlns:a="http://schemas.openxmlformats.org/drawingml/2006/main">
            <a:r>
              <a:t>- https://www.reddit.com/r/CHROMATOGRAPHY/comments/xlr4pf/best_uhplc_on_the_market/</a:t>
            </a:r>
          </a:p>
          <a:p xmlns:a="http://schemas.openxmlformats.org/drawingml/2006/main">
            <a:r>
              <a:t>- https://www.reddit.com/r/CHROMATOGRAPHY/comments/1q24noh/reccomendations_for_new_hplc_system_for_routine/</a:t>
            </a:r>
          </a:p>
          <a:p xmlns:a="http://schemas.openxmlformats.org/drawingml/2006/main">
            <a:r>
              <a:t>- https://www.reddit.com/r/CHROMATOGRAPHY/comments/1h6lnr0/agilent_1260_hplc_vs_thermo_vanquish_flex/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https://pubmed.ncbi.nlm.nih.gov/?term=%28%28oligonucleotide+OR+%22nucleic+acid%22+OR+siRNA%29+AND+%28%22LC-MS%22+OR+chromatography+OR+%22mass+spectrometry%22%29%29+AND+%28%222025%2F08%2F02%22%5BDate+-+Publication%5D+%3A+%222026%2F08%2F02%22%5BDate+-+Publication%5D%29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- https://pubmed.ncbi.nlm.nih.gov/42398371/</a:t>
            </a:r>
          </a:p>
          <a:p xmlns:a="http://schemas.openxmlformats.org/drawingml/2006/main">
            <a:r>
              <a:t>- https://www.shimadzu.com/an/products/liquid-chromatograph-mass-spectrometry/triple-quadrupole-lc-msms/lcms-8065xe/index.html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https://www.thermofisher.com/us/en/home/industrial/chromatography/liquid-chromatography-lc/hplc-uhplc-systems/vanquish-amplify-uhplc-system.html</a:t>
            </a:r>
          </a:p>
          <a:p xmlns:a="http://schemas.openxmlformats.org/drawingml/2006/main">
            <a:r>
              <a:t>- https://pubmed.ncbi.nlm.nih.gov/?term=%28%28%22laboratory+automation%22+OR+%22workflow+software%22+OR+%22AI%22%29+AND+%28%22LC-MS%22+OR+chromatography+OR+%22mass+spectrometry%22%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https://www.agilent.com/about/newsroom/presrel/2026/20may-ca26015.html</a:t>
            </a:r>
          </a:p>
          <a:p xmlns:a="http://schemas.openxmlformats.org/drawingml/2006/main">
            <a:r>
              <a:t>- https://www.thermofisher.com/order/catalog/product/VQ-AMPLIFY</a:t>
            </a:r>
          </a:p>
          <a:p xmlns:a="http://schemas.openxmlformats.org/drawingml/2006/main">
            <a:r>
              <a:t>- https://pubmed.ncbi.nlm.nih.gov/?term=%28%28oligonucleotide+OR+%22nucleic+acid%22+OR+siRNA%29+AND+%28%22LC-MS%22+OR+chromatography+OR+%22mass+spectrometry%22%29%29+AND+%28%222025%2F08%2F02%22%5BDate+-+Publication%5D+%3A+%222026%2F08%2F02%22%5BDate+-+Publication%5D%29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https://pubmed.ncbi.nlm.nih.gov/?term=%28%28PFAS+OR+%22per-+and+polyfluoroalkyl%22%29+AND+%28%22LC-MS%22+OR+%22LC-MS%2FMS%22+OR+chromatography%29%29+AND+%28%222025%2F08%2F02%22%5BDate+-+Publication%5D+%3A+%222026%2F08%2F02%22%5BDate+-+Publication%5D%29</a:t>
            </a:r>
          </a:p>
          <a:p xmlns:a="http://schemas.openxmlformats.org/drawingml/2006/main">
            <a:r>
              <a:t>- https://www.agilent.com/about/newsroom/presrel/2026/29may-ca26021.html</a:t>
            </a:r>
          </a:p>
          <a:p xmlns:a="http://schemas.openxmlformats.org/drawingml/2006/main">
            <a:r>
              <a:t>- https://www.sec.gov/Archives/edgar/data/1090872/000109087226000055/a-20260430.htm</a:t>
            </a:r>
          </a:p>
          <a:p xmlns:a="http://schemas.openxmlformats.org/drawingml/2006/main">
            <a:r>
              <a:t>- https://www.shimadzu.com/news/2026/k8iri3_20_z4uvwt.html</a:t>
            </a:r>
          </a:p>
          <a:p xmlns:a="http://schemas.openxmlformats.org/drawingml/2006/main">
            <a:r>
              <a:t>- https://sciex.com/about-us/press-releases/2026/sciex-launches-its-5th-generation-of-nominal-mass-novus-v55-system-with-sciexos-5-0-software</a:t>
            </a:r>
          </a:p>
          <a:p xmlns:a="http://schemas.openxmlformats.org/drawingml/2006/main">
            <a:r>
              <a:t>- https://www.bioprocessingsummit.com/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b456f250d74d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70d6ccc10dd4a7f" /><Relationship Type="http://schemas.openxmlformats.org/officeDocument/2006/relationships/slideLayout" Target="/ppt/slideLayouts/slideLayout1.xml" Id="R21f03e67d6e247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f03e67d6e247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3fa22adbf14038" /><Relationship Type="http://schemas.openxmlformats.org/officeDocument/2006/relationships/notesSlide" Target="/ppt/notesSlides/notesSlide1.xml" Id="R6f8a8d03004d42b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d07d2464e148f3" /><Relationship Type="http://schemas.openxmlformats.org/officeDocument/2006/relationships/notesSlide" Target="/ppt/notesSlides/notesSlide2.xml" Id="R1b035da5571041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d7f872c39740c3" /><Relationship Type="http://schemas.openxmlformats.org/officeDocument/2006/relationships/notesSlide" Target="/ppt/notesSlides/notesSlide3.xml" Id="R6b0b5fce51ca463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6b4b6b6db847d1" /><Relationship Type="http://schemas.openxmlformats.org/officeDocument/2006/relationships/notesSlide" Target="/ppt/notesSlides/notesSlide4.xml" Id="R919e9e59e19245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a4c653d6f84592" /><Relationship Type="http://schemas.openxmlformats.org/officeDocument/2006/relationships/notesSlide" Target="/ppt/notesSlides/notesSlide5.xml" Id="R3631b0186e9241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23b0aae8464054" /><Relationship Type="http://schemas.openxmlformats.org/officeDocument/2006/relationships/notesSlide" Target="/ppt/notesSlides/notesSlide6.xml" Id="R50e187f931b64e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50c0c9bb984dda" /><Relationship Type="http://schemas.openxmlformats.org/officeDocument/2006/relationships/notesSlide" Target="/ppt/notesSlides/notesSlide7.xml" Id="R07f453feb8a54e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16b57356f413d" /><Relationship Type="http://schemas.openxmlformats.org/officeDocument/2006/relationships/hyperlink" Target="https://pubmed.ncbi.nlm.nih.gov/?term=%28%28PFAS+OR+%22per-+and+polyfluoroalkyl%22%29+AND+%28%22LC-MS%22+OR+%22LC-MS%2FMS%22+OR+chromatography%29%29+AND+%28%222025%2F08%2F02%22%5BDate+-+Publication%5D+%3A+%222026%2F08%2F02%22%5BDate+-+Publication%5D%29" TargetMode="External" Id="R7d26182d7fb24b82" /><Relationship Type="http://schemas.openxmlformats.org/officeDocument/2006/relationships/hyperlink" Target="https://www.agilent.com/about/newsroom/presrel/2026/29may-ca26021.html" TargetMode="External" Id="R2aa1c9e9d6c743c6" /><Relationship Type="http://schemas.openxmlformats.org/officeDocument/2006/relationships/hyperlink" Target="https://www.sec.gov/Archives/edgar/data/1090872/000109087226000055/a-20260430.htm" TargetMode="External" Id="R63f0abd5968b4174" /><Relationship Type="http://schemas.openxmlformats.org/officeDocument/2006/relationships/hyperlink" Target="https://www.shimadzu.com/news/2026/k8iri3_20_z4uvwt.html" TargetMode="External" Id="R6a2e00cef6ad4a02" /><Relationship Type="http://schemas.openxmlformats.org/officeDocument/2006/relationships/hyperlink" Target="https://sciex.com/about-us/press-releases/2026/sciex-launches-its-5th-generation-of-nominal-mass-novus-v55-system-with-sciexos-5-0-software" TargetMode="External" Id="R0dc18a94407e4373" /><Relationship Type="http://schemas.openxmlformats.org/officeDocument/2006/relationships/hyperlink" Target="https://www.bioprocessingsummit.com/" TargetMode="External" Id="Rfd5cf979efdf4df0" /><Relationship Type="http://schemas.openxmlformats.org/officeDocument/2006/relationships/notesSlide" Target="/ppt/notesSlides/notesSlide8.xml" Id="R983ecc0e1edc4b9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364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A87100-EAD3-404A-9841-C5A235C5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DA041D-8E7B-417C-B702-A9D7B319F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67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WATERS · NEXT GEN LC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067D50-17B1-4141-9B7C-6DCF130E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24000"/>
            <a:ext cx="8953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87B0E1-C2B8-456A-B7FC-83E445F7F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19350"/>
            <a:ext cx="8477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Five external signals. Three evidence-gated decisions.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38A316-9303-4CC9-9EE8-8DEDE3D0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752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A concise executive readout of scientific momentum, competitor moves, customer friction, corporate intent, and the next conference moment.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3B15B9-A3CE-4259-A24C-D4EE2B4D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85900"/>
            <a:ext cx="2400300" cy="264795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0D4A54"/>
          </a:solidFill>
          <a:ln xmlns:a="http://schemas.openxmlformats.org/drawingml/2006/main" w="9525">
            <a:solidFill>
              <a:srgbClr val="2B626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4EF81-060A-402A-8994-CAC90A3E8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8859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DATA CURRENT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A894A7-C1A4-4C79-9879-559AB0C3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47900"/>
            <a:ext cx="1428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5A235E-D7F9-4739-AA1B-E233C54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0480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AUG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606D2F-1915-4003-B82C-E3F96C7C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619500"/>
            <a:ext cx="148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1767F-A635-467F-8EDF-8B8CBAA91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52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45146E-25E2-476C-8B8A-4512665D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531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9D9DB"/>
                </a:solidFill>
                <a:latin typeface="Aptos"/>
                <a:ea typeface="Aptos"/>
                <a:cs typeface="Aptos"/>
              </a:rPr>
              <a:t>Prepared for roadmap review · waters-ci-20260802160152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5B7467-DF16-40CE-B910-9DA851BB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15315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885914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2F0D821-C588-4C5E-9A7D-D792081C8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A154E1-FDDC-40B3-AEF7-E17D3F342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Leadership Brief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0B4BA0-A826-4B17-AC9F-69CFD88F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6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strongest cross-page pattern is not a single specification—it is proof that the full workflow is easier to execute, transfer, and troubleshoot.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45C44-C531-4865-AA6B-094D0B0C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65407-7037-4558-896B-32B917A2E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11633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6B8D71-1E73-4F64-BBC9-18D13054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LEADERSHIP IMPLICATION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8A9F43-3E71-4025-8147-10EF68D88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16217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778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Test new requirements against workflow proof, not feature parity alone.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F4D18-05C0-40B3-9BDA-9D0B2B4E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4F20DB-12AA-4751-A3B5-4061F653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51619-62B3-475F-9227-16B5AE3D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1,125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DD452D-9A57-4CF1-8C67-8BAA77676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Automation and software workflow publications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75103-926D-4495-9C25-D8666A58F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activity in the last year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F6E325-5265-4A5A-BEFD-F821A854B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CE382D-2424-456A-B77D-89C55236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590C74-13F7-4C7E-BED0-E7F4BF4B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325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C72A1C-07E6-4AF0-8CD9-FF7EB394F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and contaminant-testing publications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697C9B-3B86-4E29-B176-3F5F2FB5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 regulated-testing activity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86412-A100-4211-93CC-E147C016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CEC7A0-DB14-460C-A3C6-0A0226361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143250"/>
            <a:ext cx="33718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A0C7E2-C1D3-462B-8161-9118ED4DF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29000"/>
            <a:ext cx="2914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34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647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4D2ECE-F9BD-42B0-B22B-764070EB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095750"/>
            <a:ext cx="29146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Oligonucleotide and nucleic-acid publications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BAE532-8D03-4CFE-8992-3E2CCD538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629150"/>
            <a:ext cx="2914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Substantial application evidence base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1A37CF-41C4-4A05-ABE5-2F64EF08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02 AUG 2026 · waters-ci-20260802160152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42248A-B772-4A1A-ADC0-A6CFA2D2B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484359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FC065B-3114-41A9-8FED-C8716A714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6DF707-5F93-4D69-9669-7E20F6877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Five signals now shape the roadmap conversation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972A3-1737-47AD-8005-E654DB0B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Each signal comes from a different evidence class; together they show why leadership attention is warranted.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BF8CF7-2875-4DD8-B493-1B5F41519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2DC171-F87D-47F2-BBB8-2E082FE6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2060C3-BC2F-4A48-BB49-6D7C093A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761F1-450D-4359-ACA5-41EF2FC0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05984A-5F53-4491-8689-C1A2AD2B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80DF25-D31F-40A7-89E0-13E1D067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activity remains substantial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76605-8A41-47FA-8575-BE85D8C0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325 records from the canonical PubMed query.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BA36D-F642-4ACD-997F-D0442D2B5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0574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58E1DF-98CC-4B61-BC34-5EB3FC87C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288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899533-BC86-4279-BF5D-8ACC0471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3050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441135-07A0-40FC-A420-0DF77B5A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193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COMPETITOR LAUNCH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F3FA00-BFD7-4AF0-97F4-2BCA6A98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669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is packaging LC/TOF into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58DE68-153B-4794-81EF-E8EA1E2C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337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issuer evidence from Agilent's official release.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A8DA6A-17AA-4557-BB20-316B5BA7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455489-11F1-465B-9B0B-2E57E2F4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809F6F-10A4-45DC-87A3-1157C288B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A36BD54-9DC0-49B9-9C7C-A113F8618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CUSTOMER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406C45-C574-40D9-8E0E-33CBE6FA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Troubleshooting requires internal validation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9DDDA2-C2C9-4F54-B4D6-0521F4D5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Public forum recurrence requires internal field validation.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DAB1C5-D909-40E3-B01F-3DB8D8289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6195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7212F9B-9D40-43FC-8C7B-3CC693721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909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6E2F532-925A-4A69-ACF4-4FA552D2B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671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DB440A-58CD-47D8-A097-DB02FE07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7814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CORPORATE INTENT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DD3AB9-E8A3-40CD-A047-491BC318A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0290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Agilent calls LC and LC-MS growth engines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9B7C7F-8540-4D68-968E-0165C6024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958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issuer filing; no independent external corroboration.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AE1128-6E0D-4499-8B9C-A10058952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5181600"/>
            <a:ext cx="53149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27E342-7B3F-41CC-ABE2-5929B010E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353050"/>
            <a:ext cx="400050" cy="4000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1772EDD-D6D0-4737-91BB-B8ABC39EC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5429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3048CE7-E6EC-45FF-9206-B325354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343525"/>
            <a:ext cx="44005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CAFA654-A56C-4E5C-9555-B27F91C3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5591175"/>
            <a:ext cx="4400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begins Aug 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E48ED1-5C7B-4ECA-BAA9-4CB656402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6057900"/>
            <a:ext cx="4400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Observed agenda and sponsor facts from the event site.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7B8D9A-1A75-4248-A113-99586737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02 AUG 2026 · waters-ci-20260802160152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D94002-F376-4DFF-9ED3-EDF60E1E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332053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B413A6A-12A6-428D-92A9-7F6EC28B0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149860-D663-46A2-AF00-37DF42766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 competitor actions suggest workflow packaging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BFA23B-9BC6-45AC-BC45-BFF9AB5C1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 confidence is Directional: each company view lacks two independently corroborating source families.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DDCC34-DE4D-4CAE-B07C-9C7BA4E0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27A98D-279D-4DD9-A0CF-5CA8448D9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9E9826-A4D7-4DC3-AF55-8FF4EC7A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9B9C1A-64F3-4F8B-BC4E-604BF8B59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SHIMADZU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55887C-7CCE-4A68-BD3F-183F0A00D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Mar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3A2E50-3BCD-41D6-8852-700162EB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Nexera X4 launch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7452E0-557F-4910-B50B-42AB0E9A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productivity-led LC positioning. Alternative: normal platform refresh.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E6143A-3302-458B-A433-3E16E279D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F4DBE-6B83-4A69-AD46-A95A25CD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930113-910F-4FC9-BFEE-5A5BDC6C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2764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AGILENT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C06229-8998-4BC5-9F67-E070C798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2764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03 Jun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0DED21-B267-4FE8-B8A7-D78B2CC91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5622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6230C LC/TOF in MAM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923471-5968-4E29-9C33-00F348F6E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146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application-specific workflow packaging. Alternative: campaign positioning.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2D48EF-02F3-4D3C-8710-77296DBAF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21762D-A5E2-40DD-816A-29EF44771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8E039B-190A-4947-9820-6D28C046F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SCIEX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BDCB4F-667A-4E08-9F28-C0E65382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01 Jun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7502DB-1C61-48CD-92C8-98A201172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novus V55 + SCIEX OS 5.0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D48781-36E9-44F8-9937-3C32EBD9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software-led nominal-mass offer; this does not verify broader HRMS depth.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7EEF82-54FF-4D77-A94E-73A2C1212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276850" cy="16954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BCBFDC-EC86-4A51-B3F0-0F2329E24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76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1CE5E4-F412-496F-A178-44AEFCE27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219575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THERMO FISHER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6B03C8-2733-4E5C-8F91-B284B50D3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4219575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CURRENT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E1598D-6FA3-4E93-83A5-57D454975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505325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Observed: Vanquish Amplify product page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A942D0-CC61-4CC0-AEF1-55BE96E12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57775"/>
            <a:ext cx="476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Inference: inert biopharma workflow packaging. Alternative: portfolio positioning.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C95967-9BA5-4317-AA17-BE6B4A4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02 AUG 2026 · waters-ci-20260802160152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953434E-8324-4AC1-95F8-0AB3194A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783739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9EB8A9-B122-408F-881C-92AB0AD87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2518BC-F0A2-45CF-8825-B380EDC40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Customer evidence is a validation input—not a prevalence estimate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A848C-CF92-4B55-8728-6F5E38D3B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Forum evidence is promoted to leadership only when at least three independent sources support the same theme.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792F1-E7A3-4DAD-84FA-63E98AF08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8DE43E-6F54-4FEB-B2A7-5B97963F8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14550"/>
            <a:ext cx="43243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AC3129-F2AF-47C1-9F88-5F85C819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765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45D5C6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45D5C6"/>
                </a:solidFill>
                <a:latin typeface="Aptos"/>
                <a:ea typeface="Aptos"/>
                <a:cs typeface="Aptos"/>
              </a:rPr>
              <a:t>DIRECTIONAL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8E43BE-801F-40B5-89C7-7D794ADF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6230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C9D9D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9D9DB"/>
                </a:solidFill>
                <a:latin typeface="Aptos"/>
                <a:ea typeface="Aptos"/>
                <a:cs typeface="Aptos"/>
              </a:rPr>
              <a:t>PUBLIC CUSTOMER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6E5606-C290-4670-BF8B-15CD1835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Leadership threshold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86F4A4-4647-42AA-BCB5-593EE7A8B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71950"/>
            <a:ext cx="333375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3+ independent sources</a:t>
            </a:r>
          </a:p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plus internal field validation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F3C971-CB00-4B77-9D1F-33889644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6534150" cy="3695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CD539-537A-4FDB-B2A0-69A8D4DF1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19350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WHAT LEADERS SHOULD TAKE FROM 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2E835-EDB2-491F-B7C4-2BDC1728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81300"/>
            <a:ext cx="571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6207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1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Do not infer product weakness from one complaint.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95DFDD-70C2-4DA7-90E1-0766F2C71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600450"/>
            <a:ext cx="561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Before adding requirements, validate: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580E14-21ED-481C-8DE0-7D58D4D5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19550"/>
            <a:ext cx="552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1. Which failure modes repeat across customer and field records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2. How long users take to isolate and recover from them</a:t>
            </a:r>
          </a:p>
          <a:p xmlns:a="http://schemas.openxmlformats.org/drawingml/2006/main">
            <a:pPr algn="l">
              <a:defRPr sz="1350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3. Whether guided diagnostics materially shorten that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330747-0A5A-4073-BBD6-FAF8ECF08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02 AUG 2026 · waters-ci-20260802160152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33EC7E-5846-4628-803F-44FDCFC2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267240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0E173AA-CD9F-4776-91CC-91FFF9C69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AF48DD-E241-426D-AB87-40229D68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Three decisions are evidence-prioritized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E559CA-F4C1-4BEE-A7E8-EF66FA73D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The evidence-priority score compares application activity, competitor activity, and source quality.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FB782B-69CB-4EFC-9D67-D126C7D0B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11C13B-5285-445A-A734-D8C1709D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481557-4FF7-414F-88F2-143BC16F7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8C00"/>
          </a:solidFill>
          <a:ln xmlns:a="http://schemas.openxmlformats.org/drawingml/2006/main" w="0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E8A531-08CB-460D-AA2E-191FC822B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C13CD-6377-4377-96CE-3DA6DE1A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FF4F3F-FD73-4737-8AFF-7A0E32129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54/100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010215-55AE-4923-953E-F4D363B1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to package a PFAS-ready regulated quantitation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F6A4ED-99D3-4EAC-B42A-3C95E843C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54AE6A-730C-43DD-B963-C414EC2D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Product Management and Applications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920361-7F16-4F25-AEB9-E198E7D68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E69610-D47F-4822-BF2F-1DA3031E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0FDE1F-DA00-42F0-8912-A08E07A7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F2A62C-51BA-40A8-A706-C66AB7B2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3FA470-FF18-4747-A045-CC700843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00AD65-11A2-46DE-8E06-222A7EDB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20D198-1FA3-4295-A323-8464E850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63/100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A976C5-F260-404B-96D7-CFF225CB7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and Alliance iS need new end-to-end workflow requirements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F34A21-A1E9-4B54-98F5-0C6ED796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64FE06-F881-4395-8856-A750CE7F0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LC Platform PM and Software Lead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7C6754-F841-4147-8546-FFA8206EF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95D7D0-3996-4C51-B560-75C0D5B1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build, package existing capabilities, reposition, or stop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B7365F-4ADB-4EA3-BE91-0A8517320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3581400"/>
          </a:xfrm>
          <a:prstGeom xmlns:a="http://schemas.openxmlformats.org/drawingml/2006/main" prst="roundRect">
            <a:avLst>
              <a:gd name="adj" fmla="val 33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EDDD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C2DB6E-DBD2-4187-B7E8-C244D984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152650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B4D34C-DD06-4F75-B53B-4E8B52DB2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81250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DECISION GATE · NEXT ROADMAP REVIEW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85676CF-4FE3-4AF7-B981-55825815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95575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EVIDENCE-PRIORITY SCORE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D1B5F02-587E-477F-8920-5A2658D8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95600"/>
            <a:ext cx="2990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58/100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B5A6D6-AA39-4A1E-9B4F-6515F4DB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14700"/>
            <a:ext cx="299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643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Decide whether Next Gen LC needs an oligonucleotide method-readiness package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2D93686-78EE-494F-B17C-B5C77E68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57650"/>
            <a:ext cx="2990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6D5BC8-444C-43A2-A39C-87C994BE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19575"/>
            <a:ext cx="2990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OWNER · Biopharma Applications and Next Gen LC PM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CC97A6-7E6C-4E51-8EA9-8C62C13F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990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FINAL GO / NO-GO OUTPUT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100DFD-7478-45D6-A76E-52FC7515E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81550"/>
            <a:ext cx="2990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53640"/>
                </a:solidFill>
                <a:latin typeface="Aptos"/>
                <a:ea typeface="Aptos"/>
                <a:cs typeface="Aptos"/>
              </a:rPr>
              <a:t>One recommendation: package, build, partner, monitor, or 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87ADBEF-60DC-4060-A368-F98B78B0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02 AUG 2026 · waters-ci-20260802160152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AE2AE9C-7BB1-4AC3-BCD0-FA666F01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792990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A09307-11B2-4050-9734-27CC4386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62E5EF-1B8C-497A-870B-BC3DA74E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Close the evidence gaps before adding roadmap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858E0-B7EE-448C-B2CB-A7E9B360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Sequence evidence gates around the next roadmap review without inventing calendar commitments.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64AEBB-0F64-4CD1-B8E2-FC7152EB0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AC6BE-B3CB-40FD-840A-E6A5A0BB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67050"/>
            <a:ext cx="9144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CD15D9-9CE1-4BBE-A6BA-63E31222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58C00"/>
          </a:solidFill>
          <a:ln xmlns:a="http://schemas.openxmlformats.org/drawingml/2006/main" w="9525">
            <a:solidFill>
              <a:srgbClr val="D58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985B8-9CB3-4B4D-AB8D-D52CF951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D58C0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D58C00"/>
                </a:solidFill>
                <a:latin typeface="Aptos"/>
                <a:ea typeface="Aptos"/>
                <a:cs typeface="Aptos"/>
              </a:rPr>
              <a:t>GATE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A53674-FA39-43E1-B0B7-35BA2758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PFAS decision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17BAC3-9EEE-4C8B-A2FD-AC168EEC2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Complete claims matrix and make the package go/no-go.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4D96B4-2E0A-4E97-B1FA-810A13833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2F3EA-81FB-48E3-8E63-8BD22A5A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EVENT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7D072E-6DF4-42E7-A7B2-1A65C555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Conference moment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C3CED7-9307-488D-ADBA-6E29D532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Lead with MAM, complex modalities and transfer proof.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8FCE1-B847-4487-A332-C56E312B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3AB0D0-12A8-4917-B161-1313CB8AF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958C5F-2D6F-416C-97A5-AE9280C3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Workflow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05E13E-5FC1-41B6-B820-CFDF12E3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build, package, reposition, or stop.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1B4470-42FB-4CC4-A73F-44DB907E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2857500"/>
            <a:ext cx="476250" cy="476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9525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4005F8-0F8A-4E66-BB3F-2485C58B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476625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GATE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701D4B-BEE6-4483-AACE-6FCAC6D6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05250"/>
            <a:ext cx="2209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Oligo decision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F814EA-E8C1-44CB-84E7-DB07CD68C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514850"/>
            <a:ext cx="2209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Choose package, build, partner, monitor, or stop.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C4559D-FA58-4AAA-BCA0-F635C62E7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67350"/>
            <a:ext cx="88392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53640"/>
          </a:solidFill>
          <a:ln xmlns:a="http://schemas.openxmlformats.org/drawingml/2006/main" w="9525">
            <a:solidFill>
              <a:srgbClr val="15364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0B8634F-673D-4573-BC8D-A5F435E98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5600700"/>
            <a:ext cx="828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136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Gate roadmap capacity on repeated customer-visible evidence plus quantified benefit and engineering effort.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327E1A-2ED2-418A-9611-EA047A08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02 AUG 2026 · waters-ci-20260802160152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6F5094-9442-47B5-84D4-C1ECDFBD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70081621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8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F8E209E-837C-42DA-814C-7026FA19A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LEADERSHIP BRIEF · 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AABDD-8C12-4FF9-9B03-36AB775F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"/>
            <a:ext cx="110966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Primary sources behind the leadership readout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4301A6-ED84-411E-89BA-DEF390C67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76350"/>
            <a:ext cx="10620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0767D"/>
                </a:solidFill>
                <a:latin typeface="Aptos"/>
                <a:ea typeface="Aptos"/>
                <a:cs typeface="Aptos"/>
              </a:rPr>
              <a:t>Direct public evidence is kept separate from inference; publication counts are contextual signals, not market-size claims.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04824F-283F-43C9-B7C8-74550AC9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1163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D5C6"/>
          </a:solidFill>
          <a:ln xmlns:a="http://schemas.openxmlformats.org/drawingml/2006/main" w="0">
            <a:solidFill>
              <a:srgbClr val="45D5C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3927F-0E25-4D61-A7FE-F2FDCBA42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6BA819-5408-41E9-8029-ED9955807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9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SCIENTIFIC MARKET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6BF4-DFB9-418F-BB31-A1E8559CF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0764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PubMed · PFAS / LC-MS query</a:t>
            </a:r>
          </a:p>
        </p:txBody>
      </p:sp>
      <p:sp>
        <p:nvSpPr>
          <p:cNvPr id="8" name="">
            <a:hlinkClick xmlns:r="http://schemas.openxmlformats.org/officeDocument/2006/relationships" xmlns:a="http://schemas.openxmlformats.org/drawingml/2006/main" r:id="R7d26182d7fb24b82"/>
            <a:extLst xmlns:a="http://schemas.openxmlformats.org/drawingml/2006/main">
              <a:ext uri="{FF2B5EF4-FFF2-40B4-BE49-F238E27FC236}">
                <a16:creationId xmlns:a16="http://schemas.microsoft.com/office/drawing/2014/main" id="{9164EF1D-0AAE-415F-ACA6-DBFE90C89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955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2714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https://pubmed.ncbi.nlm.nih.gov/?term=%28%28PFAS+OR+%22per-+and+polyfluoroalkyl%22%29+AND+%28%22LC-MS%22+OR+%22LC-MS%2FMS%22+OR+chromatography%29%29+AND+%28%222025%2F08%2F02%22%5BDate+-+Publication%5D+%3A+%222026%2F08%2F02%22%5BDate+-+Publication%5D%29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C37E5A-AFA8-47CF-BF2D-4AA50CFDF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527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FD4470-DE87-47D7-A6BE-81F58C07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7813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B7C49-D24C-4051-8E59-001725B6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432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LAUNCH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0CD4DF-5C12-447F-9F9B-266B045D6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6230C LC/TOF in MAM workflow</a:t>
            </a:r>
          </a:p>
        </p:txBody>
      </p:sp>
      <p:sp>
        <p:nvSpPr>
          <p:cNvPr id="13" name="">
            <a:hlinkClick xmlns:r="http://schemas.openxmlformats.org/officeDocument/2006/relationships" xmlns:a="http://schemas.openxmlformats.org/drawingml/2006/main" r:id="R2aa1c9e9d6c743c6"/>
            <a:extLst xmlns:a="http://schemas.openxmlformats.org/drawingml/2006/main">
              <a:ext uri="{FF2B5EF4-FFF2-40B4-BE49-F238E27FC236}">
                <a16:creationId xmlns:a16="http://schemas.microsoft.com/office/drawing/2014/main" id="{AA77A6F3-8A6F-4CD8-B82F-D4E5681B1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7432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https://www.agilent.com/about/newsroom/presrel/2026/29may-ca26021.html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548C81-7F09-454C-9F35-B90BF1B1B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004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E08145-C43A-45CB-842B-464535D4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429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DBB9C5-A595-4204-A55B-2D39C32B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AGILENT FILING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F4F595-1799-4FC4-84A7-935D2D10D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3718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Issuer-reported LC / LC-MS growth</a:t>
            </a:r>
          </a:p>
        </p:txBody>
      </p:sp>
      <p:sp>
        <p:nvSpPr>
          <p:cNvPr id="18" name="">
            <a:hlinkClick xmlns:r="http://schemas.openxmlformats.org/officeDocument/2006/relationships" xmlns:a="http://schemas.openxmlformats.org/drawingml/2006/main" r:id="R63f0abd5968b4174"/>
            <a:extLst xmlns:a="http://schemas.openxmlformats.org/drawingml/2006/main">
              <a:ext uri="{FF2B5EF4-FFF2-40B4-BE49-F238E27FC236}">
                <a16:creationId xmlns:a16="http://schemas.microsoft.com/office/drawing/2014/main" id="{79D217F7-975B-4AA7-ACD3-404CD02C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909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https://www.sec.gov/Archives/edgar/data/1090872/000109087226000055/a-20260430.htm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FE03DC-84C4-4881-A1A3-91A764C8D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481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628E1F-79F0-473A-9435-2EB9D5E7F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076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9557B7-4E6E-4692-AC6F-A6DFC507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0386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SHIMADZU LAUNCH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46CE04-B735-4561-B6C4-C7F1A354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0195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Nexera X4 UHPLC</a:t>
            </a:r>
          </a:p>
        </p:txBody>
      </p:sp>
      <p:sp>
        <p:nvSpPr>
          <p:cNvPr id="23" name="">
            <a:hlinkClick xmlns:r="http://schemas.openxmlformats.org/officeDocument/2006/relationships" xmlns:a="http://schemas.openxmlformats.org/drawingml/2006/main" r:id="R6a2e00cef6ad4a02"/>
            <a:extLst xmlns:a="http://schemas.openxmlformats.org/drawingml/2006/main">
              <a:ext uri="{FF2B5EF4-FFF2-40B4-BE49-F238E27FC236}">
                <a16:creationId xmlns:a16="http://schemas.microsoft.com/office/drawing/2014/main" id="{6E2AD361-65D8-4D50-9661-1A53BD0F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386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https://www.shimadzu.com/news/2026/k8iri3_20_z4uvwt.html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BAC93C-9346-49BE-A4DA-87A187CC4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4958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9E3BCE-B785-4362-85ED-08C215B5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244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AD56D1-B787-427F-9AE8-1FAF8F1F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SCIEX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4D43E9-8304-47A8-9C66-42B37B0CA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46672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novus V55 with SCIEX OS 5.0</a:t>
            </a:r>
          </a:p>
        </p:txBody>
      </p:sp>
      <p:sp>
        <p:nvSpPr>
          <p:cNvPr id="28" name="">
            <a:hlinkClick xmlns:r="http://schemas.openxmlformats.org/officeDocument/2006/relationships" xmlns:a="http://schemas.openxmlformats.org/drawingml/2006/main" r:id="R0dc18a94407e4373"/>
            <a:extLst xmlns:a="http://schemas.openxmlformats.org/drawingml/2006/main">
              <a:ext uri="{FF2B5EF4-FFF2-40B4-BE49-F238E27FC236}">
                <a16:creationId xmlns:a16="http://schemas.microsoft.com/office/drawing/2014/main" id="{CCFA0FDE-7229-4921-8039-F0E60F3F9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863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https://sciex.com/about-us/press-releases/2026/sciex-launches-its-5th-generation-of-nominal-mass-novus-v55-system-with-sciexos-5-0-software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CB0FEC-5614-47A4-9B2E-4B35EB7C4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43500"/>
            <a:ext cx="10401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EDDDF"/>
          </a:solidFill>
          <a:ln xmlns:a="http://schemas.openxmlformats.org/drawingml/2006/main" w="0">
            <a:solidFill>
              <a:srgbClr val="CEDDD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1D5C67-7893-4896-B3D1-BECDD486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721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5747AF1-23DA-4B2D-9CE5-045A2B1D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340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CONFERENCE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30C0B5-4EE8-420B-B068-1AAF6F85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5314950"/>
            <a:ext cx="409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53640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53640"/>
                </a:solidFill>
                <a:latin typeface="Aptos"/>
                <a:ea typeface="Aptos"/>
                <a:cs typeface="Aptos"/>
              </a:rPr>
              <a:t>Bioprocessing Summit US 2026</a:t>
            </a:r>
          </a:p>
        </p:txBody>
      </p:sp>
      <p:sp>
        <p:nvSpPr>
          <p:cNvPr id="33" name="">
            <a:hlinkClick xmlns:r="http://schemas.openxmlformats.org/officeDocument/2006/relationships" xmlns:a="http://schemas.openxmlformats.org/drawingml/2006/main" r:id="Rfd5cf979efdf4df0"/>
            <a:extLst xmlns:a="http://schemas.openxmlformats.org/drawingml/2006/main">
              <a:ext uri="{FF2B5EF4-FFF2-40B4-BE49-F238E27FC236}">
                <a16:creationId xmlns:a16="http://schemas.microsoft.com/office/drawing/2014/main" id="{49EC9775-7B76-47D4-9E18-9EB62E952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334000"/>
            <a:ext cx="430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087F8C"/>
                </a:solidFill>
                <a:latin typeface="Aptos"/>
                <a:ea typeface="Aptos"/>
                <a:cs typeface="Aptos"/>
              </a:rPr>
              <a:t>https://www.bioprocessingsummit.com/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D40B252-A533-4806-A779-C33ACD9F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19800"/>
            <a:ext cx="111633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3D4"/>
          </a:solidFill>
          <a:ln xmlns:a="http://schemas.openxmlformats.org/drawingml/2006/main" w="9525">
            <a:solidFill>
              <a:srgbClr val="FFF3D4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C9CB388-CCB6-47E8-922B-0241F1E3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96000"/>
            <a:ext cx="10782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7C5600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7C5600"/>
                </a:solidFill>
                <a:latin typeface="Aptos"/>
                <a:ea typeface="Aptos"/>
                <a:cs typeface="Aptos"/>
              </a:rPr>
              <a:t>Snapshot: waters-ci-20260802160152 · As of 2026-08-02T16:01:52 · Business magnitude requires Waters internal data.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87D5AC-31F6-42F4-AEE8-4F830F634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77000"/>
            <a:ext cx="981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0767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60767D"/>
                </a:solidFill>
                <a:latin typeface="Aptos"/>
                <a:ea typeface="Aptos"/>
                <a:cs typeface="Aptos"/>
              </a:rPr>
              <a:t>WATERS NEXT GEN COMPETITIVE INTELLIGENCE · 02 AUG 2026 · waters-ci-20260802160152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871ABED-4E1F-4A9A-A593-3F47B7E44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64389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087F8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87F8C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2784376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2026-08-02T20:13:49.7640000Z</dcterms:created>
  <dcterms:modified xsi:type="dcterms:W3CDTF">2026-08-02T20:13:49.7640000Z</dcterms:modified>
</coreProperties>
</file>