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7fd07bb20e4558" /><Relationship Type="http://schemas.openxmlformats.org/officeDocument/2006/relationships/extended-properties" Target="/docProps/app.xml" Id="Rbf526e1b5a3c4f1c" /><Relationship Type="http://schemas.openxmlformats.org/officeDocument/2006/relationships/officeDocument" Target="/ppt/presentation.xml" Id="Rc23c95a9291f46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38ff0edf624438"/>
  </p:sldMasterIdLst>
  <p:notesMasterIdLst>
    <p:notesMasterId xmlns:r="http://schemas.openxmlformats.org/officeDocument/2006/relationships" r:id="R08a34c76c76b4b79"/>
  </p:notesMasterIdLst>
  <p:sldIdLst>
    <p:sldId xmlns:r="http://schemas.openxmlformats.org/officeDocument/2006/relationships" id="256" r:id="R37bf0251fe374de9"/>
    <p:sldId xmlns:r="http://schemas.openxmlformats.org/officeDocument/2006/relationships" id="257" r:id="Raaab027362ad493c"/>
    <p:sldId xmlns:r="http://schemas.openxmlformats.org/officeDocument/2006/relationships" id="258" r:id="Rb86fc8e5568349df"/>
    <p:sldId xmlns:r="http://schemas.openxmlformats.org/officeDocument/2006/relationships" id="259" r:id="Re26cdbe0c2d44cf4"/>
    <p:sldId xmlns:r="http://schemas.openxmlformats.org/officeDocument/2006/relationships" id="260" r:id="Rf6056467bad3424f"/>
    <p:sldId xmlns:r="http://schemas.openxmlformats.org/officeDocument/2006/relationships" id="261" r:id="R659bb247a1414e6a"/>
    <p:sldId xmlns:r="http://schemas.openxmlformats.org/officeDocument/2006/relationships" id="262" r:id="R3c9f6ed48d2e4ab7"/>
    <p:sldId xmlns:r="http://schemas.openxmlformats.org/officeDocument/2006/relationships" id="263" r:id="R33e87f5247b748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522ecf425bf42f1" /><Relationship Type="http://schemas.openxmlformats.org/officeDocument/2006/relationships/slideMaster" Target="/ppt/slideMasters/slideMaster1.xml" Id="R0e38ff0edf624438" /><Relationship Type="http://schemas.openxmlformats.org/officeDocument/2006/relationships/notesMaster" Target="/ppt/notesMasters/notesMaster1.xml" Id="R08a34c76c76b4b79" /><Relationship Type="http://schemas.openxmlformats.org/officeDocument/2006/relationships/presProps" Target="/ppt/presProps.xml" Id="R86911f539f214368" /><Relationship Type="http://schemas.openxmlformats.org/officeDocument/2006/relationships/tableStyles" Target="/ppt/tableStyles.xml" Id="Rd07b27a722e74cb8" /><Relationship Type="http://schemas.openxmlformats.org/officeDocument/2006/relationships/slide" Target="/ppt/slides/slide1.xml" Id="R37bf0251fe374de9" /><Relationship Type="http://schemas.openxmlformats.org/officeDocument/2006/relationships/slide" Target="/ppt/slides/slide2.xml" Id="Raaab027362ad493c" /><Relationship Type="http://schemas.openxmlformats.org/officeDocument/2006/relationships/slide" Target="/ppt/slides/slide3.xml" Id="Rb86fc8e5568349df" /><Relationship Type="http://schemas.openxmlformats.org/officeDocument/2006/relationships/slide" Target="/ppt/slides/slide4.xml" Id="Re26cdbe0c2d44cf4" /><Relationship Type="http://schemas.openxmlformats.org/officeDocument/2006/relationships/slide" Target="/ppt/slides/slide5.xml" Id="Rf6056467bad3424f" /><Relationship Type="http://schemas.openxmlformats.org/officeDocument/2006/relationships/slide" Target="/ppt/slides/slide6.xml" Id="R659bb247a1414e6a" /><Relationship Type="http://schemas.openxmlformats.org/officeDocument/2006/relationships/slide" Target="/ppt/slides/slide7.xml" Id="R3c9f6ed48d2e4ab7" /><Relationship Type="http://schemas.openxmlformats.org/officeDocument/2006/relationships/slide" Target="/ppt/slides/slide8.xml" Id="R33e87f5247b748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a57888ffe143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ec66f300204509" /><Relationship Type="http://schemas.openxmlformats.org/officeDocument/2006/relationships/notesMaster" Target="/ppt/notesMasters/notesMaster1.xml" Id="R39d36951ad3445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c3cc6b96fd4618" /><Relationship Type="http://schemas.openxmlformats.org/officeDocument/2006/relationships/notesMaster" Target="/ppt/notesMasters/notesMaster1.xml" Id="R85008a0b0c854c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1781962bb543aa" /><Relationship Type="http://schemas.openxmlformats.org/officeDocument/2006/relationships/notesMaster" Target="/ppt/notesMasters/notesMaster1.xml" Id="Rabd2fa3b01c74f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a1c5d24490455a" /><Relationship Type="http://schemas.openxmlformats.org/officeDocument/2006/relationships/notesMaster" Target="/ppt/notesMasters/notesMaster1.xml" Id="R439d727f89ad42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9cf22e2d954f51" /><Relationship Type="http://schemas.openxmlformats.org/officeDocument/2006/relationships/notesMaster" Target="/ppt/notesMasters/notesMaster1.xml" Id="R13c0787f81d84a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999f674a994854" /><Relationship Type="http://schemas.openxmlformats.org/officeDocument/2006/relationships/notesMaster" Target="/ppt/notesMasters/notesMaster1.xml" Id="Ra4e555f974694a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a231ca7fd84cec" /><Relationship Type="http://schemas.openxmlformats.org/officeDocument/2006/relationships/notesMaster" Target="/ppt/notesMasters/notesMaster1.xml" Id="Rbf21eb3b382c43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d97320d20b422c" /><Relationship Type="http://schemas.openxmlformats.org/officeDocument/2006/relationships/notesMaster" Target="/ppt/notesMasters/notesMaster1.xml" Id="R11d2f1e462dc46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09%2F08%22%5BDate+-+Publication%5D+%3A+%222026%2F09%2F08%22%5BDate+-+Publication%5D%29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https://pubmed.ncbi.nlm.nih.gov/?term=%28%28PFAS+OR+%22per-+and+polyfluoroalkyl%22%29+AND+%28%22LC-MS%22+OR+%22LC-MS%2FMS%22+OR+chromatography%29%29+AND+%28%222025%2F09%2F08%22%5BDate+-+Publication%5D+%3A+%222026%2F09%2F08%22%5BDate+-+Publication%5D%29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https://pubmed.ncbi.nlm.nih.gov/?term=%28%28oligonucleotide+OR+%22nucleic+acid%22+OR+siRNA%29+AND+%28%22LC-MS%22+OR+chromatography+OR+%22mass+spectrometry%22%29%29+AND+%28%222025%2F09%2F08%22%5BDate+-+Publication%5D+%3A+%222026%2F09%2F08%22%5BDate+-+Publication%5D%29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https://pubmed.ncbi.nlm.nih.gov/?term=%28%28PFAS+OR+%22per-+and+polyfluoroalkyl%22%29+AND+%28%22LC-MS%22+OR+%22LC-MS%2FMS%22+OR+chromatography%29%29+AND+%28%222025%2F09%2F08%22%5BDate+-+Publication%5D+%3A+%222026%2F09%2F08%22%5BDate+-+Publication%5D%29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https://www.selectscience.net/product/acquity-uplc-r-beh-c18-and-c8-columns</a:t>
            </a:r>
          </a:p>
          <a:p xmlns:a="http://schemas.openxmlformats.org/drawingml/2006/main">
            <a:r>
              <a:t>- https://www.fda.gov/inspections-compliance-enforcement-and-criminal-investigations/compliance-actions-and-activities/warning-letters/datatables-data?_format=xlsx&amp;page=0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https://www.selectscience.net/product/acquity-uplc-r-beh-c18-and-c8-columns</a:t>
            </a:r>
          </a:p>
          <a:p xmlns:a="http://schemas.openxmlformats.org/drawingml/2006/main">
            <a:r>
              <a:t>- https://www.fda.gov/inspections-compliance-enforcement-and-criminal-investigations/compliance-actions-and-activities/warning-letters/datatables-data?_format=xlsx&amp;page=0</a:t>
            </a:r>
          </a:p>
          <a:p xmlns:a="http://schemas.openxmlformats.org/drawingml/2006/main">
            <a:r>
              <a:t>- https://www.fda.gov/media/190190/download?attachment=</a:t>
            </a:r>
          </a:p>
          <a:p xmlns:a="http://schemas.openxmlformats.org/drawingml/2006/main">
            <a:r>
              <a:t>- https://www.selectscience.net/product/arc-hplc-system?reviewItem=c6866ce0f446fc50</a:t>
            </a:r>
          </a:p>
          <a:p xmlns:a="http://schemas.openxmlformats.org/drawingml/2006/main">
            <a:r>
              <a:t>- https://www.selectscience.net/product/arc-hplc-system?reviewItem=0e5b2545d7d11f15</a:t>
            </a:r>
          </a:p>
          <a:p xmlns:a="http://schemas.openxmlformats.org/drawingml/2006/main">
            <a:r>
              <a:t>- https://www.selectscience.net/product/arc-hplc-system?reviewItem=0568db63471e745f</a:t>
            </a:r>
          </a:p>
          <a:p xmlns:a="http://schemas.openxmlformats.org/drawingml/2006/main">
            <a:r>
              <a:t>- https://www.selectscience.net/product/arc-hplc-system?reviewItem=dd59084477b562c5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https://pubmed.ncbi.nlm.nih.gov/?term=%28%28PFAS+OR+%22per-+and+polyfluoroalkyl%22%29+AND+%28%22LC-MS%22+OR+%22LC-MS%2FMS%22+OR+chromatography%29%29+AND+%28%222025%2F09%2F08%22%5BDate+-+Publication%5D+%3A+%222026%2F09%2F08%22%5BDate+-+Publication%5D%29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09%2F08%22%5BDate+-+Publication%5D+%3A+%222026%2F09%2F08%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https://pubmed.ncbi.nlm.nih.gov/?term=%28%28oligonucleotide+OR+%22nucleic+acid%22+OR+siRNA%29+AND+%28%22LC-MS%22+OR+chromatography+OR+%22mass+spectrometry%22%29%29+AND+%28%222025%2F09%2F08%22%5BDate+-+Publication%5D+%3A+%222026%2F09%2F08%22%5BDate+-+Publication%5D%29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https://pubmed.ncbi.nlm.nih.gov/?term=%28%28PFAS+OR+%22per-+and+polyfluoroalkyl%22%29+AND+%28%22LC-MS%22+OR+%22LC-MS%2FMS%22+OR+chromatography%29%29+AND+%28%222025%2F09%2F08%22%5BDate+-+Publication%5D+%3A+%222026%2F09%2F08%22%5BDate+-+Publication%5D%29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09%2F08%22%5BDate+-+Publication%5D+%3A+%222026%2F09%2F08%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https://pubmed.ncbi.nlm.nih.gov/?term=%28%28oligonucleotide+OR+%22nucleic+acid%22+OR+siRNA%29+AND+%28%22LC-MS%22+OR+chromatography+OR+%22mass+spectrometry%22%29%29+AND+%28%222025%2F09%2F08%22%5BDate+-+Publication%5D+%3A+%222026%2F09%2F08%22%5BDate+-+Publication%5D%29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https://pubmed.ncbi.nlm.nih.gov/?term=%28%28PFAS+OR+%22per-+and+polyfluoroalkyl%22%29+AND+%28%22LC-MS%22+OR+%22LC-MS%2FMS%22+OR+chromatography%29%29+AND+%28%222025%2F09%2F08%22%5BDate+-+Publication%5D+%3A+%222026%2F09%2F08%22%5BDate+-+Publication%5D%29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8fc3564eb146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beb3a95d4c47da" /><Relationship Type="http://schemas.openxmlformats.org/officeDocument/2006/relationships/slideLayout" Target="/ppt/slideLayouts/slideLayout1.xml" Id="R41653649745e43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653649745e43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7b9e0afd14346" /><Relationship Type="http://schemas.openxmlformats.org/officeDocument/2006/relationships/notesSlide" Target="/ppt/notesSlides/notesSlide1.xml" Id="R74e14ba01f0548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607e4c2a14ca4" /><Relationship Type="http://schemas.openxmlformats.org/officeDocument/2006/relationships/notesSlide" Target="/ppt/notesSlides/notesSlide2.xml" Id="Raffb4bf7bae448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6e94325c2e41f6" /><Relationship Type="http://schemas.openxmlformats.org/officeDocument/2006/relationships/notesSlide" Target="/ppt/notesSlides/notesSlide3.xml" Id="Rf9e9c0e9198149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a4118556b43c1" /><Relationship Type="http://schemas.openxmlformats.org/officeDocument/2006/relationships/notesSlide" Target="/ppt/notesSlides/notesSlide4.xml" Id="R06f354b2c46d43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4598aaf5f475e" /><Relationship Type="http://schemas.openxmlformats.org/officeDocument/2006/relationships/notesSlide" Target="/ppt/notesSlides/notesSlide5.xml" Id="R6a00a8ca85904a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940d8a5594b7d" /><Relationship Type="http://schemas.openxmlformats.org/officeDocument/2006/relationships/notesSlide" Target="/ppt/notesSlides/notesSlide6.xml" Id="R9832068cb96c46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a018607344fec" /><Relationship Type="http://schemas.openxmlformats.org/officeDocument/2006/relationships/notesSlide" Target="/ppt/notesSlides/notesSlide7.xml" Id="R1df7217c9ece46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f497a8744409b" /><Relationship Type="http://schemas.openxmlformats.org/officeDocument/2006/relationships/hyperlink" Target="https://pubmed.ncbi.nlm.nih.gov/?term=%28%28PFAS+OR+%22per-+and+polyfluoroalkyl%22%29+AND+%28%22LC-MS%22+OR+%22LC-MS%2FMS%22+OR+chromatography%29%29+AND+%28%222025%2F09%2F08%22%5BDate+-+Publication%5D+%3A+%222026%2F09%2F08%22%5BDate+-+Publication%5D%29" TargetMode="External" Id="R6d4c323dd6574944" /><Relationship Type="http://schemas.openxmlformats.org/officeDocument/2006/relationships/hyperlink" Target="https://www.agilent.com/about/newsroom/presrel/2026/29may-ca26021.html" TargetMode="External" Id="R8e289cb36d114974" /><Relationship Type="http://schemas.openxmlformats.org/officeDocument/2006/relationships/hyperlink" Target="https://www.sec.gov/Archives/edgar/data/1090872/000109087226000055/a-20260430.htm" TargetMode="External" Id="R64748f282f2e4f8c" /><Relationship Type="http://schemas.openxmlformats.org/officeDocument/2006/relationships/hyperlink" Target="https://www.shimadzu.com/news/2026/k8iri3_20_z4uvwt.html" TargetMode="External" Id="Rb5dd03906cc546f3" /><Relationship Type="http://schemas.openxmlformats.org/officeDocument/2006/relationships/hyperlink" Target="https://sciex.com/about-us/press-releases/2026/sciex-launches-its-5th-generation-of-nominal-mass-novus-v55-system-with-sciexos-5-0-software" TargetMode="External" Id="Ree4171d3a6de4212" /><Relationship Type="http://schemas.openxmlformats.org/officeDocument/2006/relationships/hyperlink" Target="https://www.bioprocessingsummit.com/" TargetMode="External" Id="R806c102c64dd43b2" /><Relationship Type="http://schemas.openxmlformats.org/officeDocument/2006/relationships/notesSlide" Target="/ppt/notesSlides/notesSlide8.xml" Id="Ra9a1b1e7389f454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70AD7D-679A-4B2A-BD14-EBD3E10E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80F9F-A128-47F1-9939-3A5591E3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WATERS · NEXT GEN 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84A39-7869-4658-9220-DF7C5716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E89F2-B447-4D63-8F30-1CB6162E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Five external signals. Three evidence-gated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FCA01-254A-4F0C-A5A8-86E0B7A7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A concise executive readout of scientific momentum, competitor moves, customer friction, corporate intent, and the next conference moment.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82A1A1-A3C6-45D6-8698-E8DE3060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85900"/>
            <a:ext cx="2400300" cy="26479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4A54"/>
          </a:solidFill>
          <a:ln xmlns:a="http://schemas.openxmlformats.org/drawingml/2006/main" w="9525">
            <a:solidFill>
              <a:srgbClr val="2B62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E5C8FF-3D48-437A-AE70-CA6C6188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85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DATA 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3436E-1613-4B36-B1CE-6454CE96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C5B79-DA65-4B09-9A6B-A095D165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SEP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7CF960-8082-4ADA-B4A5-CCC33742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1950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4E57F4-754B-44C9-8071-38A3AB76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84AB74-515C-4434-B7CF-8B215737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531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Prepared for roadmap review · waters-ci-20260909033329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8E29F6-005B-4DDB-8B3F-E4AD2AF2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1531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83566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A0F1EE-7FF6-4287-B414-EDA279C4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9493A7-AFF2-4B0D-BCEF-E09B427B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F0119-3448-4DA7-888D-81980544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strongest cross-page pattern is not a single specification—it is proof that the full workflow is easier to execute, transfer, and troubleshoot.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B5C068-F7B9-4041-B1BB-34585CEB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9E2C8-576B-4904-B6CA-FB29AD24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B7E26B-EFAC-4B5B-846B-5C1768F2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LEADERSHIP IMPLICATION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14667A-F0FE-4E83-AF54-296F4430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62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 new requirements against workflow proof, not feature parity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37989-85F4-4896-A248-DA90DE5F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585685-78D9-4DC5-926E-B7A268E7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2B9E18-CCC1-441D-9B4D-E53656A8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1,166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106D7B-98EC-47B0-8FC1-A716C424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Automation and software workflow publications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9D01C2-E250-465D-B9A4-ACC352BE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activity in the last year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B7A1F2-33E0-4334-816B-7D152D62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E8A953-7F4F-4C9F-9FD4-D0158D89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89E2C8-A92F-4BD7-81D2-0ABC55BD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342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F92583-EAB6-484C-AC3B-26DC0F62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and contaminant-testing publications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C0FD2A-C462-442E-9940-18FC818E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regulated-testing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918AA5-CD5F-49AE-91C7-D1BCD04E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730A31-AB83-4CD1-9ECF-056DB2C9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3AA352-93E2-433A-B6EC-6918DDC1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666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424962-F0FD-4159-9BE7-E375E65D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Oligonucleotide and nucleic-acid publications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3C8808-D8D9-4A90-9BD9-D47D7D6C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Substantial application evidence 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F026A0-2BFE-4EF0-B301-F8AD173C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08 SEP 2026 · waters-ci-20260909033329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E9A191-746C-4717-ACF6-6D6C4A16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19374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D69CCB1-2394-4F71-9D2F-D5B5426D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E4A8B-FCAC-4733-8551-21F9DF4C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Five signals now shape the roadmap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511CCF-7DD0-4484-B1A2-251A7248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Each signal comes from a different evidence class; together they show why leadership attention is warranted.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4BCBB4-A836-4021-8D0D-76424342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6E5FA-19EF-4A30-B3AC-873D0BC9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030392-8EE1-4814-8615-95A0812F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8721D9-8E5B-49EB-A3DA-15956B89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971885-18EC-4EAB-8A21-17B08976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953A38-8BCC-4FE0-90B9-F9757A2E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activity remains substantial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C4E999-C4EE-47C8-8E3A-385E8B25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342 records from the canonical PubMed query.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BE882A-88DC-4344-AEDF-1B141FE7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4F8789-55DA-4724-B924-235FD6B2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677E31-07BA-44B6-96AF-68021906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B07A82-A481-4EEA-A5DC-A1889B22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COMPETITOR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B39DFA-4D2C-483D-AC86-FEC7AF09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is packaging LC/TOF into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8BB43-D6DC-4923-8E34-31AD34E6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issuer evidence from Agilent's official release.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E55E1-BE43-49A2-96DF-F36772C0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9BB8C-84A5-4DF4-86C0-B187B4DF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8EA12C-C6AA-47F3-8374-2C00368A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013B14-BCE9-4DAB-BC8B-922AB8E8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02C6B2-CD89-4477-BF9B-C41D4562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Troubleshooting requires internal 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25DA1-B891-43F3-8323-3A4B016C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Public forum recurrence requires internal field validation.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8CADDD-6B36-4895-80FC-CFCBEE3B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504289-06DB-4E25-9871-F4BE813A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993548-8395-414F-9BCA-E11712A7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D6E7C3-A604-4A73-B0BA-C21F5969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0D75EC-44D8-4A74-B240-9316FCB2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calls LC and LC-MS growth engines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9DFF78-6A12-4D44-9B7A-3BE665CC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issuer filing; no independent external corroboration.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4BB05A-26AA-494B-A671-2D40CF38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51816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53455C-53C0-4EEF-B5A6-13B76392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353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EB8257-0674-405D-B271-9E1B1CB0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29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1851A7-3203-4FA6-A8E9-3CBA2965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435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2B5F8C-9640-4AB0-BABC-E454653C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5911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begins Aug 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688005-DBFE-4CB8-95D7-783D3F6E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0579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agenda and sponsor facts from the event site.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B8B9A4-AC3F-4E7D-8E89-E4E8847A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08 SEP 2026 · waters-ci-20260909033329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606852-6206-4BBC-B101-0B9D747E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392303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447E1A-7AF2-44AD-9337-2AE603ED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1D11D-99F1-4AA7-A8A5-ADEE5FA7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 competitor actions suggest workflow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3E0156-A08A-428E-A31D-E42D4A44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 confidence is Directional: each company view lacks two independently corroborating source families.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835774-A68F-4359-BE7B-ADC647E6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F4022-2D0C-4CF8-A0C4-4BA07D21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DDF04F-7F3F-42CF-883C-88144EBC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C8449-454E-41A3-9342-4D857645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CACF7-55C5-4B2F-99DA-D451B982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B02608-3CEF-46B3-82C7-20540163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Nexera X4 launch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4A1C4-890A-418C-B99A-FDFC29BE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productivity-led LC positioning. Alternative: normal platform refresh.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2EADB-D067-417F-B952-257EA69B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A76A01-8E76-413C-BF31-C7F405E1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FB2D83-FE83-4098-A917-1AC30BFA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AGILENT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A8B969-5819-40EF-A344-61BFE299C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Jun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690501-C9A7-4441-8FF9-E1C3275B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6230C LC/TOF in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DA80BA-B1AF-4B69-9EC4-39F8AF7D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application-specific workflow packaging. Alternative: campaign positioning.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38C60F-79A9-4436-970B-F314DB2C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E78BF8-1E2F-4E66-ADC0-A5CFD60F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DB8D9A-5D39-4858-B4CE-3916916D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93AEEF-1C68-49AF-91F9-5CD667A3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01 Jun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1969CE-CE02-4E74-A373-2D14F775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novus V55 + SCIEX OS 5.0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4D9D68-1252-4214-8264-481CF5F2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software-led nominal-mass offer; this does not verify broader HRMS depth.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1AAA09-EC21-49C7-AD6A-759AE616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CD9308-33AD-457A-B72E-CA5C7027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27F885-4CAF-4E50-B85C-78D2854B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THERMO FISHER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78950E-08A4-4436-B2C0-E0C6DF1C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4810B7-8F12-4753-886F-CE265D4D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Vanquish Amplify product page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C5A189-7948-4C30-BB47-FD4F5E46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inert biopharma workflow packaging. Alternative: portfolio positioning.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9CA38B-9E01-478D-ABBD-08F06AC4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08 SEP 2026 · waters-ci-20260909033329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315626-9F40-4588-B384-90DC4B92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782274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FE596E-E36A-4FAF-AA78-24EFC7C6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B0DAA-5C94-48CB-A9C1-37FA3888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Customer evidence is a validation input—not a prevalence estimate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C31844-5BDD-4DA2-8B86-7D6871E7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Forum evidence is promoted to leadership only when at least three independent sources support the same theme.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C669C-8690-42C4-80CC-1017FC9E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AB620-B148-418A-A920-4DB56EF1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43243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30036-A65E-4F27-AF85-2B5982C2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DIRECTIONAL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052C87-8CC2-494B-8A4A-EAB28D9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CUSTOMER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D1EB3-4B28-44B2-8909-EBD4411E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8148B5-041B-4C86-B4E9-8611D40B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333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3+ independent sources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plus internal field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993B4-BC5E-4490-BEDB-B1DDEFC0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5341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6E25FD-F4A6-4AD0-B2A9-83087590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WHAT LEADERS SHOULD TAKE FROM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237271-FF0F-4E73-BB3E-9BFCF0B6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813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 not infer product weakness from one complaint.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02628D-DD7E-445B-AA82-9C529FFC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004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Before adding requirements, validate: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0A9B4C-52E5-4438-A72E-1EBFFFF0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19550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1. Which failure modes repeat across customer and field records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2. How long users take to isolate and recover from them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3. Whether guided diagnostics materially shorten that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0E41D6-4E56-487A-809E-CD5AC583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08 SEP 2026 · waters-ci-20260909033329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F1C375-FC9A-463E-9AE6-A1BACBF7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142441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D487BC-C7CF-4712-B8E5-4BA019B1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E2B34-CF10-4941-9381-6D3AA90A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Three decisions are evidence-prioritized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F4FBB0-ACD3-4174-A5ED-6883F399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evidence-priority score compares application activity, competitor activity, and source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246CB1-6AFC-4F81-9FEB-163B3F25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29777B-A53B-4839-82DC-5A4D11B7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7D913-D209-487F-A0C3-3C7F8867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C2F228-C04C-40F3-801D-4B809286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65584-33B5-47DD-BDBE-0E653052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BAFC10-2013-4657-ADDA-34B0CC96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54/100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5F7795-F20F-4543-9ED3-220E9028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to package a PFAS-ready regulated quantitation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062D0D-D5CA-4397-90EE-66812F31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F49B06-187C-490F-AC77-66CF4E85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Product Management and Applications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150EB9-BE6A-4638-A2DF-B37BBD09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63E79A-2949-45FC-A3BB-A5922BEA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5BFAF1-7209-4272-A594-73BAA6CE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61EF5B-A562-41A3-81E4-807040C9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5B41BF-3FE1-495C-8543-17903D3D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582849-EDEF-4E00-AC33-B1E63DB5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68836A-0F2E-4A18-A1CF-F29F9770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59/100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493443-DB71-4E1E-89D5-732C5173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and Alliance iS need new end-to-end workflow requirements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9396E5-4810-4DE3-A616-3F9BEF87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AE3F13-3D27-42BD-82DA-21F3EDB6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LC Platform PM and Software Lead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2E487B-2B6F-43FB-9BE3-76BDC495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463942-FC38-43C6-AE02-01829A67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build, package existing capabilities, reposition, or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B02B50-A2BF-43C5-9355-1CC43862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626ABB-C9DB-4AF3-82D3-60C6CD09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003C73-F81A-4B25-88B8-FA24FE58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A0EDE9-F84A-4895-B91E-02AB807B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7C336A-F499-4922-B9AE-21EB10AF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54/100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3DFC0C-431A-4E63-8BDC-C4291C2D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needs an oligonucleotide method-readiness package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8E11BC-FD51-429A-8F15-BE7A3E4E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61CC56-3246-4EDC-9C38-5AE6F6A4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Biopharma Applications and Next Gen LC PM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78481C-77A0-4F93-B986-421A1F3B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AAB4BB-6ED7-41BE-BB05-B9F2DBAB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346DCD-7B15-423C-8F1A-AFB925D6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08 SEP 2026 · waters-ci-20260909033329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C43314-0335-4E22-8597-4A637AC7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199030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E8FD3A-8459-4A61-AC79-840276A4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B88D58-408A-4FD8-9301-6B91076B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Close the evidence gaps before adding roadmap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C8058-4B3F-47DA-93BB-6EFD08D6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Sequence evidence gates around the next roadmap review without inventing calendar commitments.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1E1A5-D574-408F-AACD-4617C916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329E57-F4A7-462E-8574-9F8DD758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914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9599B-1CB3-414A-86DF-3124925F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755A14-971A-4BBD-840D-478B85FB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GATE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3F259-ED01-4648-987C-58844A6F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AE6A1-45C5-46CE-9179-3BE43845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claims matrix and make the package go/no-go.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6B55A-8849-488B-A2E5-C42DD629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193B86-78B2-432D-B377-490A6E2C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EVENT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BB2CC-A721-46F1-9ACF-76DB3C8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5B3890-1EF4-477F-A404-9E965686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Lead with MAM, complex modalities and transfer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F2A9E6-2414-417C-8686-9D884EA1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662EA4-4B38-45D4-BE86-34E021F1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0DFC29-9618-4DD9-A849-2B3FFD6F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2ED1F-AFDE-4323-9AD6-4AF85D75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build, package, reposition, or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BA1503-A82B-4AF3-A33D-B7D83362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918A57-460E-45DF-817D-99694494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8AD090-1542-48A2-A230-E1420DFD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33DD07-DAF7-44B5-AF6A-558BBE04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package, build, partner, monitor, or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A4EBCE-3389-45D6-935C-66987973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67350"/>
            <a:ext cx="8839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3ECCB-CDF4-4591-A874-C060D896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Gate roadmap capacity on repeated customer-visible evidence plus quantified benefit and engineering effort.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5E46C-8CBE-4552-83EC-3DBC1744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08 SEP 2026 · waters-ci-20260909033329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5754BA-37DC-4CC3-AF58-3499C75F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861022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5D4D5C-9F5C-4EEE-A38B-44BD1381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4FC47-B810-4F48-B5F6-94990B50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Primary sources behind the leadership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01A0C-71B7-45A0-B0FE-6616EDAC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public evidence is kept separate from inference; publication counts are contextual signals, not market-size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0997A8-C8B5-4370-9354-A45E3074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37013B-51EA-4B3F-8932-4E087CF2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0B1FE5-3DBD-46CB-BBF4-D990892E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712450-3082-4E76-ADB6-E3F9FD5E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PubMed · PFAS / LC-MS query</a:t>
            </a:r>
          </a:p>
        </p:txBody>
      </p:sp>
      <p:sp>
        <p:nvSpPr>
          <p:cNvPr id="8" name="">
            <a:hlinkClick xmlns:r="http://schemas.openxmlformats.org/officeDocument/2006/relationships" xmlns:a="http://schemas.openxmlformats.org/drawingml/2006/main" r:id="R6d4c323dd6574944"/>
            <a:extLst xmlns:a="http://schemas.openxmlformats.org/drawingml/2006/main">
              <a:ext uri="{FF2B5EF4-FFF2-40B4-BE49-F238E27FC236}">
                <a16:creationId xmlns:a16="http://schemas.microsoft.com/office/drawing/2014/main" id="{C4D6D21B-F745-4658-B49C-2F500345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14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https://pubmed.ncbi.nlm.nih.gov/?term=%28%28PFAS+OR+%22per-+and+polyfluoroalkyl%22%29+AND+%28%22LC-MS%22+OR+%22LC-MS%2FMS%22+OR+chromatography%29%29+AND+%28%222025%2F09%2F08%22%5BDate+-+Publication%5D+%3A+%222026%2F09%2F08%22%5BDate+-+Publication%5D%29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BAE10-AB06-45F3-8BE7-89E5D3B1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BB141-BF28-469E-BF19-28700BAF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319B6-5A09-4197-867E-92E1F95F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LAUNCH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A2F36-3617-4766-AF0E-05E005157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 workflow</a:t>
            </a:r>
          </a:p>
        </p:txBody>
      </p:sp>
      <p:sp>
        <p:nvSpPr>
          <p:cNvPr id="13" name="">
            <a:hlinkClick xmlns:r="http://schemas.openxmlformats.org/officeDocument/2006/relationships" xmlns:a="http://schemas.openxmlformats.org/drawingml/2006/main" r:id="R8e289cb36d114974"/>
            <a:extLst xmlns:a="http://schemas.openxmlformats.org/drawingml/2006/main">
              <a:ext uri="{FF2B5EF4-FFF2-40B4-BE49-F238E27FC236}">
                <a16:creationId xmlns:a16="http://schemas.microsoft.com/office/drawing/2014/main" id="{B4397338-7A21-4C4B-85A7-0D2F2735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https://www.agilent.com/about/newsroom/presrel/2026/29may-ca26021.html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320426-18D8-4A5E-B243-5411941C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3C5C9B-6119-4EC9-8B3A-D5EAFD36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A737F2-EFE9-4237-9A1A-BBD5C825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FILING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B0A9A5-E369-41A1-B7F5-362145FB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Issuer-reported LC / LC-MS growth</a:t>
            </a:r>
          </a:p>
        </p:txBody>
      </p:sp>
      <p:sp>
        <p:nvSpPr>
          <p:cNvPr id="18" name="">
            <a:hlinkClick xmlns:r="http://schemas.openxmlformats.org/officeDocument/2006/relationships" xmlns:a="http://schemas.openxmlformats.org/drawingml/2006/main" r:id="R64748f282f2e4f8c"/>
            <a:extLst xmlns:a="http://schemas.openxmlformats.org/drawingml/2006/main">
              <a:ext uri="{FF2B5EF4-FFF2-40B4-BE49-F238E27FC236}">
                <a16:creationId xmlns:a16="http://schemas.microsoft.com/office/drawing/2014/main" id="{459E757F-93D4-4E2F-81B5-F75D55F9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https://www.sec.gov/Archives/edgar/data/1090872/000109087226000055/a-20260430.htm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593171-80DF-4507-B4F9-5A247E79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0992BA-864D-4626-95C5-7D1480A3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6586F5-6E56-490A-8620-258E1A32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SHIMADZU LAUNCH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17563F-820F-4F7B-9C41-4519FE5B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195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 UHPLC</a:t>
            </a:r>
          </a:p>
        </p:txBody>
      </p:sp>
      <p:sp>
        <p:nvSpPr>
          <p:cNvPr id="23" name="">
            <a:hlinkClick xmlns:r="http://schemas.openxmlformats.org/officeDocument/2006/relationships" xmlns:a="http://schemas.openxmlformats.org/drawingml/2006/main" r:id="Rb5dd03906cc546f3"/>
            <a:extLst xmlns:a="http://schemas.openxmlformats.org/drawingml/2006/main">
              <a:ext uri="{FF2B5EF4-FFF2-40B4-BE49-F238E27FC236}">
                <a16:creationId xmlns:a16="http://schemas.microsoft.com/office/drawing/2014/main" id="{EEAC1A9B-9A3C-4E34-B877-2EE0E312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https://www.shimadzu.com/news/2026/k8iri3_20_z4uvwt.html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1EEA08-E535-44FD-9864-0795DE06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424298-2677-4DDF-8C69-ED028877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AA7128-F203-4D74-B1D0-0C2480CD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SCIEX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E2878D-EAE5-41AD-A791-B7C1A842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novus V55 with SCIEX OS 5.0</a:t>
            </a:r>
          </a:p>
        </p:txBody>
      </p:sp>
      <p:sp>
        <p:nvSpPr>
          <p:cNvPr id="28" name="">
            <a:hlinkClick xmlns:r="http://schemas.openxmlformats.org/officeDocument/2006/relationships" xmlns:a="http://schemas.openxmlformats.org/drawingml/2006/main" r:id="Ree4171d3a6de4212"/>
            <a:extLst xmlns:a="http://schemas.openxmlformats.org/drawingml/2006/main">
              <a:ext uri="{FF2B5EF4-FFF2-40B4-BE49-F238E27FC236}">
                <a16:creationId xmlns:a16="http://schemas.microsoft.com/office/drawing/2014/main" id="{94848DB2-01AA-4C19-9BAA-B53CFC50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https://sciex.com/about-us/press-releases/2026/sciex-launches-its-5th-generation-of-nominal-mass-novus-v55-system-with-sciexos-5-0-software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262735-2670-495D-B2AC-B8FC9B5C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3B7785-AEA4-4C19-80FA-B1DA1933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7A5080-46B8-4957-BE69-B25785CA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CONFERENCE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859E58-D390-4860-BDA8-0F8A1BA6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149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US 2026</a:t>
            </a:r>
          </a:p>
        </p:txBody>
      </p:sp>
      <p:sp>
        <p:nvSpPr>
          <p:cNvPr id="33" name="">
            <a:hlinkClick xmlns:r="http://schemas.openxmlformats.org/officeDocument/2006/relationships" xmlns:a="http://schemas.openxmlformats.org/drawingml/2006/main" r:id="R806c102c64dd43b2"/>
            <a:extLst xmlns:a="http://schemas.openxmlformats.org/drawingml/2006/main">
              <a:ext uri="{FF2B5EF4-FFF2-40B4-BE49-F238E27FC236}">
                <a16:creationId xmlns:a16="http://schemas.microsoft.com/office/drawing/2014/main" id="{D597BD6C-FD26-4E82-9DF5-96ACED0F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340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https://www.bioprocessingsummit.com/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027D20-B576-4DF9-8733-485424D7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19800"/>
            <a:ext cx="11163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3D4"/>
          </a:solidFill>
          <a:ln xmlns:a="http://schemas.openxmlformats.org/drawingml/2006/main" w="9525">
            <a:solidFill>
              <a:srgbClr val="FFF3D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6E13B7-4749-4FFB-A475-658A53D9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56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C5600"/>
                </a:solidFill>
                <a:latin typeface="Aptos"/>
                <a:ea typeface="Aptos"/>
                <a:cs typeface="Aptos"/>
              </a:rPr>
              <a:t>Snapshot: waters-ci-20260909033329 · As of 2026-09-08 · Business magnitude requires Waters internal data.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0BF492-16D0-4068-9F45-2F099459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08 SEP 2026 · waters-ci-20260909033329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7D99CE-148E-41E9-85F1-731ED4F1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963688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2026-09-09T03:41:11.9220000Z</dcterms:created>
  <dcterms:modified xsi:type="dcterms:W3CDTF">2026-09-09T03:41:11.9220000Z</dcterms:modified>
</coreProperties>
</file>