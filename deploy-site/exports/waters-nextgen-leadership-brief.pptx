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5765dfa60844aff" /><Relationship Type="http://schemas.openxmlformats.org/officeDocument/2006/relationships/extended-properties" Target="/docProps/app.xml" Id="R15af985d3dd54b42" /><Relationship Type="http://schemas.openxmlformats.org/officeDocument/2006/relationships/officeDocument" Target="/ppt/presentation.xml" Id="Rb4475b7c03fd46d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7025f820bd44dc9"/>
  </p:sldMasterIdLst>
  <p:notesMasterIdLst>
    <p:notesMasterId xmlns:r="http://schemas.openxmlformats.org/officeDocument/2006/relationships" r:id="Ra26fa839c44d4450"/>
  </p:notesMasterIdLst>
  <p:sldIdLst>
    <p:sldId xmlns:r="http://schemas.openxmlformats.org/officeDocument/2006/relationships" id="256" r:id="Rbbd4b53579344fb9"/>
    <p:sldId xmlns:r="http://schemas.openxmlformats.org/officeDocument/2006/relationships" id="257" r:id="Rfdc95bf5ca9343a0"/>
    <p:sldId xmlns:r="http://schemas.openxmlformats.org/officeDocument/2006/relationships" id="258" r:id="Re9ccaa700412492d"/>
    <p:sldId xmlns:r="http://schemas.openxmlformats.org/officeDocument/2006/relationships" id="259" r:id="Rae6ac13d472a464b"/>
    <p:sldId xmlns:r="http://schemas.openxmlformats.org/officeDocument/2006/relationships" id="260" r:id="R39662f3792504b4e"/>
    <p:sldId xmlns:r="http://schemas.openxmlformats.org/officeDocument/2006/relationships" id="261" r:id="Rb48859e6fa594dee"/>
    <p:sldId xmlns:r="http://schemas.openxmlformats.org/officeDocument/2006/relationships" id="262" r:id="R12c666dbf7664d59"/>
    <p:sldId xmlns:r="http://schemas.openxmlformats.org/officeDocument/2006/relationships" id="263" r:id="R480b47ed4634408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f65c048143347ed" /><Relationship Type="http://schemas.openxmlformats.org/officeDocument/2006/relationships/slideMaster" Target="/ppt/slideMasters/slideMaster1.xml" Id="R47025f820bd44dc9" /><Relationship Type="http://schemas.openxmlformats.org/officeDocument/2006/relationships/notesMaster" Target="/ppt/notesMasters/notesMaster1.xml" Id="Ra26fa839c44d4450" /><Relationship Type="http://schemas.openxmlformats.org/officeDocument/2006/relationships/presProps" Target="/ppt/presProps.xml" Id="R20a541acb8594e00" /><Relationship Type="http://schemas.openxmlformats.org/officeDocument/2006/relationships/tableStyles" Target="/ppt/tableStyles.xml" Id="R725f7069e44f4ab3" /><Relationship Type="http://schemas.openxmlformats.org/officeDocument/2006/relationships/slide" Target="/ppt/slides/slide1.xml" Id="Rbbd4b53579344fb9" /><Relationship Type="http://schemas.openxmlformats.org/officeDocument/2006/relationships/slide" Target="/ppt/slides/slide2.xml" Id="Rfdc95bf5ca9343a0" /><Relationship Type="http://schemas.openxmlformats.org/officeDocument/2006/relationships/slide" Target="/ppt/slides/slide3.xml" Id="Re9ccaa700412492d" /><Relationship Type="http://schemas.openxmlformats.org/officeDocument/2006/relationships/slide" Target="/ppt/slides/slide4.xml" Id="Rae6ac13d472a464b" /><Relationship Type="http://schemas.openxmlformats.org/officeDocument/2006/relationships/slide" Target="/ppt/slides/slide5.xml" Id="R39662f3792504b4e" /><Relationship Type="http://schemas.openxmlformats.org/officeDocument/2006/relationships/slide" Target="/ppt/slides/slide6.xml" Id="Rb48859e6fa594dee" /><Relationship Type="http://schemas.openxmlformats.org/officeDocument/2006/relationships/slide" Target="/ppt/slides/slide7.xml" Id="R12c666dbf7664d59" /><Relationship Type="http://schemas.openxmlformats.org/officeDocument/2006/relationships/slide" Target="/ppt/slides/slide8.xml" Id="R480b47ed4634408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8598158bb5a4f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544be916dc647d7" /><Relationship Type="http://schemas.openxmlformats.org/officeDocument/2006/relationships/notesMaster" Target="/ppt/notesMasters/notesMaster1.xml" Id="R85466c54d251443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9306915096448a3" /><Relationship Type="http://schemas.openxmlformats.org/officeDocument/2006/relationships/notesMaster" Target="/ppt/notesMasters/notesMaster1.xml" Id="R4bff83f6533a4e3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679f7798434957" /><Relationship Type="http://schemas.openxmlformats.org/officeDocument/2006/relationships/notesMaster" Target="/ppt/notesMasters/notesMaster1.xml" Id="R195870394011476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5d2a8b653164d66" /><Relationship Type="http://schemas.openxmlformats.org/officeDocument/2006/relationships/notesMaster" Target="/ppt/notesMasters/notesMaster1.xml" Id="Rd479c09da658470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e884229c90a4dd9" /><Relationship Type="http://schemas.openxmlformats.org/officeDocument/2006/relationships/notesMaster" Target="/ppt/notesMasters/notesMaster1.xml" Id="Rac56032c27f6458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6e71248ad5548e4" /><Relationship Type="http://schemas.openxmlformats.org/officeDocument/2006/relationships/notesMaster" Target="/ppt/notesMasters/notesMaster1.xml" Id="Raa843e2f4a88439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b942807e56e4ba8" /><Relationship Type="http://schemas.openxmlformats.org/officeDocument/2006/relationships/notesMaster" Target="/ppt/notesMasters/notesMaster1.xml" Id="R3598db205f78411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8a432b670d74940" /><Relationship Type="http://schemas.openxmlformats.org/officeDocument/2006/relationships/notesMaster" Target="/ppt/notesMasters/notesMaster1.xml" Id="Rf780e77b609e42e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ubmed.ncbi.nlm.nih.gov/?term=%28%28%22laboratory+automation%22+OR+%22workflow+software%22+OR+%22AI%22%29+AND+%28%22LC-MS%22+OR+chromatography+OR+%22mass+spectrometry%22%29%29+AND+%28%222025%2F08%2F20%22%5BDate+-+Publication%5D+%3A+%222026%2F08%2F20%22%5BDate+-+Publication%5D%29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https://pubmed.ncbi.nlm.nih.gov/?term=%28%28PFAS+OR+%22per-+and+polyfluoroalkyl%22%29+AND+%28%22LC-MS%22+OR+%22LC-MS%2FMS%22+OR+chromatography%29%29+AND+%28%222025%2F08%2F20%22%5BDate+-+Publication%5D+%3A+%222026%2F08%2F20%22%5BDate+-+Publication%5D%29</a:t>
            </a:r>
          </a:p>
          <a:p xmlns:a="http://schemas.openxmlformats.org/drawingml/2006/main">
            <a:r>
              <a:t>- https://pubmed.ncbi.nlm.nih.gov/?term=%28%28oligonucleotide+OR+%22nucleic+acid%22+OR+siRNA%29+AND+%28%22LC-MS%22+OR+chromatography+OR+%22mass+spectrometry%22%29%29+AND+%28%222025%2F08%2F20%22%5BDate+-+Publication%5D+%3A+%222026%2F08%2F20%22%5BDate+-+Publication%5D%29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https://pubmed.ncbi.nlm.nih.gov/?term=%28%28PFAS+OR+%22per-+and+polyfluoroalkyl%22%29+AND+%28%22LC-MS%22+OR+%22LC-MS%2FMS%22+OR+chromatography%29%29+AND+%28%222025%2F08%2F20%22%5BDate+-+Publication%5D+%3A+%222026%2F08%2F20%22%5BDate+-+Publication%5D%29</a:t>
            </a:r>
          </a:p>
          <a:p xmlns:a="http://schemas.openxmlformats.org/drawingml/2006/main">
            <a:r>
              <a:t>- https://www.agilent.com/about/newsroom/presrel/2026/29may-ca26021.html</a:t>
            </a:r>
          </a:p>
          <a:p xmlns:a="http://schemas.openxmlformats.org/drawingml/2006/main">
            <a:r>
              <a:t>- https://www.sec.gov/Archives/edgar/data/1090872/000109087226000055/a-20260430.htm</a:t>
            </a:r>
          </a:p>
          <a:p xmlns:a="http://schemas.openxmlformats.org/drawingml/2006/main">
            <a:r>
              <a:t>- https://www.bioprocessingsummit.com/</a:t>
            </a:r>
          </a:p>
          <a:p xmlns:a="http://schemas.openxmlformats.org/drawingml/2006/main">
            <a:r>
              <a:t>- https://www.labwrench.com/thread/135698/hplc-pump-and-autosampler-preventative-performance-maintenance</a:t>
            </a:r>
          </a:p>
          <a:p xmlns:a="http://schemas.openxmlformats.org/drawingml/2006/main">
            <a:r>
              <a:t>- https://www.reddit.com/r/CHROMATOGRAPHY/comments/xlr4pf/best_uhplc_on_the_market/</a:t>
            </a:r>
          </a:p>
          <a:p xmlns:a="http://schemas.openxmlformats.org/drawingml/2006/main">
            <a:r>
              <a:t>- https://www.reddit.com/r/massspectrometry/comments/1uxyipd/efficient_quant_workflow_for_targetlynx/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https://www.shimadzu.com/news/2026/k8iri3_20_z4uvwt.html</a:t>
            </a:r>
          </a:p>
          <a:p xmlns:a="http://schemas.openxmlformats.org/drawingml/2006/main">
            <a:r>
              <a:t>- https://www.agilent.com/about/newsroom/presrel/2026/29may-ca26021.html</a:t>
            </a:r>
          </a:p>
          <a:p xmlns:a="http://schemas.openxmlformats.org/drawingml/2006/main">
            <a:r>
              <a:t>- https://sciex.com/about-us/press-releases/2026/sciex-launches-its-5th-generation-of-nominal-mass-novus-v55-system-with-sciexos-5-0-software</a:t>
            </a:r>
          </a:p>
          <a:p xmlns:a="http://schemas.openxmlformats.org/drawingml/2006/main">
            <a:r>
              <a:t>- https://www.thermofisher.com/us/en/home/industrial/chromatography/liquid-chromatography-lc/hplc-uhplc-systems/vanquish-amplify-uhplc-system.html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https://www.labwrench.com/thread/135698/hplc-pump-and-autosampler-preventative-performance-maintenance</a:t>
            </a:r>
          </a:p>
          <a:p xmlns:a="http://schemas.openxmlformats.org/drawingml/2006/main">
            <a:r>
              <a:t>- https://www.reddit.com/r/CHROMATOGRAPHY/comments/xlr4pf/best_uhplc_on_the_market/</a:t>
            </a:r>
          </a:p>
          <a:p xmlns:a="http://schemas.openxmlformats.org/drawingml/2006/main">
            <a:r>
              <a:t>- https://www.reddit.com/r/massspectrometry/comments/1uxyipd/efficient_quant_workflow_for_targetlynx/</a:t>
            </a:r>
          </a:p>
          <a:p xmlns:a="http://schemas.openxmlformats.org/drawingml/2006/main">
            <a:r>
              <a:t>- https://www.reddit.com/r/massspectrometry/comments/1ux1imr/most_frustrating_thing_about_mass_spectrometry/</a:t>
            </a:r>
          </a:p>
          <a:p xmlns:a="http://schemas.openxmlformats.org/drawingml/2006/main">
            <a:r>
              <a:t>- https://www.reddit.com/r/massspectrometry/comments/1u1dpq6/synapt_nonresponsive_fluidics_purge_issue/</a:t>
            </a:r>
          </a:p>
          <a:p xmlns:a="http://schemas.openxmlformats.org/drawingml/2006/main">
            <a:r>
              <a:t>- https://www.reddit.com/r/massspectrometry/comments/1up1dlw/best_software_to_use_agilent_g3540a_gc_with/</a:t>
            </a:r>
          </a:p>
          <a:p xmlns:a="http://schemas.openxmlformats.org/drawingml/2006/main">
            <a:r>
              <a:t>- https://www.reddit.com/r/CHROMATOGRAPHY/comments/1sbtsdx/comparing_vendors_and_systems_thoughts/</a:t>
            </a:r>
          </a:p>
          <a:p xmlns:a="http://schemas.openxmlformats.org/drawingml/2006/main">
            <a:r>
              <a:t>- https://www.reddit.com/r/massspectrometry/comments/1sognqt/what_is_the_fastest_way_to_convert_raw_files_to/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https://pubmed.ncbi.nlm.nih.gov/42398371/</a:t>
            </a:r>
          </a:p>
          <a:p xmlns:a="http://schemas.openxmlformats.org/drawingml/2006/main">
            <a:r>
              <a:t>- https://www.shimadzu.com/an/products/liquid-chromatograph-mass-spectrometry/triple-quadrupole-lc-msms/lcms-8065xe/index.html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https://pubmed.ncbi.nlm.nih.gov/?term=%28%28PFAS+OR+%22per-+and+polyfluoroalkyl%22%29+AND+%28%22LC-MS%22+OR+%22LC-MS%2FMS%22+OR+chromatography%29%29+AND+%28%222025%2F08%2F20%22%5BDate+-+Publication%5D+%3A+%222026%2F08%2F20%22%5BDate+-+Publication%5D%29</a:t>
            </a:r>
          </a:p>
          <a:p xmlns:a="http://schemas.openxmlformats.org/drawingml/2006/main">
            <a:r>
              <a:t>- https://sciex.com/about-us/press-releases/2026/sciex-launches-its-5th-generation-of-nominal-mass-novus-v55-system-with-sciexos-5-0-software</a:t>
            </a:r>
          </a:p>
          <a:p xmlns:a="http://schemas.openxmlformats.org/drawingml/2006/main">
            <a:r>
              <a:t>- https://www.shimadzu.com/news/2026/k8iri3_20_z4uvwt.html</a:t>
            </a:r>
          </a:p>
          <a:p xmlns:a="http://schemas.openxmlformats.org/drawingml/2006/main">
            <a:r>
              <a:t>- https://www.thermofisher.com/us/en/home/industrial/chromatography/liquid-chromatography-lc/hplc-uhplc-systems/vanquish-amplify-uhplc-system.html</a:t>
            </a:r>
          </a:p>
          <a:p xmlns:a="http://schemas.openxmlformats.org/drawingml/2006/main">
            <a:r>
              <a:t>- https://pubmed.ncbi.nlm.nih.gov/?term=%28%28%22laboratory+automation%22+OR+%22workflow+software%22+OR+%22AI%22%29+AND+%28%22LC-MS%22+OR+chromatography+OR+%22mass+spectrometry%22%29%29+AND+%28%222025%2F08%2F20%22%5BDate+-+Publication%5D+%3A+%222026%2F08%2F20%22%5BDate+-+Publication%5D%29</a:t>
            </a:r>
          </a:p>
          <a:p xmlns:a="http://schemas.openxmlformats.org/drawingml/2006/main">
            <a:r>
              <a:t>- https://www.agilent.com/about/newsroom/presrel/2026/20may-ca26015.html</a:t>
            </a:r>
          </a:p>
          <a:p xmlns:a="http://schemas.openxmlformats.org/drawingml/2006/main">
            <a:r>
              <a:t>- https://www.thermofisher.com/order/catalog/product/VQ-AMPLIFY</a:t>
            </a:r>
          </a:p>
          <a:p xmlns:a="http://schemas.openxmlformats.org/drawingml/2006/main">
            <a:r>
              <a:t>- https://pubmed.ncbi.nlm.nih.gov/?term=%28%28oligonucleotide+OR+%22nucleic+acid%22+OR+siRNA%29+AND+%28%22LC-MS%22+OR+chromatography+OR+%22mass+spectrometry%22%29%29+AND+%28%222025%2F08%2F20%22%5BDate+-+Publication%5D+%3A+%222026%2F08%2F20%22%5BDate+-+Publication%5D%29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https://www.bioprocessingsummit.com/</a:t>
            </a:r>
          </a:p>
          <a:p xmlns:a="http://schemas.openxmlformats.org/drawingml/2006/main">
            <a:r>
              <a:t>- https://pubmed.ncbi.nlm.nih.gov/42398371/</a:t>
            </a:r>
          </a:p>
          <a:p xmlns:a="http://schemas.openxmlformats.org/drawingml/2006/main">
            <a:r>
              <a:t>- https://www.shimadzu.com/an/products/liquid-chromatograph-mass-spectrometry/triple-quadrupole-lc-msms/lcms-8065xe/index.html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https://pubmed.ncbi.nlm.nih.gov/?term=%28%28PFAS+OR+%22per-+and+polyfluoroalkyl%22%29+AND+%28%22LC-MS%22+OR+%22LC-MS%2FMS%22+OR+chromatography%29%29+AND+%28%222025%2F08%2F20%22%5BDate+-+Publication%5D+%3A+%222026%2F08%2F20%22%5BDate+-+Publication%5D%29</a:t>
            </a:r>
          </a:p>
          <a:p xmlns:a="http://schemas.openxmlformats.org/drawingml/2006/main">
            <a:r>
              <a:t>- https://sciex.com/about-us/press-releases/2026/sciex-launches-its-5th-generation-of-nominal-mass-novus-v55-system-with-sciexos-5-0-software</a:t>
            </a:r>
          </a:p>
          <a:p xmlns:a="http://schemas.openxmlformats.org/drawingml/2006/main">
            <a:r>
              <a:t>- https://www.shimadzu.com/news/2026/k8iri3_20_z4uvwt.html</a:t>
            </a:r>
          </a:p>
          <a:p xmlns:a="http://schemas.openxmlformats.org/drawingml/2006/main">
            <a:r>
              <a:t>- https://www.thermofisher.com/us/en/home/industrial/chromatography/liquid-chromatography-lc/hplc-uhplc-systems/vanquish-amplify-uhplc-system.html</a:t>
            </a:r>
          </a:p>
          <a:p xmlns:a="http://schemas.openxmlformats.org/drawingml/2006/main">
            <a:r>
              <a:t>- https://pubmed.ncbi.nlm.nih.gov/?term=%28%28%22laboratory+automation%22+OR+%22workflow+software%22+OR+%22AI%22%29+AND+%28%22LC-MS%22+OR+chromatography+OR+%22mass+spectrometry%22%29%29+AND+%28%222025%2F08%2F20%22%5BDate+-+Publication%5D+%3A+%222026%2F08%2F20%22%5BDate+-+Publication%5D%29</a:t>
            </a:r>
          </a:p>
          <a:p xmlns:a="http://schemas.openxmlformats.org/drawingml/2006/main">
            <a:r>
              <a:t>- https://www.agilent.com/about/newsroom/presrel/2026/20may-ca26015.html</a:t>
            </a:r>
          </a:p>
          <a:p xmlns:a="http://schemas.openxmlformats.org/drawingml/2006/main">
            <a:r>
              <a:t>- https://www.thermofisher.com/order/catalog/product/VQ-AMPLIFY</a:t>
            </a:r>
          </a:p>
          <a:p xmlns:a="http://schemas.openxmlformats.org/drawingml/2006/main">
            <a:r>
              <a:t>- https://pubmed.ncbi.nlm.nih.gov/?term=%28%28oligonucleotide+OR+%22nucleic+acid%22+OR+siRNA%29+AND+%28%22LC-MS%22+OR+chromatography+OR+%22mass+spectrometry%22%29%29+AND+%28%222025%2F08%2F20%22%5BDate+-+Publication%5D+%3A+%222026%2F08%2F20%22%5BDate+-+Publication%5D%29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https://pubmed.ncbi.nlm.nih.gov/?term=%28%28PFAS+OR+%22per-+and+polyfluoroalkyl%22%29+AND+%28%22LC-MS%22+OR+%22LC-MS%2FMS%22+OR+chromatography%29%29+AND+%28%222025%2F08%2F20%22%5BDate+-+Publication%5D+%3A+%222026%2F08%2F20%22%5BDate+-+Publication%5D%29</a:t>
            </a:r>
          </a:p>
          <a:p xmlns:a="http://schemas.openxmlformats.org/drawingml/2006/main">
            <a:r>
              <a:t>- https://www.agilent.com/about/newsroom/presrel/2026/29may-ca26021.html</a:t>
            </a:r>
          </a:p>
          <a:p xmlns:a="http://schemas.openxmlformats.org/drawingml/2006/main">
            <a:r>
              <a:t>- https://www.sec.gov/Archives/edgar/data/1090872/000109087226000055/a-20260430.htm</a:t>
            </a:r>
          </a:p>
          <a:p xmlns:a="http://schemas.openxmlformats.org/drawingml/2006/main">
            <a:r>
              <a:t>- https://www.shimadzu.com/news/2026/k8iri3_20_z4uvwt.html</a:t>
            </a:r>
          </a:p>
          <a:p xmlns:a="http://schemas.openxmlformats.org/drawingml/2006/main">
            <a:r>
              <a:t>- https://sciex.com/about-us/press-releases/2026/sciex-launches-its-5th-generation-of-nominal-mass-novus-v55-system-with-sciexos-5-0-software</a:t>
            </a:r>
          </a:p>
          <a:p xmlns:a="http://schemas.openxmlformats.org/drawingml/2006/main">
            <a:r>
              <a:t>- https://www.bioprocessingsummit.com/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18bf776e14419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f5d0f8b7a9e463e" /><Relationship Type="http://schemas.openxmlformats.org/officeDocument/2006/relationships/slideLayout" Target="/ppt/slideLayouts/slideLayout1.xml" Id="R470b4c11bcea491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70b4c11bcea491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6d81fed2e0499d" /><Relationship Type="http://schemas.openxmlformats.org/officeDocument/2006/relationships/notesSlide" Target="/ppt/notesSlides/notesSlide1.xml" Id="Ra6dea5a65765451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d73aa300a346fd" /><Relationship Type="http://schemas.openxmlformats.org/officeDocument/2006/relationships/notesSlide" Target="/ppt/notesSlides/notesSlide2.xml" Id="R058a42a564b74bd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85578e1de541fb" /><Relationship Type="http://schemas.openxmlformats.org/officeDocument/2006/relationships/notesSlide" Target="/ppt/notesSlides/notesSlide3.xml" Id="R7cf7dbc792b04c8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1ec02103b74b3b" /><Relationship Type="http://schemas.openxmlformats.org/officeDocument/2006/relationships/notesSlide" Target="/ppt/notesSlides/notesSlide4.xml" Id="Rf1d126b2ed2d48e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d80b8966f345ed" /><Relationship Type="http://schemas.openxmlformats.org/officeDocument/2006/relationships/notesSlide" Target="/ppt/notesSlides/notesSlide5.xml" Id="Rdbd99929ddb9429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a820c85ad44de3" /><Relationship Type="http://schemas.openxmlformats.org/officeDocument/2006/relationships/notesSlide" Target="/ppt/notesSlides/notesSlide6.xml" Id="Rc476a51d5b7c442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52fdc15bbc43cd" /><Relationship Type="http://schemas.openxmlformats.org/officeDocument/2006/relationships/notesSlide" Target="/ppt/notesSlides/notesSlide7.xml" Id="R404df093b7af40d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f81e4ee54c42d1" /><Relationship Type="http://schemas.openxmlformats.org/officeDocument/2006/relationships/hyperlink" Target="https://pubmed.ncbi.nlm.nih.gov/?term=%28%28PFAS+OR+%22per-+and+polyfluoroalkyl%22%29+AND+%28%22LC-MS%22+OR+%22LC-MS%2FMS%22+OR+chromatography%29%29+AND+%28%222025%2F08%2F20%22%5BDate+-+Publication%5D+%3A+%222026%2F08%2F20%22%5BDate+-+Publication%5D%29" TargetMode="External" Id="R2346898bc55f48e4" /><Relationship Type="http://schemas.openxmlformats.org/officeDocument/2006/relationships/hyperlink" Target="https://www.agilent.com/about/newsroom/presrel/2026/29may-ca26021.html" TargetMode="External" Id="R823171ce63a3433a" /><Relationship Type="http://schemas.openxmlformats.org/officeDocument/2006/relationships/hyperlink" Target="https://www.sec.gov/Archives/edgar/data/1090872/000109087226000055/a-20260430.htm" TargetMode="External" Id="Redf15c6127f04896" /><Relationship Type="http://schemas.openxmlformats.org/officeDocument/2006/relationships/hyperlink" Target="https://www.shimadzu.com/news/2026/k8iri3_20_z4uvwt.html" TargetMode="External" Id="Ra61963531b1a40d3" /><Relationship Type="http://schemas.openxmlformats.org/officeDocument/2006/relationships/hyperlink" Target="https://sciex.com/about-us/press-releases/2026/sciex-launches-its-5th-generation-of-nominal-mass-novus-v55-system-with-sciexos-5-0-software" TargetMode="External" Id="R65b5227a71434014" /><Relationship Type="http://schemas.openxmlformats.org/officeDocument/2006/relationships/hyperlink" Target="https://www.bioprocessingsummit.com/" TargetMode="External" Id="Rcfc2d21479ad49e5" /><Relationship Type="http://schemas.openxmlformats.org/officeDocument/2006/relationships/notesSlide" Target="/ppt/notesSlides/notesSlide8.xml" Id="R9453d7242621475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364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6D0D9F-2982-47F8-BF9D-8FCBD8EB5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DC7B97-CEA7-4F0A-B453-BDB68C9C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667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WATERS · NEXT GEN 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72343C-A13D-42FD-8710-D3570575E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895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Leadership brief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DB0F60-F44E-4154-95AE-85EB21B5A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19350"/>
            <a:ext cx="847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Five external signals. Three evidence-gated decisions.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0B3F64-161E-4F1F-884D-5217A1B5D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7524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A concise executive readout of scientific momentum, competitor moves, customer friction, corporate intent, and the next conference moment.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CE457D-E199-48CA-AFD9-EAA9272E3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85900"/>
            <a:ext cx="2400300" cy="26479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0D4A54"/>
          </a:solidFill>
          <a:ln xmlns:a="http://schemas.openxmlformats.org/drawingml/2006/main" w="9525">
            <a:solidFill>
              <a:srgbClr val="2B626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A23563-9A35-4EC2-85A6-B9131B393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8859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DATA CURRENT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EDC6AD-BFFF-4681-8B38-9EE827B69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47900"/>
            <a:ext cx="1428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327954-BAE3-4591-9DA1-5D515ADE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480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AUG 2026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8FABA7-3752-4E3B-89E9-9FDCFE91D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19500"/>
            <a:ext cx="148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80C26D-01D2-4842-B663-81AC30CCD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752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9D9DB"/>
                </a:solidFill>
                <a:latin typeface="Aptos"/>
                <a:ea typeface="Aptos"/>
                <a:cs typeface="Aptos"/>
              </a:rPr>
              <a:t>PUBLIC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B2A43E-994A-4B51-BCA2-105331B3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1531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Prepared for roadmap review · waters-ci-20260820104036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A2BD30-D561-4F23-948F-E363AAA7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1531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78419167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765648-078A-436B-807F-8A75E2764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E45576-440A-4C72-84BF-283607CB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Leadership Brief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6241CD-1DFC-4DA0-852B-D83F4DA3C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69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The strongest cross-page pattern is not a single specification—it is proof that the full workflow is easier to execute, transfer, and troubleshoot.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8C179F-80C2-4070-96DE-D9D4C0042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700C2A-75EF-4BB3-A50B-6FD24774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111633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FB8E75-8814-446E-A9B9-5BAFC6716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19325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LEADERSHIP IMPLICATION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6ABA17-EEC4-445E-BED3-01E63980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162175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778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Test new requirements against workflow proof, not feature parity alone.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B16D81-AEE3-4300-A69A-68F3874A2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722A6D-112E-40DF-AFBC-F1CE6A25F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232432-D719-49C9-90FA-E0B2422BC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1,142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7F7E69-3ABC-4A46-9214-2AAB24E27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Automation and software workflow publications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4A01DE-C1E2-4BBB-91E0-49AD099B3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Scientific activity in the last year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752766-7A0A-4FF3-9D2B-E202AD2E3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9CBF8B-F0F1-46CE-B0AC-A42BD9FF6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16295B-0479-460C-92C7-F15677DF8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336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50B898-3139-4CCB-B073-A6B3D568B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and contaminant-testing publications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DFCD2A-F3B2-4136-82A7-4E631AD4A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Current regulated-testing activity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CA8A53-A542-4CD0-930E-7A6777AEB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1B33EF-43CC-41B3-863E-05578F32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DEFCF0-C20A-415E-B3D8-8AECBDA3C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656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E12317-426E-48B4-BB07-8996C12F3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Oligonucleotide and nucleic-acid publications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063F08-CBBA-4965-80BA-26B142860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Substantial application evidence base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12C9C7-9A02-4FD7-B625-8FF3C159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23 AUG 2026 · waters-ci-20260820104036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FA46A9-E74B-4D1A-8301-4CB6A45F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85655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FE8EAF1-A21A-4024-96AE-424933696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E5462F-A644-4E75-93D4-8B08150F3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Five signals now shape the roadmap conversation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FA54E5-3011-4270-97D5-F0D64073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Each signal comes from a different evidence class; together they show why leadership attention is warranted.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565C6B-6517-4BEC-9F61-D2074711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7AD552-5983-4B7A-B4E6-24EA0810B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E33C26-EF61-4213-8B5D-F7C68106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93FFCB-3625-47F3-8769-3C5FCC50C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3D8C26-ECB2-4DA0-9EC0-2A0D9FF3E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193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SCIENTIFIC MARKET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13F8A4-2366-4E62-B044-A86063B61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669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activity remains substantial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E89E93-206E-4140-AFD2-C4337D38A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337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336 records from the canonical PubMed query.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EC296D-7245-427C-BC1B-023C3B82A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574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15A235-AA52-4FE2-80CA-D1CCFB8F9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288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29F9B8-1E1A-4F47-8FD4-831760808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305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556FE4-232B-4F6A-9F21-B92D870FA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193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COMPETITOR LAUNCH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6E49A3-7BB4-4449-9BB7-3E960756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4669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Agilent is packaging LC/TOF into MAM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A72654-F562-4F5E-8C9D-CD318DABC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337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Observed issuer evidence from Agilent's official release.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B50748-499B-470A-8450-E5F7285C7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F37AFA-28EC-49B8-832D-D759C1CC8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93DCDC-4854-4F04-8242-4A08EC88E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138BD7-9CF9-47A1-8916-DFAF0D808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814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CUSTOMER 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64B3CC-28E0-4B25-9846-958C2ED4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290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Troubleshooting requires internal validation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992DBE-D81E-43CC-9948-F66069A8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958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Public forum recurrence requires internal field validation.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2C910D-1B42-4F0E-88C4-1ED4153C1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195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72E6E0-5937-4B03-85C0-E15743EA2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909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EC93B3-DDBD-4EF9-95D6-00213BB50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867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0B17E9-D374-414C-8A04-C4B0A68BF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7814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CORPORATE INTENT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086DFF-4305-4024-81B0-8FD48B74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0290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Agilent calls LC and LC-MS growth engines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885BC6-7E30-422F-8407-820B7BA85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958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Direct issuer filing; no independent external corroboration.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C23F28-90C1-4AD0-8B6A-541CDBFE8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51816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4B4C873-8F2F-48C1-BF3E-17655EFE3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3530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4A8D82-370C-4534-87ED-5C31A87E4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4292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4C0943D-D3DB-4F05-AE0A-B0367D570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3435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CONFERENCE MOMENT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0A9B53-8C94-4777-BA08-93D035912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5911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Bioprocessing Summit begins Aug 10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E6F4135-CBB9-40FC-8F28-22B129F4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60579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Observed agenda and sponsor facts from the event site.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97E0818-83ED-4EEB-B52C-16063C8FF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23 AUG 2026 · waters-ci-20260820104036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1EE01B3-325A-4148-80E7-673DDB889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853878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AEA82A-8746-48B9-A0B4-8B014FD64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DE207F-BABE-47AB-8C18-D00AF7069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 competitor actions suggest workflow packaging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163A8A-28FB-4F20-A411-339277036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 confidence is Directional: each company view lacks two independently corroborating source families.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351EC9-938E-49E8-B6F0-BD182B2D8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C7A60D-F53B-4BAB-B5BC-1DD660DB2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E1D81D-2B14-491B-9D80-7D2732EBD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8FDACD-87D9-4BEC-944D-25AA3AD96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764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SHIMADZU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AA95A1-A682-4ABE-9538-3428E7438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764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03 Mar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C42C20-124C-44CC-9E69-419451593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622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Nexera X4 launch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D65A2D-A738-40FA-8334-853F2603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146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productivity-led LC positioning. Alternative: normal platform refresh.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CCA060-B0BA-430F-9AEC-FADFC714A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74E736-F90F-49A8-B418-0259CE58D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7B1821-2516-4A18-ACE9-77B0391C7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2764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AGILENT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7871D9-6A94-4D30-8548-BC0FACC2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2764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03 Jun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FA351A-921D-4A2E-8713-85293B772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5622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6230C LC/TOF in MAM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B809C4-FEA7-4D1D-8509-27EB41DD6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1146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application-specific workflow packaging. Alternative: campaign positioning.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163DF2-9163-408B-9951-9F80F9EC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386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DFB479-6A68-4E4F-8676-A41E68E6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386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C79DC1-EA49-4B6A-984B-776F11C5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95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SCIEX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3B0328-FA30-452B-8E7D-1A44977A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2195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01 Jun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1D0D3D-21E7-41AF-A36E-EC25B0E31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053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novus V55 + SCIEX OS 5.0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DA7503-E3A6-4207-92F5-5F34F74BC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577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software-led nominal-mass offer; this does not verify broader HRMS depth.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1DE9E7-FBB0-4ED1-8D63-C977CE2E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B70F43-66AF-49F2-8962-2850D3F19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387D7B-D2BB-47B3-A446-12D83A3FF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2195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THERMO FISHER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8A2C73-B8F3-4786-B436-4B81DB1C7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2195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CURRENT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CADF0A-3CE4-48B2-B73A-AF4C2267B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5053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Vanquish Amplify product page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DB14B6-753D-455A-88EE-6DA6C0278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0577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inert biopharma workflow packaging. Alternative: portfolio positioning.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851F2E-3DB5-4505-B302-8D9DF786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23 AUG 2026 · waters-ci-20260820104036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78B022-67C0-40D1-9CC5-511CE0E34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83520849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F76A70-9E12-4CD1-85D3-D5B6CDE40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ED4C1C-55AF-48BA-867A-65A2E16C6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Customer evidence is a validation input—not a prevalence estimate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AB8350-7329-4246-98C6-BBB52B9E2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Forum evidence is promoted to leadership only when at least three independent sources support the same theme.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28304C-D0C5-4EE1-AA98-082D86F23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790196-516E-423A-BA51-85E9E003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14550"/>
            <a:ext cx="4324350" cy="369570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40163A-C5BF-4073-8DE3-206FF2EE1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765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DIRECTIONAL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E900DC-BEC5-45BC-9E80-FEE74D7BA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623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9D9DB"/>
                </a:solidFill>
                <a:latin typeface="Aptos"/>
                <a:ea typeface="Aptos"/>
                <a:cs typeface="Aptos"/>
              </a:rPr>
              <a:t>PUBLIC CUSTOMER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AFDA85-1180-4297-AA99-6E9826076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Leadership threshold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C2D2F7-4924-4D18-8FE5-238887F28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71950"/>
            <a:ext cx="3333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3+ independent sources</a:t>
            </a:r>
          </a:p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plus internal field validation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7BF52D-B542-490C-A5BE-1F0DC1823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14550"/>
            <a:ext cx="6534150" cy="369570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2799C3-A769-4E66-B512-40E04C2C3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19350"/>
            <a:ext cx="581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WHAT LEADERS SHOULD TAKE FROM 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281AEB-2CB9-45E4-A866-82AEEAC2C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8130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207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Do not infer product weakness from one complaint.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3435AF-D0B9-42C3-AE69-02DDF5920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00450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Before adding requirements, validate: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4D3C59-A541-4FEA-BC6C-6978F38E4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019550"/>
            <a:ext cx="5524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1. Which failure modes repeat across customer and field records</a:t>
            </a:r>
          </a:p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2. How long users take to isolate and recover from them</a:t>
            </a:r>
          </a:p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3. Whether guided diagnostics materially shorten that path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8A7A28-8D89-492B-9E59-28D038EE0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23 AUG 2026 · waters-ci-20260820104036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B1F886-CF5A-4B67-9E1F-A31D1AE82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633290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03C5B79-2721-4831-B2FF-53F3F370C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DA951B-9D25-47B4-9C20-FEB6999EE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Three decisions are evidence-prioritized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4D7B53-E11D-458C-8269-F97BD8FD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The evidence-priority score compares application activity, competitor activity, and source quality.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76DFA8-85F7-4524-9D7C-CDE9971C8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03E38B-BB3B-492B-B5E1-757553FA0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18C4A0-8AE5-4EA4-AED0-19DC2FF02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C3AAF6-9C51-4ADF-A420-581D7B8D3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DECISION GATE · NEXT ROADMAP REVIEW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4A736D-A992-48B1-9960-F07A6D52A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95575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EVIDENCE-PRIORITY SCORE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1FF304-1899-46C2-ADFD-8EDE500C3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54/100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B0B09F-8108-4236-8914-542ECDE7D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14700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643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Decide whether to package a PFAS-ready regulated quantitation workflow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801700-A21C-48BC-8A4B-CAFAC3EA0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C91568-F045-43E4-9240-763C28CDE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9575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OWNER · Product Management and Applications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97C0C5-BC54-4CBA-BEF1-4BB380DCB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33900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FINAL GO / NO-GO OUTPUT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901248-ECE7-4560-B6B9-A8C10798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81550"/>
            <a:ext cx="2990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One recommendation: package, build, partner, monitor, or stop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D6F60D-21BF-400E-934E-25EA39F3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C4A74B-CD41-46B2-833E-9CB717958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027D94-96C6-4051-8106-E6DD4888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38125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DECISION GATE · NEXT ROADMAP 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A9AFFE-059F-4E59-BF05-1930DCD79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695575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EVIDENCE-PRIORITY SCORE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BD726C-9A43-4E1D-A349-C26D21BA7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89560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63/100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3DBB0E-FA4E-49CB-89E3-8205A2FCE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314700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643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Decide whether Next Gen LC and Alliance iS need new end-to-end workflow requirements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EE1F48-EEA6-442F-AD9D-99EEB9FBA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05765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F923EF-7CB7-4F7B-86D6-C464F197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219575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OWNER · LC Platform PM and Software Lead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FEE523-329E-4446-8753-30663FB3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533900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FINAL GO / NO-GO OUTPUT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0AB0B1-514B-4159-B12F-C966C58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781550"/>
            <a:ext cx="2990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One recommendation: build, package existing capabilities, reposition, or stop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85191D-EE81-4341-8A30-06166C8F8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E048B0-8639-46AF-875A-1BA1EA77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CDA726-9E12-41F0-96A8-22C4FA90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8125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DECISION GATE · NEXT ROADMAP REVIEW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2D58CC-8B35-408C-ADBE-FA823A7DC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695575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EVIDENCE-PRIORITY SCORE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40FD40-EDA0-4D30-A2A5-E5813385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9560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54/100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0271AA-2915-40D4-9888-284453AA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14700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643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Decide whether Next Gen LC needs an oligonucleotide method-readiness package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9931BA9-B054-4155-A347-6607FB415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05765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434706D-FF73-41F3-97F0-88D41A96A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19575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OWNER · Biopharma Applications and Next Gen LC PM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9AE5847-484D-4466-ADA3-8E2D35FBC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33900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FINAL GO / NO-GO OUTPUT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77ACB3-CE68-48E6-8CA3-8E89C6A72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81550"/>
            <a:ext cx="2990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One recommendation: package, build, partner, monitor, or stop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77D1AF7-9D10-4BA8-9561-2E7261D7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23 AUG 2026 · waters-ci-20260820104036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00EC9C0-6759-4C3E-B7A9-CF378CD9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4585569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BCC522-F2B8-47C2-B28D-F0930B398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F77BD2-6FA4-4277-877A-D33EE72B8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Close the evidence gaps before adding roadmap 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FCC700-996C-47E7-BFAF-F74CCDA99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Sequence evidence gates around the next roadmap review without inventing calendar commitments.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BDFEFF-C04B-43CE-A88B-E5262DB64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BF2801-F605-4766-A884-3A32F6C9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67050"/>
            <a:ext cx="914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351DD1-2403-41C5-83FD-F2930EB7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99AFDB-78FC-4427-A4D4-66F01B4B5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GATE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8FC00C-74AF-468E-9F77-4E624CE0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decision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B0B67A-F634-4FE0-A72F-0668EA692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Complete claims matrix and make the package go/no-go.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81B745-08A8-4FE0-B732-57D0C5F94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E7C06-E3FB-4579-838E-A827E5E2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EVENT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0ED084-A9A7-481B-801A-1981D8937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Conference moment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98C3B3-8ED5-4DF4-B570-D908BCEC5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Lead with MAM, complex modalities and transfer proof.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0998AB-9981-4C66-AF06-1A9E49F1C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277143-D74D-4E17-9E6B-2C6706329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GATE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A4FD1C-04D8-4837-9870-3BEEF7DA3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Workflow decision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C0144D-2DC4-4291-807B-1F666A246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Choose build, package, reposition, or stop.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A1948F-FC2B-418A-820C-385A269A0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D467D0-0DBD-419D-92BF-736C8EFB9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GATE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0428CF-012A-4EC3-B6C9-DE1E17E6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Oligo decision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81A733-E30B-4BF6-B100-F0B8B5410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Choose package, build, partner, monitor, or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796CC6-3C29-4969-9D0A-A806609E3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67350"/>
            <a:ext cx="88392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B9F595-3BEB-4098-BB7F-FEEEA6186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600700"/>
            <a:ext cx="828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136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Gate roadmap capacity on repeated customer-visible evidence plus quantified benefit and engineering effort.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22BE43-1BF1-4AAF-B12D-046524832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23 AUG 2026 · waters-ci-20260820104036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3D6332-71AA-44B6-B810-95D8348C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13614589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2491075-96E1-4E9C-83A1-3C48CD4F6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DC2777-05ED-427F-927D-078309AF7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Primary sources behind the leadership readout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F7F93C-B89D-48DA-9C05-72DACCAE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Direct public evidence is kept separate from inference; publication counts are contextual signals, not market-size claims.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8CC259-5D9F-45A2-B8A0-B58EE0473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E8428C-85FC-4278-89F0-E740F2DA8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336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3C4232-F48C-4BC3-A764-A8F2C6403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95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SCIENTIFIC MARKET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81E1D4-A92F-4F82-8245-EBD738E39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0764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PubMed · PFAS / LC-MS query</a:t>
            </a:r>
          </a:p>
        </p:txBody>
      </p:sp>
      <p:sp>
        <p:nvSpPr>
          <p:cNvPr id="8" name="">
            <a:hlinkClick xmlns:r="http://schemas.openxmlformats.org/officeDocument/2006/relationships" xmlns:a="http://schemas.openxmlformats.org/drawingml/2006/main" r:id="R2346898bc55f48e4"/>
            <a:extLst xmlns:a="http://schemas.openxmlformats.org/drawingml/2006/main">
              <a:ext uri="{FF2B5EF4-FFF2-40B4-BE49-F238E27FC236}">
                <a16:creationId xmlns:a16="http://schemas.microsoft.com/office/drawing/2014/main" id="{C37BDD27-CC13-4FEF-9A93-1E213C7D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2714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https://pubmed.ncbi.nlm.nih.gov/?term=%28%28PFAS+OR+%22per-+and+polyfluoroalkyl%22%29+AND+%28%22LC-MS%22+OR+%22LC-MS%2FMS%22+OR+chromatography%29%29+AND+%28%222025%2F08%2F20%22%5BDate+-+Publication%5D+%3A+%222026%2F08%2F20%22%5BDate+-+Publication%5D%29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465B59-718E-424C-B6E0-813ED683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527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12CAD0-707C-4C22-9528-14CCA1949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813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EAAA8C-C0E5-4E59-95CA-D93407B06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432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AGILENT LAUNCH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E38FBF-33BE-47E7-8FF9-979347A16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7241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6230C LC/TOF in MAM workflow</a:t>
            </a:r>
          </a:p>
        </p:txBody>
      </p:sp>
      <p:sp>
        <p:nvSpPr>
          <p:cNvPr id="13" name="">
            <a:hlinkClick xmlns:r="http://schemas.openxmlformats.org/officeDocument/2006/relationships" xmlns:a="http://schemas.openxmlformats.org/drawingml/2006/main" r:id="R823171ce63a3433a"/>
            <a:extLst xmlns:a="http://schemas.openxmlformats.org/drawingml/2006/main">
              <a:ext uri="{FF2B5EF4-FFF2-40B4-BE49-F238E27FC236}">
                <a16:creationId xmlns:a16="http://schemas.microsoft.com/office/drawing/2014/main" id="{ABA52872-7257-4B9A-99A0-26B00134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432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https://www.agilent.com/about/newsroom/presrel/2026/29may-ca26021.html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38276C-A5FD-44D7-BC15-571F52DE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004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F7692C-5EA9-4031-8140-CA1C7F0C9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989846-97D1-4497-8813-317104443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909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AGILENT FILING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746D48-99CC-414D-BD0B-C1AA8E230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3718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Issuer-reported LC / LC-MS growth</a:t>
            </a:r>
          </a:p>
        </p:txBody>
      </p:sp>
      <p:sp>
        <p:nvSpPr>
          <p:cNvPr id="18" name="">
            <a:hlinkClick xmlns:r="http://schemas.openxmlformats.org/officeDocument/2006/relationships" xmlns:a="http://schemas.openxmlformats.org/drawingml/2006/main" r:id="Redf15c6127f04896"/>
            <a:extLst xmlns:a="http://schemas.openxmlformats.org/drawingml/2006/main">
              <a:ext uri="{FF2B5EF4-FFF2-40B4-BE49-F238E27FC236}">
                <a16:creationId xmlns:a16="http://schemas.microsoft.com/office/drawing/2014/main" id="{243FFF72-06F7-4474-BDBC-81CD7780A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909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https://www.sec.gov/Archives/edgar/data/1090872/000109087226000055/a-20260430.htm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E82383-587B-4A01-92D3-FDC602C26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481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A3D1DA-1B34-4654-9980-C5F427588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767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3B95C4-E608-4F20-A785-73D2562B6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386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SHIMADZU LAUNCH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535C97-E7D5-49D2-8FD6-BC6B5EE0B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0195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Nexera X4 UHPLC</a:t>
            </a:r>
          </a:p>
        </p:txBody>
      </p:sp>
      <p:sp>
        <p:nvSpPr>
          <p:cNvPr id="23" name="">
            <a:hlinkClick xmlns:r="http://schemas.openxmlformats.org/officeDocument/2006/relationships" xmlns:a="http://schemas.openxmlformats.org/drawingml/2006/main" r:id="Ra61963531b1a40d3"/>
            <a:extLst xmlns:a="http://schemas.openxmlformats.org/drawingml/2006/main">
              <a:ext uri="{FF2B5EF4-FFF2-40B4-BE49-F238E27FC236}">
                <a16:creationId xmlns:a16="http://schemas.microsoft.com/office/drawing/2014/main" id="{0D569E55-CBDE-4C9F-94EC-4B2E9AC05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386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https://www.shimadzu.com/news/2026/k8iri3_20_z4uvwt.html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C2ABC2-FBED-4A34-A2C2-7A754A76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958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4BEFF4-C479-4EDF-BEF8-6D5945ECF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244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ED93DD-3747-44CA-9EF7-325830D91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863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SCIEX LAUNCH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D27345-9BE2-4518-904F-2C0721A04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6672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novus V55 with SCIEX OS 5.0</a:t>
            </a:r>
          </a:p>
        </p:txBody>
      </p:sp>
      <p:sp>
        <p:nvSpPr>
          <p:cNvPr id="28" name="">
            <a:hlinkClick xmlns:r="http://schemas.openxmlformats.org/officeDocument/2006/relationships" xmlns:a="http://schemas.openxmlformats.org/drawingml/2006/main" r:id="R65b5227a71434014"/>
            <a:extLst xmlns:a="http://schemas.openxmlformats.org/drawingml/2006/main">
              <a:ext uri="{FF2B5EF4-FFF2-40B4-BE49-F238E27FC236}">
                <a16:creationId xmlns:a16="http://schemas.microsoft.com/office/drawing/2014/main" id="{6E6AD32A-881E-4C8D-9579-C656FF3C9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6863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https://sciex.com/about-us/press-releases/2026/sciex-launches-its-5th-generation-of-nominal-mass-novus-v55-system-with-sciexos-5-0-software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42AFDD-98BC-46EB-9568-B1C10D59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435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CFC0F7B-6407-43FD-B7E4-C543CFCF1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721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57072D-7B28-4261-B9A3-0D981453B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340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CONFERENCE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90BAB12-301E-4491-A09C-5C71C834F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3149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Bioprocessing Summit US 2026</a:t>
            </a:r>
          </a:p>
        </p:txBody>
      </p:sp>
      <p:sp>
        <p:nvSpPr>
          <p:cNvPr id="33" name="">
            <a:hlinkClick xmlns:r="http://schemas.openxmlformats.org/officeDocument/2006/relationships" xmlns:a="http://schemas.openxmlformats.org/drawingml/2006/main" r:id="Rcfc2d21479ad49e5"/>
            <a:extLst xmlns:a="http://schemas.openxmlformats.org/drawingml/2006/main">
              <a:ext uri="{FF2B5EF4-FFF2-40B4-BE49-F238E27FC236}">
                <a16:creationId xmlns:a16="http://schemas.microsoft.com/office/drawing/2014/main" id="{A1C737B3-0B23-433A-BA1E-B50128336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340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https://www.bioprocessingsummit.com/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94198B0-1900-4B9A-A2E8-CEF01C7F3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19800"/>
            <a:ext cx="111633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F3D4"/>
          </a:solidFill>
          <a:ln xmlns:a="http://schemas.openxmlformats.org/drawingml/2006/main" w="9525">
            <a:solidFill>
              <a:srgbClr val="FFF3D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6767625-79E4-4C9B-B2BF-A61622D2C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96000"/>
            <a:ext cx="10782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C56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7C5600"/>
                </a:solidFill>
                <a:latin typeface="Aptos"/>
                <a:ea typeface="Aptos"/>
                <a:cs typeface="Aptos"/>
              </a:rPr>
              <a:t>Snapshot: waters-ci-20260820104036 · As of 2026-08-23 · Business magnitude requires Waters internal data.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E59F4DA-6118-49F7-B412-678E1CC7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23 AUG 2026 · waters-ci-20260820104036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A42734A-D3CF-465C-8CD3-5F9F28778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188292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2026-08-23T18:12:54.7450000Z</dcterms:created>
  <dcterms:modified xsi:type="dcterms:W3CDTF">2026-08-23T18:12:54.7450000Z</dcterms:modified>
</coreProperties>
</file>