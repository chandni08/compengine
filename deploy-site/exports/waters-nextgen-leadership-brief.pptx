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9025650a704414" /><Relationship Type="http://schemas.openxmlformats.org/officeDocument/2006/relationships/extended-properties" Target="/docProps/app.xml" Id="R193f0c3549cd4708" /><Relationship Type="http://schemas.openxmlformats.org/officeDocument/2006/relationships/officeDocument" Target="/ppt/presentation.xml" Id="Rd95931ec67c6484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45685ff0904c3e"/>
  </p:sldMasterIdLst>
  <p:notesMasterIdLst>
    <p:notesMasterId xmlns:r="http://schemas.openxmlformats.org/officeDocument/2006/relationships" r:id="R574e4d657cdf4717"/>
  </p:notesMasterIdLst>
  <p:sldIdLst>
    <p:sldId xmlns:r="http://schemas.openxmlformats.org/officeDocument/2006/relationships" id="256" r:id="R5809642b99b34b48"/>
    <p:sldId xmlns:r="http://schemas.openxmlformats.org/officeDocument/2006/relationships" id="257" r:id="Rf6a17742eb734ffb"/>
    <p:sldId xmlns:r="http://schemas.openxmlformats.org/officeDocument/2006/relationships" id="258" r:id="Ra004f8761c6c4eca"/>
    <p:sldId xmlns:r="http://schemas.openxmlformats.org/officeDocument/2006/relationships" id="259" r:id="R74f12067878c4bbc"/>
    <p:sldId xmlns:r="http://schemas.openxmlformats.org/officeDocument/2006/relationships" id="260" r:id="R4fc65cc5e586424f"/>
    <p:sldId xmlns:r="http://schemas.openxmlformats.org/officeDocument/2006/relationships" id="261" r:id="R127276c4802a4447"/>
    <p:sldId xmlns:r="http://schemas.openxmlformats.org/officeDocument/2006/relationships" id="262" r:id="Rd07db9301227450d"/>
    <p:sldId xmlns:r="http://schemas.openxmlformats.org/officeDocument/2006/relationships" id="263" r:id="R84bc8e1c6cd347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f08936bd0b4620" /><Relationship Type="http://schemas.openxmlformats.org/officeDocument/2006/relationships/slideMaster" Target="/ppt/slideMasters/slideMaster1.xml" Id="R0645685ff0904c3e" /><Relationship Type="http://schemas.openxmlformats.org/officeDocument/2006/relationships/notesMaster" Target="/ppt/notesMasters/notesMaster1.xml" Id="R574e4d657cdf4717" /><Relationship Type="http://schemas.openxmlformats.org/officeDocument/2006/relationships/presProps" Target="/ppt/presProps.xml" Id="R967f46b095e84c56" /><Relationship Type="http://schemas.openxmlformats.org/officeDocument/2006/relationships/tableStyles" Target="/ppt/tableStyles.xml" Id="Rc763efc0a70a41d4" /><Relationship Type="http://schemas.openxmlformats.org/officeDocument/2006/relationships/slide" Target="/ppt/slides/slide1.xml" Id="R5809642b99b34b48" /><Relationship Type="http://schemas.openxmlformats.org/officeDocument/2006/relationships/slide" Target="/ppt/slides/slide2.xml" Id="Rf6a17742eb734ffb" /><Relationship Type="http://schemas.openxmlformats.org/officeDocument/2006/relationships/slide" Target="/ppt/slides/slide3.xml" Id="Ra004f8761c6c4eca" /><Relationship Type="http://schemas.openxmlformats.org/officeDocument/2006/relationships/slide" Target="/ppt/slides/slide4.xml" Id="R74f12067878c4bbc" /><Relationship Type="http://schemas.openxmlformats.org/officeDocument/2006/relationships/slide" Target="/ppt/slides/slide5.xml" Id="R4fc65cc5e586424f" /><Relationship Type="http://schemas.openxmlformats.org/officeDocument/2006/relationships/slide" Target="/ppt/slides/slide6.xml" Id="R127276c4802a4447" /><Relationship Type="http://schemas.openxmlformats.org/officeDocument/2006/relationships/slide" Target="/ppt/slides/slide7.xml" Id="Rd07db9301227450d" /><Relationship Type="http://schemas.openxmlformats.org/officeDocument/2006/relationships/slide" Target="/ppt/slides/slide8.xml" Id="R84bc8e1c6cd347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165e2b4f3d48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11ec6c08ab4936" /><Relationship Type="http://schemas.openxmlformats.org/officeDocument/2006/relationships/notesMaster" Target="/ppt/notesMasters/notesMaster1.xml" Id="Rd81ef5e71c154c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b3016484cc4529" /><Relationship Type="http://schemas.openxmlformats.org/officeDocument/2006/relationships/notesMaster" Target="/ppt/notesMasters/notesMaster1.xml" Id="R12cf9e4901b046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eee862e1f664424" /><Relationship Type="http://schemas.openxmlformats.org/officeDocument/2006/relationships/notesMaster" Target="/ppt/notesMasters/notesMaster1.xml" Id="R77bd157cb6e749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25f8049f4e417d" /><Relationship Type="http://schemas.openxmlformats.org/officeDocument/2006/relationships/notesMaster" Target="/ppt/notesMasters/notesMaster1.xml" Id="R166fcfac024e4ba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344e49a5fa4f3c" /><Relationship Type="http://schemas.openxmlformats.org/officeDocument/2006/relationships/notesMaster" Target="/ppt/notesMasters/notesMaster1.xml" Id="R3f52520493cc41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f7b1418957418c" /><Relationship Type="http://schemas.openxmlformats.org/officeDocument/2006/relationships/notesMaster" Target="/ppt/notesMasters/notesMaster1.xml" Id="R037d833e895449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83bb0a00d8403c" /><Relationship Type="http://schemas.openxmlformats.org/officeDocument/2006/relationships/notesMaster" Target="/ppt/notesMasters/notesMaster1.xml" Id="Rdad2f89ed90e408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16b4c1198b4e08" /><Relationship Type="http://schemas.openxmlformats.org/officeDocument/2006/relationships/notesMaster" Target="/ppt/notesMasters/notesMaster1.xml" Id="R6306658b3b5a41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5288ca648d419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33abc9b80014b5d" /><Relationship Type="http://schemas.openxmlformats.org/officeDocument/2006/relationships/slideLayout" Target="/ppt/slideLayouts/slideLayout1.xml" Id="Rf9d51c5e50b646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d51c5e50b646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04dfefffa408f" /><Relationship Type="http://schemas.openxmlformats.org/officeDocument/2006/relationships/notesSlide" Target="/ppt/notesSlides/notesSlide1.xml" Id="Rd03f91eebe754e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22ff4a16e34edb" /><Relationship Type="http://schemas.openxmlformats.org/officeDocument/2006/relationships/notesSlide" Target="/ppt/notesSlides/notesSlide2.xml" Id="R148580ce9eda48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44feedfc84d40" /><Relationship Type="http://schemas.openxmlformats.org/officeDocument/2006/relationships/notesSlide" Target="/ppt/notesSlides/notesSlide3.xml" Id="Rd36cb55664644e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265ec5fadf42be" /><Relationship Type="http://schemas.openxmlformats.org/officeDocument/2006/relationships/notesSlide" Target="/ppt/notesSlides/notesSlide4.xml" Id="R9796a9e36aac4e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77dbc98fb64894" /><Relationship Type="http://schemas.openxmlformats.org/officeDocument/2006/relationships/notesSlide" Target="/ppt/notesSlides/notesSlide5.xml" Id="Rf957c5ffbea94b7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d755d3ed044d3e" /><Relationship Type="http://schemas.openxmlformats.org/officeDocument/2006/relationships/notesSlide" Target="/ppt/notesSlides/notesSlide6.xml" Id="Radc48e4c1e56496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2f840097c34854" /><Relationship Type="http://schemas.openxmlformats.org/officeDocument/2006/relationships/notesSlide" Target="/ppt/notesSlides/notesSlide7.xml" Id="R07908e5750364d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46933642bc4764" /><Relationship Type="http://schemas.openxmlformats.org/officeDocument/2006/relationships/notesSlide" Target="/ppt/notesSlides/notesSlide8.xml" Id="R1ff2d0a716e14d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6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EEA7B4-BA7D-4E3E-9537-4D90AF517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96CBB-E93B-4E24-B02E-BAA55D59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67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WATERS · NEXT GEN 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A24EFD-0B30-44B1-84A1-793129D3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265B06-7575-4239-815C-82C6A6E1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Five external signals. Three evidence-gated decisions.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857954-51F8-4273-AA53-59650C46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752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A concise executive readout of scientific momentum, competitor moves, customer friction, corporate intent, and the next conference moment.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EB5DDB-33FD-4074-8C84-2E3D35E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85900"/>
            <a:ext cx="2400300" cy="26479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D4A54"/>
          </a:solidFill>
          <a:ln xmlns:a="http://schemas.openxmlformats.org/drawingml/2006/main" w="9525">
            <a:solidFill>
              <a:srgbClr val="2B626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5FD91B-A07E-4EB0-AE2A-E74EAEF3C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8859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DATA CURRENT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563CC0-8151-4244-91DD-1833F3DC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479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CC6241-8D8B-4F92-A78D-D873B7B0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48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JUL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EB04F1-8BAF-4B64-B1C2-A573B04E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19500"/>
            <a:ext cx="148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1726AA-64EA-441A-AC29-152ECE44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52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7B5A2C-6A15-41BE-89A7-52515E1B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531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Prepared for roadmap review · waters-ci-20260728-202611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B25830-D539-458D-8D6C-5710A1EE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1531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450211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F42869-993E-4EB7-A74F-DCD06AFB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095D3B-7729-4D21-B95B-54537732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Workflow execution is becoming part of product competition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6079B-0C91-4B2D-8212-8B7D7B90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6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strongest cross-page pattern is not a single specification—it is proof that the full workflow is easier to execute, transfer, and troubleshoot.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0CFB8F-C664-496A-964D-AC729E29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61414F-870E-46DD-BE87-A77BD84E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11633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8088B3-D427-474A-AAA7-ECFF3DC3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193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LEADERSHIP IMPLICATION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D1F342-B003-45DE-95D2-E56A98FB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6217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778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 new requirements against workflow proof, not feature parity alone.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97F620-BEC3-4A57-8FF2-89F40327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6C398C-7747-4865-A40F-7E373ECB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34C212-44E7-4EB6-A656-C512C4A8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1,137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934FB2-04B0-48D9-A8BB-7C9BC041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Automation and software workflow publications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895F12-A6F5-496E-B4D2-C5CC43CA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activity in the last year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92CEA7-D3E8-4A19-AE8B-A04F213E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85D0CA-BF0C-4B2C-BF27-24BC3AD6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303C56-F153-468A-9C72-5008749C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335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354954-5B02-416E-9804-66B63AB8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and contaminant-testing publications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0D1BB8-94F7-402C-ACE9-0B4D33C6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 regulated-testing activity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6CC1FC-C3AB-46C1-AEE9-6D09742E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FBD62A-6E96-46FB-8F0D-802E4BE7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C5752A-D62A-4529-8AFC-3A77BD58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659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A9692A-06C9-45D3-9ED1-EAE78C6C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Oligonucleotide and nucleic-acid publications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EC6C7D-04F8-4003-A47B-34774F2D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Substantial application evidence base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7B88DB-4118-4DD0-8DB0-F4D1CFFC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A3A4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A3A42"/>
                </a:solidFill>
                <a:latin typeface="Aptos"/>
                <a:ea typeface="Aptos"/>
                <a:cs typeface="Aptos"/>
              </a:rPr>
              <a:t>Waters business exposure remains UNQUANTIFIED pending installed-base, pipeline, win/loss, and engineering-effort evidence.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8C3D41-E176-4588-A4C6-829F946B0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28 JUL 2026 · waters-ci-20260728-202611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E5521D-B3CD-4338-A4A4-F1157144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537787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C8F30D-17C4-4502-958E-1F51561E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E7BB61-758E-43C6-AAD0-B3BF2921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Five signals now shape the roadmap conversation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25EAC5-EFCF-46D5-939D-F8A4012E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Each signal comes from a different evidence class; together they show why leadership attention is warranted.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F2C686-84F6-46AF-994A-1B14DE6D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041459-B84F-4CBF-84BD-C83C97D96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B228E7-D3BB-4399-81A2-C1ECE4B7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5BCDA-8F79-4780-BE98-55F5A15D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76182-F763-4DB8-8530-F8E3CB10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3BD1C1-464F-48C5-97BC-D961C418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activity remains substantial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C9372D-BDC2-428A-BDE9-8F65D2F0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335 records; Waters exposure unquantified.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3835C1-555B-4B0B-ADD1-8553BC1D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422605-8279-45E3-85D4-9CA160B0A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96876B-A85F-4187-98FE-FC034258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622EBC-8D0F-457A-A28A-FC9953F6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COMPETITOR LAUNCH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1CFB07-8DA4-44B3-992B-D9F36DB1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is packaging LC/TOF into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CD0487-E3F1-428C-B486-C9AE4188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issuer evidence; Waters exposure unquantified.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33EF0C-1432-4E80-BC8C-766B0C0C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94D908-680F-4FE9-8719-935ECDCA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38DEAE-CF57-4422-8F55-581BE6B8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FD39F7-33C2-4165-B8C9-921FDB8B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CUSTOMER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7AF281-7808-44CC-B8A3-E21AEB68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Troubleshooting requires internal validation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107439-6F2B-42D3-BA8B-95CAC5B1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Public forum evidence is directional; recurrence and business impact are unquantified.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41B59C-7F7D-4866-A501-CD2DCE0B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5DD3FE-7D02-4BF0-AA74-92193E1A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3A9272-F4C3-4415-9C98-C54522D5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1B7F77-F85A-4D95-8511-7B07B306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CORPORATE INTENT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C15837-7F9D-402D-A8C4-12532D65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calls LC and LC-MS growth engines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C0E09B-4153-4D4C-9622-621A5037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issuer filing; no independent external corroboration.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D45477-5B6D-4CCF-95D1-B87010E0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51816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DF66C1-FECF-4DE4-9BBF-4435918F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3530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BFFD8F-6AD2-44C1-91B3-6EE3840C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429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B2F4B0-C372-4878-A621-3268E51B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3435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2A0F19-1969-4C1A-8BBC-30E88445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5911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begins Aug 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EFA123-6A36-43AF-AA8B-5170E2EE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60579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agenda and sponsor facts; Waters exposure unquantified.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930B68-A43B-4571-AEDE-576F504E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28 JUL 2026 · waters-ci-20260728-202611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D9FF6E-04AF-415A-BACE-E6E35F1E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806872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BD670C5-C635-48C5-B3F0-135C56DA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7B896A-8164-4B7F-A6C9-2E2CED5D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 competitor actions suggest workflow packaging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0D53C2-DD46-45BC-B0D6-A4B1DA525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 confidence is Directional: each company view lacks two independently corroborating source families.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9F4D0-3FA9-448E-9E9C-31B9D595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D7AE91-E322-4609-8429-C053189AC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3F76B0-445B-4516-A1C8-2E34DC0D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2D59AA-685D-44C7-9194-CB44DE00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SHIMADZU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B65BB4-9542-4E5E-AAA8-C76C8C33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Mar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30CCD6-B947-4030-9B94-3827D55E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Nexera X4 launch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AFBC29-CA12-4D63-8208-AEF85E9A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productivity-led LC positioning. Alternative: normal platform refresh.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A7C77B-D65B-4968-9DA6-7837178E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6C0451-F8F2-4B8A-B2A2-EBB6EE7D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880C45-39BE-4DA5-887E-3A8F588E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AGILENT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2F8095-F00B-4F82-A001-E67BD52D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Jun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255B62-F8FB-4987-85DB-F41AB389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6230C LC/TOF in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990C60-E876-4A07-A27E-EDA7AE72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application-specific workflow packaging. Alternative: campaign positioning.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B7577D-4DBA-4719-87E7-46BA9359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3CDCF7-0934-4FF9-B538-D8DFB1AD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021920-1E7C-463F-9E4A-3661F6C0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3F3C2B-D942-46BB-B692-7F7A35457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01 Jun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5B28F8-86D2-4701-B68E-04923B11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novus V55 + SCIEX OS 5.0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F3299D-EF78-4B14-82C4-0A3B7220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software-led nominal-mass offer; this does not verify broader HRMS depth.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9679A6-7DED-4BB0-9121-BBFCE983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C9BFAC-645A-4E96-8C9F-9A6DD463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9437F7-D898-4DE3-92D9-1D25A03D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THERMO FISHER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2E77BC-D252-42D5-95C1-FF51E291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29 Jun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F609E2-45A9-47DA-BFE8-C1010301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Vanquish Amplify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2D7C6B-F247-411A-9D9A-15A3573F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inert biopharma workflow packaging. Alternative: portfolio refresh.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06B878-1D5D-4B1B-83A3-1A74675D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28 JUL 2026 · waters-ci-20260728-202611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83407B-12F0-4AC9-B896-E9F950BA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288828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71DAB4-C304-4DB6-A4A4-7D0DFA2B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49E7DF-DBD3-408F-BEC2-5D97F8E0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Customer evidence is a validation input—not a prevalence estimate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55C51D-3DBF-4769-A993-B76797C8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Forum evidence is promoted to leadership only when at least three independent sources support the same theme.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F71415-A245-4289-A17E-462A49D1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AA78A-5076-47E2-8A34-29480E12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43243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A6A36-990B-43F8-8283-0409E6F9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DIRECTIONAL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0BEA9A-CF16-4B3B-9E12-75BA5658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CUSTOMER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5DCBCF-44A8-4D61-8A13-31218DC2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threshold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13A66A-B598-499B-82C4-8FBAD381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71950"/>
            <a:ext cx="3333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3+ independent sources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plus internal field validation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DD032D-037A-4059-87E1-6EA107C0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65341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8552B4-4E34-4A79-A007-E1C0D9AB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19350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WHAT LEADERS SHOULD TAKE FROM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029B90-091E-4761-8E8B-763CCF84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813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207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Do not infer product weakness from one complaint.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020683-4320-4432-BE7B-C1DAFC25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004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Before adding requirements, validate: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B9DE7D-D0D9-4DA9-9C3E-CFEE175D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19550"/>
            <a:ext cx="5524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1. Which failure modes repeat across customer and field records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2. How long users take to isolate and recover from them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3. Whether guided diagnostics materially shorten that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3695F9-879F-4A84-87DE-7FB8CE86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57800"/>
            <a:ext cx="561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A3A4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A3A42"/>
                </a:solidFill>
                <a:latin typeface="Aptos"/>
                <a:ea typeface="Aptos"/>
                <a:cs typeface="Aptos"/>
              </a:rPr>
              <a:t>Business impact: UNQUANTIFIED — installed-base, pipeline, field recurrence and effort are required.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C1BCF4-FABE-4A1A-85C0-50118DB1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28 JUL 2026 · waters-ci-20260728-202611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4DD0B3-861D-4F3A-A153-9B5235B8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925953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8523A6-3F76-49AC-84D9-70D47CA9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1CAC34-C249-4C1F-8650-5F1387A5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287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Three decisions are evidence-prioritized; business impact is unquantified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F0922-9E9F-470A-B9BC-ADED3B47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No precise 0–100 score is shown while Waters exposure, customer value, or engineering effort is missing.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016B12-3083-4C38-9B14-FB11FA87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EBB8C1-CB2E-40DC-9849-3A8A869C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9DA48E-53B3-4FF1-B895-1A532018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1EE75B-684F-481E-9B13-EC3BB718A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DUE AUGUST 7,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CBB63-69BF-4247-97AD-AEC897AFD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 PRIORITY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85DEF7-D156-45F4-B007-E48381EE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Medium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02AB9-0DED-4BA2-9B9D-031E4F52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A3A4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A3A42"/>
                </a:solidFill>
                <a:latin typeface="Aptos"/>
                <a:ea typeface="Aptos"/>
                <a:cs typeface="Aptos"/>
              </a:rPr>
              <a:t>BUSINESS IMPACT · UNQUANTIFIED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6A3B50-E4B9-4E21-B7DE-A2725DBA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to package a PFAS-ready regulated quantitation workflow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451755-1D28-4157-94BA-B65B5AA8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062C67-4172-4298-BC32-183D6C96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100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Product Management and Applications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998130-7AFD-4412-AC9D-C13515E7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FD3872-E8E0-4957-897A-B014B190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Choose build, package existing capability, reposition, partner, monitor, or stop for a PFAS-ready regulated quantitation 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2AB3FF-2672-4AD4-BC75-CCFECE45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302319-C27B-4823-B46B-F7FCAD17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722AE1-3C74-4414-A767-AA748DFC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DUE AUGUST 14,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4E00D5-87A0-45FC-9B08-115C7648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 PRIORITY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BC9EF1-8D45-4389-A0D1-02B14F17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A5F0C3-5C7C-4B7C-8CAA-3133708F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276600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A3A4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A3A42"/>
                </a:solidFill>
                <a:latin typeface="Aptos"/>
                <a:ea typeface="Aptos"/>
                <a:cs typeface="Aptos"/>
              </a:rPr>
              <a:t>BUSINESS IMPACT · UNQUANTIFIED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7F39B9-19EE-4817-BA1E-7DCB3A61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571875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and Alliance iS need new end-to-end workflow requirements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6E9B73-E390-475E-B87D-0DDF1532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26720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DE9D67-5F55-4759-A4BB-A7D088B0C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4100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LC Platform PM and Software Lead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E78681-3A57-4BA3-A900-FB9EE714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70535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49E9B1-7A75-421F-ADDD-D4FEC220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93395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build, package existing capabilities, reposition, or stop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6A0C63-C5C1-45BC-8AC8-CC0568B2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F1B39C-1AB4-47BB-AB63-8FBE2118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80CACF-1C8B-4C20-BAE3-D2019D64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DUE AUGUST 21, 2026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FA7480-3825-415B-A637-D1F8847A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 PRIORITY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B80737-D103-4F92-B318-97763E7C6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Medium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45227B-3BF5-4BC7-BD87-39D7DB1E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76600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A3A4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A3A42"/>
                </a:solidFill>
                <a:latin typeface="Aptos"/>
                <a:ea typeface="Aptos"/>
                <a:cs typeface="Aptos"/>
              </a:rPr>
              <a:t>BUSINESS IMPACT · UNQUANTIFIED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C44D45-CBD1-441D-9443-61795A64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71875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needs an oligonucleotide method-readiness package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E00A57-42FE-42A8-A8EB-FC89FEE9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6720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408F0F7-B00A-4563-A298-619FE26D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100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Biopharma Applications and Next Gen LC PM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613F49-EECF-4E13-A00D-EC98B7CD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0535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A1855D1-502E-4B8E-86CA-EB2A853D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93395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Choose package existing capability, build, partner, monitor, or stop for an oligonucleotide method-readiness offer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D0DEE3-839C-4F6E-8BF1-E09605CF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28 JUL 2026 · waters-ci-20260728-202611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EF07F5-E24B-41DC-907A-FFE87227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984596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3E0AB9-6DD5-47BA-8B1E-0E6D0023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B8023E-1C98-4E9B-80CB-49AC4587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Close the evidence gaps before adding roadmap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C0AD2C-6010-4E3B-B5DB-5C3723A8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Use the next 30 days to sequence dated deliverables around the conference moment.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63ED8E-78A0-4F5B-A588-1BE3EC91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D05800-E248-4E79-9AF3-7E241CAD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914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520E5-C9D9-42F1-9887-C9B84FEE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DEE6C8-0DDC-4EB1-8205-CF588E75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07 AUG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D3088D-DFE9-4462-88C0-63D5F4D1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A31A66-E161-43A1-BCFF-7B9BE449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Complete claims matrix and make the package go/no-go.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0E1E0C-AA6B-4592-ADB3-2399027F2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4EF271-07B6-451A-B714-0EAFB9F21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10 AUG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6709DE-AAFE-474B-B00B-A66D888C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D05528-E5A4-471E-BFAF-458281BA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Lead with MAM, complex modalities and transfer proof.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50859B-A676-4B87-9251-1B1C9206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173921-31B8-44D7-91E4-ADAF34BD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14 AUG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C1A27A-2F77-4131-97E3-F91A334BE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Workflow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0CAAE8-1568-4E22-8962-F2E92715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build, package, reposition, or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ECC07F-AFFF-4E05-A31C-5CAAD4BC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0ABD81-0A75-4296-93BF-68E4E403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21 AUG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C0587D-65FE-4416-B738-6F15D6B0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 decision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6C297F-2687-440E-AAAE-F65A0A20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package, build, partner, monitor, or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F2F345-0B54-4D2C-971A-2A8873C9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67350"/>
            <a:ext cx="8839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8B2609-149B-43EF-B92D-B02053F7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00700"/>
            <a:ext cx="828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13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Gate roadmap capacity on repeated customer-visible evidence plus quantified benefit and engineering effort.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D5C294-6111-4022-906E-0F5D43E7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28 JUL 2026 · waters-ci-20260728-202611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95CC37-B4F5-476E-8F9F-1C549AF6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2046059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64FBDC-54E4-4243-9828-118C59AEF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3CE0B-813D-4694-94B6-8E287875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Primary sources behind the leadership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940C40-DE97-47B1-9849-936D3FB7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public evidence is kept separate from inference; publication counts are contextual signals, not market-size claims.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DB070C-DF8E-4C03-9556-8DA35AB8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F81CE1-59C3-4EED-A155-689EAF9A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1CFCBE-DC83-4C8A-95F8-E0A60EED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9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00DD8-E790-4006-814D-057266FD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0764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PubMed · PFAS / LC-MS query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AD26EA-30B7-41AA-A316-56C68B88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https://pubmed.ncbi.nlm.nih.gov/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C109E4-9CE0-41EE-A64F-F97AC3DF7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B98699-4565-48ED-8779-26315FFB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B9FF74-390D-4F52-9E5E-96162AC5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LAUNCH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C2B773-5714-4FA7-8B79-2E7EF749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24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6230C LC/TOF in MAM 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454531-3721-469B-B2AB-7B57A299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432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289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https://www.agilent.com/about/newsroom/presrel/2026/29may-ca26021.html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5FA1AC-551B-4323-BC23-AAB9E5F4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004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F1B6A-8624-4AE5-B76C-4AB472AE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04CAB5-E004-45DF-B57E-CBBAC313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909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FILING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B48D49-D305-4D23-824D-8E963735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718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Issuer-reported LC / LC-MS growth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FD4953-E7CE-4DD6-9409-68BDA573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https://www.sec.gov/edgar/browse/?CIK=1090872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84BDC5-7D52-4F41-910F-94BD1EEF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81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1D1CD6-9356-475D-8684-2E5FD39B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C1B102-6E80-4CDE-9598-B3A9CE0C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SHIMADZU LAUNCH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554BDD-DEBE-48E6-8714-B0A99C04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0195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Nexera X4 UHPLC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488978-CA2F-4EFA-986A-01DC4A19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386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https://www.shimadzu.com/news/2026/k8iri3_20_z4uvwt.html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DE20F5-ABC4-411B-BA71-CAEDCFC6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958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F84A06-C24E-4D67-940C-49A4B885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244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C18B91-3410-4249-AFD1-A693BD9E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SCIEX LAUNCH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C55083-881C-4D21-8A61-56118433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67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novus V55 with SCIEX OS 5.0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32202C-77D0-40EB-BF94-C2D31F03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863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7381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https://sciex.com/about-us/press-releases/2026/sciex-launches-its-5th-generation-of-nominal-mass-novus-v55-system-with-sciexos-5-0-software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8489AF-50B8-4DEA-AA9C-83D3A9C9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AE866D-70FB-4EB0-9F77-9D0394B3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721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C48AD4-CBE2-456D-923C-EDBE58C9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CONFERENCE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E0B757-DCB2-4DEF-9C29-1B73D3F8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3149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US 2026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13001B-E0A0-497B-8C50-DDDE9407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340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https://www.bioprocessingsummit.com/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FDFD67-8C6A-489A-87D0-D62F2E42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19800"/>
            <a:ext cx="11163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3D4"/>
          </a:solidFill>
          <a:ln xmlns:a="http://schemas.openxmlformats.org/drawingml/2006/main" w="9525">
            <a:solidFill>
              <a:srgbClr val="FFF3D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19C101-56E7-4F6E-B283-7CAB441D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96000"/>
            <a:ext cx="10782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C56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C5600"/>
                </a:solidFill>
                <a:latin typeface="Aptos"/>
                <a:ea typeface="Aptos"/>
                <a:cs typeface="Aptos"/>
              </a:rPr>
              <a:t>Snapshot: waters-ci-20260728-202611 · As of 2026-07-28T20:26:11 · Business magnitude requires Waters internal data.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93FDE16-91B8-4C06-BE58-D55A2232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28 JUL 2026 · waters-ci-20260728-202611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8F5C99-0D88-4F6C-B809-D554AC3A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342337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2026-07-30T01:54:27.1770000Z</dcterms:created>
  <dcterms:modified xsi:type="dcterms:W3CDTF">2026-07-30T01:54:27.1770000Z</dcterms:modified>
</coreProperties>
</file>