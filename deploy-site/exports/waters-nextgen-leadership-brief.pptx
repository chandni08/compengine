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3610b462554549" /><Relationship Type="http://schemas.openxmlformats.org/officeDocument/2006/relationships/extended-properties" Target="/docProps/app.xml" Id="R98374911c1ec4ec9" /><Relationship Type="http://schemas.openxmlformats.org/officeDocument/2006/relationships/officeDocument" Target="/ppt/presentation.xml" Id="R24d2ffbe3147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09ba138ca64a1a"/>
  </p:sldMasterIdLst>
  <p:notesMasterIdLst>
    <p:notesMasterId xmlns:r="http://schemas.openxmlformats.org/officeDocument/2006/relationships" r:id="Rdf3e6a7cc99a4163"/>
  </p:notesMasterIdLst>
  <p:sldIdLst>
    <p:sldId xmlns:r="http://schemas.openxmlformats.org/officeDocument/2006/relationships" id="256" r:id="Re5e389bc5dd5418d"/>
    <p:sldId xmlns:r="http://schemas.openxmlformats.org/officeDocument/2006/relationships" id="257" r:id="R6cfd38aadd724eed"/>
    <p:sldId xmlns:r="http://schemas.openxmlformats.org/officeDocument/2006/relationships" id="258" r:id="R92403de8bfd84d4b"/>
    <p:sldId xmlns:r="http://schemas.openxmlformats.org/officeDocument/2006/relationships" id="259" r:id="R003c41e6e6e14d4a"/>
    <p:sldId xmlns:r="http://schemas.openxmlformats.org/officeDocument/2006/relationships" id="260" r:id="Rbdf8ae0a26d541b7"/>
    <p:sldId xmlns:r="http://schemas.openxmlformats.org/officeDocument/2006/relationships" id="261" r:id="R7816a5d813184f68"/>
    <p:sldId xmlns:r="http://schemas.openxmlformats.org/officeDocument/2006/relationships" id="262" r:id="R6ffc17f0d02c4eea"/>
    <p:sldId xmlns:r="http://schemas.openxmlformats.org/officeDocument/2006/relationships" id="263" r:id="Rb029b294ba7045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7ff8728a7f45c5" /><Relationship Type="http://schemas.openxmlformats.org/officeDocument/2006/relationships/slideMaster" Target="/ppt/slideMasters/slideMaster1.xml" Id="R5809ba138ca64a1a" /><Relationship Type="http://schemas.openxmlformats.org/officeDocument/2006/relationships/notesMaster" Target="/ppt/notesMasters/notesMaster1.xml" Id="Rdf3e6a7cc99a4163" /><Relationship Type="http://schemas.openxmlformats.org/officeDocument/2006/relationships/presProps" Target="/ppt/presProps.xml" Id="Ra049d355c5484f97" /><Relationship Type="http://schemas.openxmlformats.org/officeDocument/2006/relationships/tableStyles" Target="/ppt/tableStyles.xml" Id="Rfbddd2d439fb472f" /><Relationship Type="http://schemas.openxmlformats.org/officeDocument/2006/relationships/slide" Target="/ppt/slides/slide1.xml" Id="Re5e389bc5dd5418d" /><Relationship Type="http://schemas.openxmlformats.org/officeDocument/2006/relationships/slide" Target="/ppt/slides/slide2.xml" Id="R6cfd38aadd724eed" /><Relationship Type="http://schemas.openxmlformats.org/officeDocument/2006/relationships/slide" Target="/ppt/slides/slide3.xml" Id="R92403de8bfd84d4b" /><Relationship Type="http://schemas.openxmlformats.org/officeDocument/2006/relationships/slide" Target="/ppt/slides/slide4.xml" Id="R003c41e6e6e14d4a" /><Relationship Type="http://schemas.openxmlformats.org/officeDocument/2006/relationships/slide" Target="/ppt/slides/slide5.xml" Id="Rbdf8ae0a26d541b7" /><Relationship Type="http://schemas.openxmlformats.org/officeDocument/2006/relationships/slide" Target="/ppt/slides/slide6.xml" Id="R7816a5d813184f68" /><Relationship Type="http://schemas.openxmlformats.org/officeDocument/2006/relationships/slide" Target="/ppt/slides/slide7.xml" Id="R6ffc17f0d02c4eea" /><Relationship Type="http://schemas.openxmlformats.org/officeDocument/2006/relationships/slide" Target="/ppt/slides/slide8.xml" Id="Rb029b294ba7045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4d987c6568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0fe53dd7d44224" /><Relationship Type="http://schemas.openxmlformats.org/officeDocument/2006/relationships/notesMaster" Target="/ppt/notesMasters/notesMaster1.xml" Id="Raf85422426814a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2ddf7a2410431e" /><Relationship Type="http://schemas.openxmlformats.org/officeDocument/2006/relationships/notesMaster" Target="/ppt/notesMasters/notesMaster1.xml" Id="Re611c44c56c346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ebd44b25a9425f" /><Relationship Type="http://schemas.openxmlformats.org/officeDocument/2006/relationships/notesMaster" Target="/ppt/notesMasters/notesMaster1.xml" Id="Rfef1655c105d40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b3507e5fef4d7a" /><Relationship Type="http://schemas.openxmlformats.org/officeDocument/2006/relationships/notesMaster" Target="/ppt/notesMasters/notesMaster1.xml" Id="R03eb5eeb2032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de31552f2c423b" /><Relationship Type="http://schemas.openxmlformats.org/officeDocument/2006/relationships/notesMaster" Target="/ppt/notesMasters/notesMaster1.xml" Id="Rb7ef19a6049340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8b213293e443a3" /><Relationship Type="http://schemas.openxmlformats.org/officeDocument/2006/relationships/notesMaster" Target="/ppt/notesMasters/notesMaster1.xml" Id="R9c967084b53c43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6aa20c5b4d4239" /><Relationship Type="http://schemas.openxmlformats.org/officeDocument/2006/relationships/notesMaster" Target="/ppt/notesMasters/notesMaster1.xml" Id="R2fa726dd6cd643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bcf9267a45444d" /><Relationship Type="http://schemas.openxmlformats.org/officeDocument/2006/relationships/notesMaster" Target="/ppt/notesMasters/notesMaster1.xml" Id="Rd88fb4ae862b46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09%2F09%22%5BDate+-+Publication%5D+%3A+%222026%2F09%2F09%22%5BDate+-+Publication%5D%29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https://pubmed.ncbi.nlm.nih.gov/?term=%28%28PFAS+OR+%22per-+and+polyfluoroalkyl%22%29+AND+%28%22LC-MS%22+OR+%22LC-MS%2FMS%22+OR+chromatography%29%29+AND+%28%222025%2F09%2F09%22%5BDate+-+Publication%5D+%3A+%222026%2F09%2F09%22%5BDate+-+Publication%5D%29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https://pubmed.ncbi.nlm.nih.gov/?term=%28%28oligonucleotide+OR+%22nucleic+acid%22+OR+siRNA%29+AND+%28%22LC-MS%22+OR+chromatography+OR+%22mass+spectrometry%22%29%29+AND+%28%222025%2F09%2F09%22%5BDate+-+Publication%5D+%3A+%222026%2F09%2F09%22%5BDate+-+Publication%5D%29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https://pubmed.ncbi.nlm.nih.gov/?term=%28%28PFAS+OR+%22per-+and+polyfluoroalkyl%22%29+AND+%28%22LC-MS%22+OR+%22LC-MS%2FMS%22+OR+chromatography%29%29+AND+%28%222025%2F09%2F09%22%5BDate+-+Publication%5D+%3A+%222026%2F09%2F09%22%5BDate+-+Publication%5D%29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https://www.sec.gov/Archives/edgar/data/1090872/000109087226000055/a-20260430.htm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- https://www.labwrench.com/thread/135698/hplc-pump-and-autosampler-preventative-performance-maintenance</a:t>
            </a:r>
          </a:p>
          <a:p xmlns:a="http://schemas.openxmlformats.org/drawingml/2006/main">
            <a:r>
              <a:t>- https://www.selectscience.net/product/acquity-uplc-r-beh-c18-and-c8-columns</a:t>
            </a:r>
          </a:p>
          <a:p xmlns:a="http://schemas.openxmlformats.org/drawingml/2006/main">
            <a:r>
              <a:t>- https://www.fda.gov/inspections-compliance-enforcement-and-criminal-investigations/compliance-actions-and-activities/warning-letters/datatables-data?_format=xlsx&amp;page=0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https://www.thermofisher.com/us/en/home/industrial/chromatography/liquid-chromatography-lc/hplc-uhplc-systems/vanquish-amplify-uhplc-system.html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https://www.labwrench.com/thread/135698/hplc-pump-and-autosampler-preventative-performance-maintenance</a:t>
            </a:r>
          </a:p>
          <a:p xmlns:a="http://schemas.openxmlformats.org/drawingml/2006/main">
            <a:r>
              <a:t>- https://www.selectscience.net/product/acquity-uplc-r-beh-c18-and-c8-columns</a:t>
            </a:r>
          </a:p>
          <a:p xmlns:a="http://schemas.openxmlformats.org/drawingml/2006/main">
            <a:r>
              <a:t>- https://www.fda.gov/inspections-compliance-enforcement-and-criminal-investigations/compliance-actions-and-activities/warning-letters/datatables-data?_format=xlsx&amp;page=0</a:t>
            </a:r>
          </a:p>
          <a:p xmlns:a="http://schemas.openxmlformats.org/drawingml/2006/main">
            <a:r>
              <a:t>- https://www.fda.gov/media/190190/download?attachment=</a:t>
            </a:r>
          </a:p>
          <a:p xmlns:a="http://schemas.openxmlformats.org/drawingml/2006/main">
            <a:r>
              <a:t>- https://www.selectscience.net/product/arc-hplc-system?reviewItem=c6866ce0f446fc50</a:t>
            </a:r>
          </a:p>
          <a:p xmlns:a="http://schemas.openxmlformats.org/drawingml/2006/main">
            <a:r>
              <a:t>- https://www.selectscience.net/product/arc-hplc-system?reviewItem=0e5b2545d7d11f15</a:t>
            </a:r>
          </a:p>
          <a:p xmlns:a="http://schemas.openxmlformats.org/drawingml/2006/main">
            <a:r>
              <a:t>- https://www.selectscience.net/product/arc-hplc-system?reviewItem=0568db63471e745f</a:t>
            </a:r>
          </a:p>
          <a:p xmlns:a="http://schemas.openxmlformats.org/drawingml/2006/main">
            <a:r>
              <a:t>- https://www.selectscience.net/product/arc-hplc-system?reviewItem=dd59084477b562c5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https://pubmed.ncbi.nlm.nih.gov/42398371/</a:t>
            </a:r>
          </a:p>
          <a:p xmlns:a="http://schemas.openxmlformats.org/drawingml/2006/main">
            <a:r>
              <a:t>- https://www.shimadzu.com/an/products/liquid-chromatograph-mass-spectrometry/triple-quadrupole-lc-msms/lcms-8065xe/index.html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https://pubmed.ncbi.nlm.nih.gov/?term=%28%28PFAS+OR+%22per-+and+polyfluoroalkyl%22%29+AND+%28%22LC-MS%22+OR+%22LC-MS%2FMS%22+OR+chromatography%29%29+AND+%28%222025%2F09%2F09%22%5BDate+-+Publication%5D+%3A+%222026%2F09%2F09%22%5BDate+-+Publication%5D%29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https://www.thermofisher.com/order/catalog/product/VQ-AMPLIFY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09%2F09%22%5BDate+-+Publication%5D+%3A+%222026%2F09%2F09%22%5BDate+-+Publication%5D%29</a:t>
            </a:r>
          </a:p>
          <a:p xmlns:a="http://schemas.openxmlformats.org/drawingml/2006/main">
            <a:r>
              <a:t>- https://www.agilent.com/about/newsroom/presrel/2026/20may-ca26015.html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https://pubmed.ncbi.nlm.nih.gov/?term=%28%28oligonucleotide+OR+%22nucleic+acid%22+OR+siRNA%29+AND+%28%22LC-MS%22+OR+chromatography+OR+%22mass+spectrometry%22%29%29+AND+%28%222025%2F09%2F09%22%5BDate+-+Publication%5D+%3A+%222026%2F09%2F09%22%5BDate+-+Publication%5D%29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- https://pubmed.ncbi.nlm.nih.gov/42398371/</a:t>
            </a:r>
          </a:p>
          <a:p xmlns:a="http://schemas.openxmlformats.org/drawingml/2006/main">
            <a:r>
              <a:t>- https://www.shimadzu.com/an/products/liquid-chromatograph-mass-spectrometry/triple-quadrupole-lc-msms/lcms-8065xe/index.html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https://pubmed.ncbi.nlm.nih.gov/?term=%28%28PFAS+OR+%22per-+and+polyfluoroalkyl%22%29+AND+%28%22LC-MS%22+OR+%22LC-MS%2FMS%22+OR+chromatography%29%29+AND+%28%222025%2F09%2F09%22%5BDate+-+Publication%5D+%3A+%222026%2F09%2F09%22%5BDate+-+Publication%5D%29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https://www.thermofisher.com/order/catalog/product/VQ-AMPLIFY</a:t>
            </a:r>
          </a:p>
          <a:p xmlns:a="http://schemas.openxmlformats.org/drawingml/2006/main">
            <a:r>
              <a:t>- https://pubmed.ncbi.nlm.nih.gov/?term=%28%28%22laboratory+automation%22+OR+%22workflow+software%22+OR+%22AI%22%29+AND+%28%22LC-MS%22+OR+chromatography+OR+%22mass+spectrometry%22%29%29+AND+%28%222025%2F09%2F09%22%5BDate+-+Publication%5D+%3A+%222026%2F09%2F09%22%5BDate+-+Publication%5D%29</a:t>
            </a:r>
          </a:p>
          <a:p xmlns:a="http://schemas.openxmlformats.org/drawingml/2006/main">
            <a:r>
              <a:t>- https://www.agilent.com/about/newsroom/presrel/2026/20may-ca26015.html</a:t>
            </a:r>
          </a:p>
          <a:p xmlns:a="http://schemas.openxmlformats.org/drawingml/2006/main">
            <a:r>
              <a:t>- https://pubmed.ncbi.nlm.nih.gov/?term=%28%28oligonucleotide+OR+%22nucleic+acid%22+OR+siRNA%29+AND+%28%22LC-MS%22+OR+chromatography+OR+%22mass+spectrometry%22%29%29+AND+%28%222025%2F09%2F09%22%5BDate+-+Publication%5D+%3A+%222026%2F09%2F09%22%5BDate+-+Publication%5D%29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https://pubmed.ncbi.nlm.nih.gov/?term=%28%28PFAS+OR+%22per-+and+polyfluoroalkyl%22%29+AND+%28%22LC-MS%22+OR+%22LC-MS%2FMS%22+OR+chromatography%29%29+AND+%28%222025%2F09%2F09%22%5BDate+-+Publication%5D+%3A+%222026%2F09%2F09%22%5BDate+-+Publication%5D%29</a:t>
            </a:r>
          </a:p>
          <a:p xmlns:a="http://schemas.openxmlformats.org/drawingml/2006/main">
            <a:r>
              <a:t>- https://www.agilent.com/about/newsroom/presrel/2026/29may-ca26021.html</a:t>
            </a:r>
          </a:p>
          <a:p xmlns:a="http://schemas.openxmlformats.org/drawingml/2006/main">
            <a:r>
              <a:t>- https://www.sec.gov/Archives/edgar/data/1090872/000109087226000055/a-20260430.htm</a:t>
            </a:r>
          </a:p>
          <a:p xmlns:a="http://schemas.openxmlformats.org/drawingml/2006/main">
            <a:r>
              <a:t>- https://www.shimadzu.com/news/2026/k8iri3_20_z4uvwt.html</a:t>
            </a:r>
          </a:p>
          <a:p xmlns:a="http://schemas.openxmlformats.org/drawingml/2006/main">
            <a:r>
              <a:t>- https://sciex.com/about-us/press-releases/2026/sciex-launches-its-5th-generation-of-nominal-mass-novus-v55-system-with-sciexos-5-0-software</a:t>
            </a:r>
          </a:p>
          <a:p xmlns:a="http://schemas.openxmlformats.org/drawingml/2006/main">
            <a:r>
              <a:t>- https://www.bioprocessingsummit.com/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a35177fb6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2d06fb13254f8f" /><Relationship Type="http://schemas.openxmlformats.org/officeDocument/2006/relationships/slideLayout" Target="/ppt/slideLayouts/slideLayout1.xml" Id="R08b37a1f928740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b37a1f928740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470cbcafd465e" /><Relationship Type="http://schemas.openxmlformats.org/officeDocument/2006/relationships/notesSlide" Target="/ppt/notesSlides/notesSlide1.xml" Id="Ra9c4f3cd55d047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c788d971b4c79" /><Relationship Type="http://schemas.openxmlformats.org/officeDocument/2006/relationships/notesSlide" Target="/ppt/notesSlides/notesSlide2.xml" Id="Ra684b4f3dab0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70f038a22495d" /><Relationship Type="http://schemas.openxmlformats.org/officeDocument/2006/relationships/notesSlide" Target="/ppt/notesSlides/notesSlide3.xml" Id="R42eafa67db374b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5a1161c99455a" /><Relationship Type="http://schemas.openxmlformats.org/officeDocument/2006/relationships/notesSlide" Target="/ppt/notesSlides/notesSlide4.xml" Id="R451ae172e5c54a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2505a661d4af9" /><Relationship Type="http://schemas.openxmlformats.org/officeDocument/2006/relationships/notesSlide" Target="/ppt/notesSlides/notesSlide5.xml" Id="R8fbc682331334a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8c435dca24eab" /><Relationship Type="http://schemas.openxmlformats.org/officeDocument/2006/relationships/notesSlide" Target="/ppt/notesSlides/notesSlide6.xml" Id="R401f93fd30844b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775ee20564656" /><Relationship Type="http://schemas.openxmlformats.org/officeDocument/2006/relationships/notesSlide" Target="/ppt/notesSlides/notesSlide7.xml" Id="Rb8b05241f57542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6cff7511548ce" /><Relationship Type="http://schemas.openxmlformats.org/officeDocument/2006/relationships/hyperlink" Target="https://pubmed.ncbi.nlm.nih.gov/?term=%28%28PFAS+OR+%22per-+and+polyfluoroalkyl%22%29+AND+%28%22LC-MS%22+OR+%22LC-MS%2FMS%22+OR+chromatography%29%29+AND+%28%222025%2F09%2F09%22%5BDate+-+Publication%5D+%3A+%222026%2F09%2F09%22%5BDate+-+Publication%5D%29" TargetMode="External" Id="R1435959a10104b2e" /><Relationship Type="http://schemas.openxmlformats.org/officeDocument/2006/relationships/hyperlink" Target="https://www.agilent.com/about/newsroom/presrel/2026/29may-ca26021.html" TargetMode="External" Id="R708919d86ad84c7a" /><Relationship Type="http://schemas.openxmlformats.org/officeDocument/2006/relationships/hyperlink" Target="https://www.sec.gov/Archives/edgar/data/1090872/000109087226000055/a-20260430.htm" TargetMode="External" Id="Rac5432a937f444d7" /><Relationship Type="http://schemas.openxmlformats.org/officeDocument/2006/relationships/hyperlink" Target="https://www.shimadzu.com/news/2026/k8iri3_20_z4uvwt.html" TargetMode="External" Id="R3f131596bee94986" /><Relationship Type="http://schemas.openxmlformats.org/officeDocument/2006/relationships/hyperlink" Target="https://sciex.com/about-us/press-releases/2026/sciex-launches-its-5th-generation-of-nominal-mass-novus-v55-system-with-sciexos-5-0-software" TargetMode="External" Id="Rad57e0df94c94570" /><Relationship Type="http://schemas.openxmlformats.org/officeDocument/2006/relationships/hyperlink" Target="https://www.bioprocessingsummit.com/" TargetMode="External" Id="R088ea92e518a4013" /><Relationship Type="http://schemas.openxmlformats.org/officeDocument/2006/relationships/notesSlide" Target="/ppt/notesSlides/notesSlide8.xml" Id="Rb0adff6a940a45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6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BA1910-FADE-4483-B70C-7D5175E5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A3194-5D69-49D2-BF7B-2796649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WATERS · NEXT GEN LC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A4D38-9686-482E-ADAA-9E40ECFA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6C0FC-1713-4035-9D89-AD9035EE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Five external signals. Three evidence-gated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1480F-5F5A-448D-84C1-345DFA5B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A concise executive readout of scientific momentum, competitor moves, customer friction, corporate intent, and the next conference moment.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C1011-E461-4BEB-84E1-0D264087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85900"/>
            <a:ext cx="2400300" cy="26479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D4A54"/>
          </a:solidFill>
          <a:ln xmlns:a="http://schemas.openxmlformats.org/drawingml/2006/main" w="9525">
            <a:solidFill>
              <a:srgbClr val="2B62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C8E68-30AC-47B8-B97D-F2DB9B41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85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DATA CURRENT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D36C9-0108-41D1-B15E-544BC905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F5F6D-CBA2-46CA-895C-06513EC8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CC70A-D0F3-4F73-A874-F214A787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1950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CC6CD-F56D-471B-A090-A9C6EFD8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52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9DB"/>
                </a:solidFill>
                <a:latin typeface="Aptos"/>
                <a:ea typeface="Aptos"/>
                <a:cs typeface="Aptos"/>
              </a:rPr>
              <a:t>PUBLIC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EF89B-1771-427B-A49B-900122D4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9DB"/>
                </a:solidFill>
                <a:latin typeface="Aptos"/>
                <a:ea typeface="Aptos"/>
                <a:cs typeface="Aptos"/>
              </a:rPr>
              <a:t>Prepared for roadmap review · waters-ci-20260909133432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4891F-F702-48D5-BE6E-60E23F0C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1531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8616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19432-DF06-449A-AC3B-208823F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B5A00-4639-4219-A1C7-778424D7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Leadership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26C46-345D-4205-83BB-FE50EFA2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The strongest cross-page pattern is not a single specification—it is proof that the full workflow is easier to execute, transfer, and troubleshoot.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70CF6-86E2-49A4-A034-E14FB7A4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86B72-38CB-4F59-92DB-CEA8D22F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111633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84A33-1FFF-47D8-83B2-B92382FF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LEADERSHIP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C04B3-E68A-4CB9-AB50-618613AE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621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new requirements against workflow proof, not feature parity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B36F7-54D3-4C2D-B9F5-0F90273D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F6B76-5160-43BC-BA9A-7AC3F88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819A4-2196-45A4-84DE-3C5C4B64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1,167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1A3D7-36E4-441F-8369-E47FCAB2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Automation and software workflow publications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23AD3-FAD3-4668-B72C-72E38BF2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Scientific activity in the last year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6F795-226F-4EA3-AA6D-B88BEFAD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53ACD-517C-4FBF-BC59-EDAC3847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26F98-0A33-46C9-83FE-AAF7E35C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342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F50C2-6577-4E66-9534-A46A230E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and contaminant-testing publications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D46AB-FFC7-4DFD-93B9-72C0FBE6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Current regulated-testing activity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AD0B3-57B6-4A3F-9A2E-F0C50FA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718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F0D71-C652-450F-A2A6-38EDC83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C7B46-3762-41E8-960E-23E04D4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666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1806B-A0B2-4FF1-B29B-A9412D04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Oligonucleotide and nucleic-acid publications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AF2C45-B07B-4521-88B3-E64B5AED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291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Substantial application evidence 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C0187-94C8-4F4F-BCD2-22DFCEAA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09 SEP 2026 · waters-ci-20260909133432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3BD188-E4D6-462B-A8C6-FC7C9E95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8044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F7FCAC-434E-4B26-A59C-2DAADC8E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C157B-3429-41CF-926E-A55F1A89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Five signals now shape the roadmap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643DF-D67D-48EC-99B4-13EAF6C3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Each signal comes from a different evidence class; together they show why leadership attention is warranted.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5BBF5-D7DF-464C-AF6C-9D700AA4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0839D-06D7-4C2A-B112-2FC435E8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DD148-DC19-486D-AFEF-6213508F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865EC-1449-4B10-86A7-A1E3B90D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81654-A7CC-4124-B182-9E7953F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193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SCIENTIFIC MARKET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BE4CC-C9CE-4D8D-BD54-C537C803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669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activity remains substantial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05BAD-70C8-4E0E-A2FA-B4D11E93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342 records from the canonical PubMed query.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015D2-FA52-43DA-9ECF-6E3CD65E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153FE-70F5-4864-BC55-96514CAC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28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5D144-807A-4D16-84F3-8A8A3CEA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E4FC7-6BB1-4553-94AA-2A843DEB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193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COMPETITOR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FFA7A-4E25-4686-8A30-8D11B027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669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Agilent is packaging LC/TOF into MAM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47234-5A79-43CB-904A-E6798E87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Observed issuer evidence from Agilent's official release.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8DED9-0567-431C-BD2A-E4530484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62239-8AA7-4329-ACA1-A927AE0F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C736B-421A-43E4-990A-84E17DB9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16A64-B35A-4581-85B9-3CED1E51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14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CUSTOMER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548CD-EF5C-4292-A81F-3442E481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290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Troubleshooting requires internal 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7D7A7-D3BC-4873-B646-C2626090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Public forum recurrence requires internal field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1C4C0-662D-44F9-BF92-EA449EEE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3C446-7D40-48DE-8346-B1434F9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8CBA8-5A90-4825-97AA-2EB92C0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C6F58-FC90-494B-946A-9E916A85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814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CORPORATE INTENT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D4CD7-27B4-4A04-B867-A2FA9463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290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Agilent calls LC and LC-MS growth engines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ACE12-5AC7-456E-A6E1-50A8B075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958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Direct issuer filing; no independent external corroboration.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C02C2-4A48-4831-95CB-753CC037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81600"/>
            <a:ext cx="53149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54BEE-3A1A-4DBA-B0F4-87CB6746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353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465BF-EB64-45E6-B6AB-C758542F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429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74E71E-9F66-43BA-B009-CFBA0042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43525"/>
            <a:ext cx="4400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CONFERENCE MOMENT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67A33F-38E9-4C43-915D-CFC4BAC8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91175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Bioprocessing Summit begins Aug 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0BA7DF-B325-400F-9407-89AE35A0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57900"/>
            <a:ext cx="440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Observed agenda and sponsor facts from the event site.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E2D456-4E36-413A-93C5-2EE82DB5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09 SEP 2026 · waters-ci-20260909133432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49C64A-EF75-4C31-B2DE-BEA86A8C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09909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626CB6-B9B0-4170-812C-2F096DAB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10D00-CBD1-4AA3-AF55-32612436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 competitor actions suggest workflow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6B765-DE54-4ABD-8CA2-598917DF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 confidence is Directional: each company view lacks two independently corroborating source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E5C3B-CDFF-4D0B-BCAA-A0CA01AC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4A828-0802-40D7-9D27-A82260C6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9A290-D61D-489D-B382-B0E49BD0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29546-2456-4A44-BB0E-9F5026F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SHIMADZU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B29D2-3A80-45E1-AEE7-7C910882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7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03 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C28ED-A4AA-4F96-A79F-E80B3C5E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Nexera X4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C6FA3-3192-440D-87C2-D5D68317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productivity-led LC positioning. Alternative: normal platform refresh.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1AC83-86A8-4917-BC37-414669F5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9EC60-FB0E-4F98-BED1-68BF8B51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FD80F-9BE7-4E5E-BC83-12050493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76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AGILENT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91C59-2834-405F-8D40-BF455980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764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03 Jun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94239-131C-4836-BEFA-8B7AA308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622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6230C LC/TOF in MAM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B89A4-0218-4025-B8FA-45FC197D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146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application-specific workflow packaging. Alternative: campaign positioning.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7EE1C-77F7-4967-80EE-8C9BDD41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4EE5A-7E24-494F-8B72-61A88351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499CA-53A2-41FC-9EBF-2FDB1DFC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SCIEX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F526F-D20D-49CF-9633-3A653697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95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01 Jun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FF1A6-7264-46D4-B797-6B172F79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novus V55 + SCIEX OS 5.0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B014E-C97A-4A46-8DFB-633EEFB7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software-led nominal-mass offer; this does not verify broader HRMS depth.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25D11-51C5-4228-B3E4-F0A6E1E4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2768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E37D6-B690-4B8F-B655-00FC9F22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D6A801-2904-4B80-B4BA-B1408E7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95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THERMO FISHER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D4D5E-D989-4217-BBD1-60AE502A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9575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B4429-2AD0-4C53-9395-03A5EB29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053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Observed: Vanquish Amplify product page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DB9F55-D27F-4E30-A76A-5002A6D3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577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Inference: inert biopharma workflow packaging. Alternative: portfolio positioning.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996E4-8A89-40D8-B9BA-38FAB771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09 SEP 2026 · waters-ci-20260909133432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771178-6C77-468A-91AF-3911A134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045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00EA3-BF09-41B7-B673-558DFDF4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FBF9-9773-463D-A960-F95F0111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Customer evidence is a validation input—not a prevalence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DF474-3BCD-49E9-97AA-416E06AF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Forum evidence is promoted to leadership only when at least three independent sources support the same theme.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26CBF-DF48-4DBA-B8D3-6A42B344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33ED3-2FFB-4CB9-8DD5-6F7C8161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3243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62C5F-63F3-411B-B8BC-ACEDA287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5D5C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45D5C6"/>
                </a:solidFill>
                <a:latin typeface="Aptos"/>
                <a:ea typeface="Aptos"/>
                <a:cs typeface="Aptos"/>
              </a:rPr>
              <a:t>DIRECTIONAL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33062-C78C-415D-8417-A9337D23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D9D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D9DB"/>
                </a:solidFill>
                <a:latin typeface="Aptos"/>
                <a:ea typeface="Aptos"/>
                <a:cs typeface="Aptos"/>
              </a:rPr>
              <a:t>PUBLIC CUSTOMER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FEED9-78B6-433C-BB3C-5A19B196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Leadership 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53741-01A6-49ED-858D-1B06DB13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333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3+ independent sources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plus internal field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4E95E-4C8E-42ED-A79A-A55CDBF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653415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81209-E6A0-4FE4-84FE-A24F13C1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19350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WHAT LEADERS SHOULD TAKE FROM 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F65C8-B1FC-4827-8002-34EC3D79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8130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Do not infer product weakness from one complaint.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8DC90-02E9-485A-B8AC-F6CE2CFB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004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Before adding requirements, validate: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704EA-FC31-4271-B37C-76E60C46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19550"/>
            <a:ext cx="552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1. Which failure modes repeat across customer and field records</a:t>
            </a:r>
          </a:p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2. How long users take to isolate and recover from them</a:t>
            </a:r>
          </a:p>
          <a:p xmlns:a="http://schemas.openxmlformats.org/drawingml/2006/main">
            <a:pPr algn="l">
              <a:defRPr sz="1350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3. Whether guided diagnostics materially shorten that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AC9D1-6B2D-4C0C-BC23-F9E33DF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09 SEP 2026 · waters-ci-20260909133432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1A10C-4499-47C6-ADC0-6FBF925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2539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87154B-47F3-475A-897B-A49E8C3B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5D830-719E-4F73-9DEF-FBDB16FC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Three decisions are evidence-prioritized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E46ED-8166-4708-95D4-D13F3B97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The evidence-priority score compares application activity, competitor activity, and source quality.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327C9-BFA0-4ED7-8742-A5AE9946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B7564-A1EE-4E98-88BE-6542263D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831A2-F570-40C2-BDE2-8A03F5EA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C00"/>
          </a:solidFill>
          <a:ln xmlns:a="http://schemas.openxmlformats.org/drawingml/2006/main" w="0">
            <a:solidFill>
              <a:srgbClr val="D58C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9CF38-520D-44BD-B2DB-CC30B61D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DECISION GATE · NEXT ROADMAP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BE8C9-C004-42ED-A56C-1DA2E764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432C1-752E-4379-A431-C4726DD0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54/100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02FA6-573D-4263-9F96-BBE7748F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to package a PFAS-ready regulated quantitation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480B2-3B33-41DC-BE18-AAF734EC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5209E-E137-429E-ABEF-AC681CB8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Product Management and 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31C9D-CD8C-4382-8D9E-341E7ADC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BD930-68CF-4E10-B1B0-F8B82692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package, build, partner, monitor, or stop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078A79-DFC4-47DB-ABE8-2D1B32EA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25B65-A8BB-4233-90A2-0E2CFA85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59997-725A-4C97-B837-9770715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DECISION GATE · NEXT ROADMAP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B62AC-14A8-410D-8683-7EE94830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8D64AD-AE41-4931-963C-9BD7366A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60/100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763BA-BF01-473C-B4B0-43989FB1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Next Gen LC and Alliance iS need new end-to-end workflow requirements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CBF3E-802C-4B72-A571-5BDD88C7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576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B3A03-CB79-45EC-B1FB-660DDC9B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195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LC Platform PM and Software Lead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0689C-1D44-4EF1-8DBE-88837F3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339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D1327-DD14-4DBD-A1FB-0C9AE975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815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build, package existing capabilities, reposition, or stop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AAE16-6AD2-46F5-9184-90E0937E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409950" cy="358140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D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C0F9A-7A2E-47DB-B238-62309E20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409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07C01E-EF0C-4396-936C-390DF87B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990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DECISION GATE · NEXT ROADMAP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205ED0-E72A-4309-B8E5-312DC0C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EVIDENCE-PRIORITY SCORE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B0CE5A-A717-4954-9BF2-E82FDD00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54/100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1C0DDB-D13C-4B61-A072-EFD102B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Decide whether Next Gen LC needs an oligonucleotide method-readiness package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80FE4-FF2A-451F-9390-31C9D32D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2E080-471E-4F7D-814F-5FCCBC0C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9575"/>
            <a:ext cx="299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OWNER · Biopharma Applications and Next Gen LC PM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96005-194B-475A-93B7-B95B68EB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FINAL GO / NO-GO OUTPUT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E0080B-13BE-4972-90A4-F66E3D4B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3640"/>
                </a:solidFill>
                <a:latin typeface="Aptos"/>
                <a:ea typeface="Aptos"/>
                <a:cs typeface="Aptos"/>
              </a:rPr>
              <a:t>One recommendation: package, build, partner, monitor, or stop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DF3616-3637-4DDB-B8E9-91E8FEF8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09 SEP 2026 · waters-ci-20260909133432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610B77-617D-4E29-947A-8282C542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4904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6BFCA1-B9E2-43C1-9AC2-2472E74D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A95A2-6BAC-4EE0-A391-B667A855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Close the evidence gaps before adding roadmap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14CA6-F918-478D-AA43-88BA1538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Sequence evidence gates around the next roadmap review without inventing calendar commitments.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A0E97-4DD6-423B-B748-4E6BBD6A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A8E28-C6BC-4850-9593-C5A4566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670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836FB-B009-4F83-8CB4-BABF86C6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C00"/>
          </a:solidFill>
          <a:ln xmlns:a="http://schemas.openxmlformats.org/drawingml/2006/main" w="9525">
            <a:solidFill>
              <a:srgbClr val="D58C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22D19-DC7F-4D5A-A677-633EFFCA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8C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58C00"/>
                </a:solidFill>
                <a:latin typeface="Aptos"/>
                <a:ea typeface="Aptos"/>
                <a:cs typeface="Aptos"/>
              </a:rPr>
              <a:t>GATE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6BA1D-1B02-4EE3-8382-436D553C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PFAS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3D399-EF7F-466A-9143-614F573A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Complete claims matrix and make the package go/no-go.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B4E9A-516E-4E90-8791-F077EE26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8D822-3250-462E-902A-A23D8A0D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B133B-C997-4A21-B23D-7AEB9D8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Conference moment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AB0A2-158C-4985-9974-80168587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Lead with MAM, complex modalities and transfer proof.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9E856-55CF-4E75-AF0B-CBC95D25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F1B9A-6047-4053-96A5-C54C1F4D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GATE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9569F-187D-45DB-9409-57BA8C07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Workflow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95D6F-0352-4C1B-9751-A9EFD274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Choose build, package, reposition, or stop.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0B6F4-731E-454B-A131-CE9F2456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85750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B79FD-02E8-4703-A0A7-05CB3EE5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76625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GATE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59CF25-A4F3-44D8-9E69-3C2F7231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9052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Oligo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F3BB3-3CD7-46A3-BDF4-5B255FE1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14850"/>
            <a:ext cx="220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Choose package, build, partner, monitor, or stop.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042AF-4568-430E-AD83-B4D169FB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67350"/>
            <a:ext cx="8839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53640"/>
          </a:solidFill>
          <a:ln xmlns:a="http://schemas.openxmlformats.org/drawingml/2006/main" w="9525">
            <a:solidFill>
              <a:srgbClr val="1536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2E660-A4D7-484F-8476-815474C5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0070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 roadmap capacity on repeated customer-visible evidence plus quantified benefit and engineering effort.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F4E39-6617-4B54-B903-061CB53E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09 SEP 2026 · waters-ci-20260909133432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E4F73-F9E6-4A35-9BA6-4AFAA7FE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36234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69D91B-FBE8-4C1A-AB12-2B3C707A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LEADERSHIP BRIEF ·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35479-C642-4DD3-95FC-5812855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09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Primary sources behind the leadership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F900B-C036-4D74-8EB8-832E69E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0767D"/>
                </a:solidFill>
                <a:latin typeface="Aptos"/>
                <a:ea typeface="Aptos"/>
                <a:cs typeface="Aptos"/>
              </a:rPr>
              <a:t>Direct public evidence is kept separate from inference; publication counts are contextual signals, not market-size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7689F-8C5B-4299-B338-E4865124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5C6"/>
          </a:solidFill>
          <a:ln xmlns:a="http://schemas.openxmlformats.org/drawingml/2006/main" w="0">
            <a:solidFill>
              <a:srgbClr val="45D5C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55212-6DE2-4A4B-B717-3D8D83CC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3008E-EDC6-4395-A1C3-006C4593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SCIENTIFIC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BD6EB-B8A7-4372-803F-5A53300F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PubMed · PFAS / LC-MS query</a:t>
            </a:r>
          </a:p>
        </p:txBody>
      </p:sp>
      <p:sp>
        <p:nvSpPr>
          <p:cNvPr id="8" name="">
            <a:hlinkClick xmlns:r="http://schemas.openxmlformats.org/officeDocument/2006/relationships" xmlns:a="http://schemas.openxmlformats.org/drawingml/2006/main" r:id="R1435959a10104b2e"/>
            <a:extLst xmlns:a="http://schemas.openxmlformats.org/drawingml/2006/main">
              <a:ext uri="{FF2B5EF4-FFF2-40B4-BE49-F238E27FC236}">
                <a16:creationId xmlns:a16="http://schemas.microsoft.com/office/drawing/2014/main" id="{D8FF5087-73D6-4D69-B9A2-3418C6AD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14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https://pubmed.ncbi.nlm.nih.gov/?term=%28%28PFAS+OR+%22per-+and+polyfluoroalkyl%22%29+AND+%28%22LC-MS%22+OR+%22LC-MS%2FMS%22+OR+chromatography%29%29+AND+%28%222025%2F09%2F09%22%5BDate+-+Publication%5D+%3A+%222026%2F09%2F09%22%5BDate+-+Publication%5D%29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8015E-4B9F-4F3F-A85D-2323B264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D8D04-E761-4182-905A-E022CA80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D23E9-20E0-41C8-AAF1-C046A532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AGILENT 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69BBC-01E0-4C23-A37E-6FD1A85D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6230C LC/TOF in MAM workflow</a:t>
            </a:r>
          </a:p>
        </p:txBody>
      </p:sp>
      <p:sp>
        <p:nvSpPr>
          <p:cNvPr id="13" name="">
            <a:hlinkClick xmlns:r="http://schemas.openxmlformats.org/officeDocument/2006/relationships" xmlns:a="http://schemas.openxmlformats.org/drawingml/2006/main" r:id="R708919d86ad84c7a"/>
            <a:extLst xmlns:a="http://schemas.openxmlformats.org/drawingml/2006/main">
              <a:ext uri="{FF2B5EF4-FFF2-40B4-BE49-F238E27FC236}">
                <a16:creationId xmlns:a16="http://schemas.microsoft.com/office/drawing/2014/main" id="{33D9E0F6-C06A-443F-B9CF-7BAF51E2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https://www.agilent.com/about/newsroom/presrel/2026/29may-ca26021.html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6346C-4853-4657-B535-EAD99D01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BD8AC-28FC-4598-980F-8763C0F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07BAA-24AD-4027-B2A5-8646DAED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AGILENT FILING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98EEA-F63A-4869-BAF4-831E99DC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1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Issuer-reported LC / LC-MS growth</a:t>
            </a:r>
          </a:p>
        </p:txBody>
      </p:sp>
      <p:sp>
        <p:nvSpPr>
          <p:cNvPr id="18" name="">
            <a:hlinkClick xmlns:r="http://schemas.openxmlformats.org/officeDocument/2006/relationships" xmlns:a="http://schemas.openxmlformats.org/drawingml/2006/main" r:id="Rac5432a937f444d7"/>
            <a:extLst xmlns:a="http://schemas.openxmlformats.org/drawingml/2006/main">
              <a:ext uri="{FF2B5EF4-FFF2-40B4-BE49-F238E27FC236}">
                <a16:creationId xmlns:a16="http://schemas.microsoft.com/office/drawing/2014/main" id="{E6ABFCB9-97B8-4CA2-B80D-D8058A7D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https://www.sec.gov/Archives/edgar/data/1090872/000109087226000055/a-20260430.htm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A46A4-3422-4FF9-9311-9D4C2854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A726C-06B7-4269-AC1C-FF31F066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FE4E2-9502-45D2-B0E5-CC60B65E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SHIMADZU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697BE-D113-46AB-97C4-381E2D31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19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Nexera X4 UHPLC</a:t>
            </a:r>
          </a:p>
        </p:txBody>
      </p:sp>
      <p:sp>
        <p:nvSpPr>
          <p:cNvPr id="23" name="">
            <a:hlinkClick xmlns:r="http://schemas.openxmlformats.org/officeDocument/2006/relationships" xmlns:a="http://schemas.openxmlformats.org/drawingml/2006/main" r:id="R3f131596bee94986"/>
            <a:extLst xmlns:a="http://schemas.openxmlformats.org/drawingml/2006/main">
              <a:ext uri="{FF2B5EF4-FFF2-40B4-BE49-F238E27FC236}">
                <a16:creationId xmlns:a16="http://schemas.microsoft.com/office/drawing/2014/main" id="{068F4C55-9628-402E-A07C-90E5D5AF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https://www.shimadzu.com/news/2026/k8iri3_20_z4uvwt.html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00EEC-FF23-4DFB-B92F-A1D7B6D3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6A7F1-0B98-4421-A00F-0A730AB8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997726-A39A-496D-862B-135C44F0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SCIEX LAUNCH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57DC4-EE85-46C8-B7A6-6AC21EBA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novus V55 with SCIEX OS 5.0</a:t>
            </a:r>
          </a:p>
        </p:txBody>
      </p:sp>
      <p:sp>
        <p:nvSpPr>
          <p:cNvPr id="28" name="">
            <a:hlinkClick xmlns:r="http://schemas.openxmlformats.org/officeDocument/2006/relationships" xmlns:a="http://schemas.openxmlformats.org/drawingml/2006/main" r:id="Rad57e0df94c94570"/>
            <a:extLst xmlns:a="http://schemas.openxmlformats.org/drawingml/2006/main">
              <a:ext uri="{FF2B5EF4-FFF2-40B4-BE49-F238E27FC236}">
                <a16:creationId xmlns:a16="http://schemas.microsoft.com/office/drawing/2014/main" id="{63F7ADC2-1F65-475B-AD0B-0EF75758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https://sciex.com/about-us/press-releases/2026/sciex-launches-its-5th-generation-of-nominal-mass-novus-v55-system-with-sciexos-5-0-software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CCFD8B-495A-44CC-873F-97BC602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DDF"/>
          </a:solidFill>
          <a:ln xmlns:a="http://schemas.openxmlformats.org/drawingml/2006/main" w="0">
            <a:solidFill>
              <a:srgbClr val="CEDD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3192CB-2A90-4E77-A6C2-F04BC7A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8F3EB6-6D04-4CAE-9786-69A63928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CONFERENCE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A59D14-42D1-4FA7-ABF6-6B9EB5CD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149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64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3640"/>
                </a:solidFill>
                <a:latin typeface="Aptos"/>
                <a:ea typeface="Aptos"/>
                <a:cs typeface="Aptos"/>
              </a:rPr>
              <a:t>Bioprocessing Summit US 2026</a:t>
            </a:r>
          </a:p>
        </p:txBody>
      </p:sp>
      <p:sp>
        <p:nvSpPr>
          <p:cNvPr id="33" name="">
            <a:hlinkClick xmlns:r="http://schemas.openxmlformats.org/officeDocument/2006/relationships" xmlns:a="http://schemas.openxmlformats.org/drawingml/2006/main" r:id="R088ea92e518a4013"/>
            <a:extLst xmlns:a="http://schemas.openxmlformats.org/drawingml/2006/main">
              <a:ext uri="{FF2B5EF4-FFF2-40B4-BE49-F238E27FC236}">
                <a16:creationId xmlns:a16="http://schemas.microsoft.com/office/drawing/2014/main" id="{83B163CC-08A6-432D-9AB5-52CA5CD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087F8C"/>
                </a:solidFill>
                <a:latin typeface="Aptos"/>
                <a:ea typeface="Aptos"/>
                <a:cs typeface="Aptos"/>
              </a:rPr>
              <a:t>https://www.bioprocessingsummit.com/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3C638C-755E-4635-A531-383DB288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111633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FFF3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F51A8B-4E6F-4030-9F48-3C6A45DC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078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56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C5600"/>
                </a:solidFill>
                <a:latin typeface="Aptos"/>
                <a:ea typeface="Aptos"/>
                <a:cs typeface="Aptos"/>
              </a:rPr>
              <a:t>Snapshot: waters-ci-20260909133432 · As of 2026-09-09 · Business magnitude requires Waters internal data.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7C3B0B-4289-4576-A4DB-8949DCF3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67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0767D"/>
                </a:solidFill>
                <a:latin typeface="Aptos"/>
                <a:ea typeface="Aptos"/>
                <a:cs typeface="Aptos"/>
              </a:rPr>
              <a:t>WATERS NEXT GEN COMPETITIVE INTELLIGENCE · 09 SEP 2026 · waters-ci-20260909133432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2FD2C7-3915-4B4E-8061-7E34C877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0869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2026-09-09T13:37:12.5210000Z</dcterms:created>
  <dcterms:modified xsi:type="dcterms:W3CDTF">2026-09-09T13:37:12.5210000Z</dcterms:modified>
</coreProperties>
</file>