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f09c185382447bf" /><Relationship Type="http://schemas.openxmlformats.org/officeDocument/2006/relationships/extended-properties" Target="/docProps/app.xml" Id="R4ad6245e2b9245e6" /><Relationship Type="http://schemas.openxmlformats.org/officeDocument/2006/relationships/officeDocument" Target="/ppt/presentation.xml" Id="Re8f3a4a76641474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a4411034c1b4c89"/>
  </p:sldMasterIdLst>
  <p:notesMasterIdLst>
    <p:notesMasterId xmlns:r="http://schemas.openxmlformats.org/officeDocument/2006/relationships" r:id="R531527a7f47448e0"/>
  </p:notesMasterIdLst>
  <p:sldIdLst>
    <p:sldId xmlns:r="http://schemas.openxmlformats.org/officeDocument/2006/relationships" id="256" r:id="R5d2df454d6494a2c"/>
    <p:sldId xmlns:r="http://schemas.openxmlformats.org/officeDocument/2006/relationships" id="257" r:id="R1a476353f2f34dbb"/>
    <p:sldId xmlns:r="http://schemas.openxmlformats.org/officeDocument/2006/relationships" id="258" r:id="R93c81c83bece427d"/>
    <p:sldId xmlns:r="http://schemas.openxmlformats.org/officeDocument/2006/relationships" id="259" r:id="Rc3eb365ef3474084"/>
    <p:sldId xmlns:r="http://schemas.openxmlformats.org/officeDocument/2006/relationships" id="260" r:id="Rb1ad9e483e144108"/>
    <p:sldId xmlns:r="http://schemas.openxmlformats.org/officeDocument/2006/relationships" id="261" r:id="Ra7608c624f5245fd"/>
    <p:sldId xmlns:r="http://schemas.openxmlformats.org/officeDocument/2006/relationships" id="262" r:id="Rb792e816be2d4d24"/>
    <p:sldId xmlns:r="http://schemas.openxmlformats.org/officeDocument/2006/relationships" id="263" r:id="Rc1c8510d8d01476c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6de988436ef474e" /><Relationship Type="http://schemas.openxmlformats.org/officeDocument/2006/relationships/slideMaster" Target="/ppt/slideMasters/slideMaster1.xml" Id="R5a4411034c1b4c89" /><Relationship Type="http://schemas.openxmlformats.org/officeDocument/2006/relationships/notesMaster" Target="/ppt/notesMasters/notesMaster1.xml" Id="R531527a7f47448e0" /><Relationship Type="http://schemas.openxmlformats.org/officeDocument/2006/relationships/presProps" Target="/ppt/presProps.xml" Id="R5ae5050118244513" /><Relationship Type="http://schemas.openxmlformats.org/officeDocument/2006/relationships/tableStyles" Target="/ppt/tableStyles.xml" Id="R9e9f0497bb574f4e" /><Relationship Type="http://schemas.openxmlformats.org/officeDocument/2006/relationships/slide" Target="/ppt/slides/slide1.xml" Id="R5d2df454d6494a2c" /><Relationship Type="http://schemas.openxmlformats.org/officeDocument/2006/relationships/slide" Target="/ppt/slides/slide2.xml" Id="R1a476353f2f34dbb" /><Relationship Type="http://schemas.openxmlformats.org/officeDocument/2006/relationships/slide" Target="/ppt/slides/slide3.xml" Id="R93c81c83bece427d" /><Relationship Type="http://schemas.openxmlformats.org/officeDocument/2006/relationships/slide" Target="/ppt/slides/slide4.xml" Id="Rc3eb365ef3474084" /><Relationship Type="http://schemas.openxmlformats.org/officeDocument/2006/relationships/slide" Target="/ppt/slides/slide5.xml" Id="Rb1ad9e483e144108" /><Relationship Type="http://schemas.openxmlformats.org/officeDocument/2006/relationships/slide" Target="/ppt/slides/slide6.xml" Id="Ra7608c624f5245fd" /><Relationship Type="http://schemas.openxmlformats.org/officeDocument/2006/relationships/slide" Target="/ppt/slides/slide7.xml" Id="Rb792e816be2d4d24" /><Relationship Type="http://schemas.openxmlformats.org/officeDocument/2006/relationships/slide" Target="/ppt/slides/slide8.xml" Id="Rc1c8510d8d01476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bc7e64c61dd408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8aafd8f5a1b4586" /><Relationship Type="http://schemas.openxmlformats.org/officeDocument/2006/relationships/notesMaster" Target="/ppt/notesMasters/notesMaster1.xml" Id="Rcd57a672015c450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e413c2e660e048e7" /><Relationship Type="http://schemas.openxmlformats.org/officeDocument/2006/relationships/notesMaster" Target="/ppt/notesMasters/notesMaster1.xml" Id="R7f1c9d4871db485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1615765b6014979" /><Relationship Type="http://schemas.openxmlformats.org/officeDocument/2006/relationships/notesMaster" Target="/ppt/notesMasters/notesMaster1.xml" Id="Ra80855650394446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06395151ea246f5" /><Relationship Type="http://schemas.openxmlformats.org/officeDocument/2006/relationships/notesMaster" Target="/ppt/notesMasters/notesMaster1.xml" Id="R819a9204cb274854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370aae57f0c46dc" /><Relationship Type="http://schemas.openxmlformats.org/officeDocument/2006/relationships/notesMaster" Target="/ppt/notesMasters/notesMaster1.xml" Id="R09f082e5b9274d31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977f493cc5424ef5" /><Relationship Type="http://schemas.openxmlformats.org/officeDocument/2006/relationships/notesMaster" Target="/ppt/notesMasters/notesMaster1.xml" Id="R2c5f6e4e4b224915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345eaa0c87d84b77" /><Relationship Type="http://schemas.openxmlformats.org/officeDocument/2006/relationships/notesMaster" Target="/ppt/notesMasters/notesMaster1.xml" Id="R4b2c7bd1110749d6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1387276bf3ac480d" /><Relationship Type="http://schemas.openxmlformats.org/officeDocument/2006/relationships/notesMaster" Target="/ppt/notesMasters/notesMaster1.xml" Id="Rc547698825724c9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pubmed.ncbi.nlm.nih.gov/?term=%28%28%22laboratory+automation%22+OR+%22workflow+software%22+OR+%22AI%22%29+AND+%28%22LC-MS%22+OR+chromatography+OR+%22mass+spectrometry%22%29%29+AND+%28%222025%2F07%2F31%22%5BDate+-+Publication%5D+%3A+%222026%2F07%2F31%22%5BDate+-+Publication%5D%29</a:t>
            </a:r>
          </a:p>
          <a:p xmlns:a="http://schemas.openxmlformats.org/drawingml/2006/main">
            <a:r>
              <a:t>- https://pubmed.ncbi.nlm.nih.gov/?term=%28%28PFAS+OR+%22per-+and+polyfluoroalkyl%22%29+AND+%28%22LC-MS%22+OR+%22LC-MS%2FMS%22+OR+chromatography%29%29+AND+%28%222025%2F07%2F31%22%5BDate+-+Publication%5D+%3A+%222026%2F07%2F31%22%5BDate+-+Publication%5D%29</a:t>
            </a:r>
          </a:p>
          <a:p xmlns:a="http://schemas.openxmlformats.org/drawingml/2006/main">
            <a:r>
              <a:t>- https://pubmed.ncbi.nlm.nih.gov/?term=%28%28oligonucleotide+OR+%22nucleic+acid%22+OR+siRNA%29+AND+%28%22LC-MS%22+OR+chromatography+OR+%22mass+spectrometry%22%29%29+AND+%28%222025%2F07%2F31%22%5BDate+-+Publication%5D+%3A+%222026%2F07%2F31%22%5BDate+-+Publication%5D%29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https://pubmed.ncbi.nlm.nih.gov/?term=%28%28PFAS+OR+%22per-+and+polyfluoroalkyl%22%29+AND+%28%22LC-MS%22+OR+%22LC-MS%2FMS%22+OR+chromatography%29%29+AND+%28%222025%2F07%2F31%22%5BDate+-+Publication%5D+%3A+%222026%2F07%2F31%22%5BDate+-+Publication%5D%29</a:t>
            </a:r>
          </a:p>
          <a:p xmlns:a="http://schemas.openxmlformats.org/drawingml/2006/main">
            <a:r>
              <a:t>- https://www.agilent.com/about/newsroom/presrel/2026/29may-ca26021.html</a:t>
            </a:r>
          </a:p>
          <a:p xmlns:a="http://schemas.openxmlformats.org/drawingml/2006/main">
            <a:r>
              <a:t>- https://www.sec.gov/Archives/edgar/data/1090872/000109087226000055/a-20260430.htm</a:t>
            </a:r>
          </a:p>
          <a:p xmlns:a="http://schemas.openxmlformats.org/drawingml/2006/main">
            <a:r>
              <a:t>- https://www.bioprocessingsummit.com/</a:t>
            </a:r>
          </a:p>
          <a:p xmlns:a="http://schemas.openxmlformats.org/drawingml/2006/main">
            <a:r>
              <a:t>- https://www.reddit.com/r/CHROMATOGRAPHY/comments/1uk333s/update_uplc_waters_high_pressure_problem/</a:t>
            </a:r>
          </a:p>
          <a:p xmlns:a="http://schemas.openxmlformats.org/drawingml/2006/main">
            <a:r>
              <a:t>- https://www.reddit.com/r/CHROMATOGRAPHY/comments/1h1i93y/waters_acquity_uplc_beh_17_um_21_x_100_mm_column/</a:t>
            </a:r>
          </a:p>
          <a:p xmlns:a="http://schemas.openxmlformats.org/drawingml/2006/main">
            <a:r>
              <a:t>- https://www.reddit.com/r/CHROMATOGRAPHY/comments/1e3y2sy/getting_started_with_empower_3/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https://www.shimadzu.com/news/2026/k8iri3_20_z4uvwt.html</a:t>
            </a:r>
          </a:p>
          <a:p xmlns:a="http://schemas.openxmlformats.org/drawingml/2006/main">
            <a:r>
              <a:t>- https://www.agilent.com/about/newsroom/presrel/2026/29may-ca26021.html</a:t>
            </a:r>
          </a:p>
          <a:p xmlns:a="http://schemas.openxmlformats.org/drawingml/2006/main">
            <a:r>
              <a:t>- https://sciex.com/about-us/press-releases/2026/sciex-launches-its-5th-generation-of-nominal-mass-novus-v55-system-with-sciexos-5-0-software</a:t>
            </a:r>
          </a:p>
          <a:p xmlns:a="http://schemas.openxmlformats.org/drawingml/2006/main">
            <a:r>
              <a:t>- https://www.thermofisher.com/us/en/home/industrial/chromatography/liquid-chromatography-lc/hplc-uhplc-systems/vanquish-amplify-uhplc-system.html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https://www.reddit.com/r/CHROMATOGRAPHY/comments/1uk333s/update_uplc_waters_high_pressure_problem/</a:t>
            </a:r>
          </a:p>
          <a:p xmlns:a="http://schemas.openxmlformats.org/drawingml/2006/main">
            <a:r>
              <a:t>- https://www.reddit.com/r/CHROMATOGRAPHY/comments/1h1i93y/waters_acquity_uplc_beh_17_um_21_x_100_mm_column/</a:t>
            </a:r>
          </a:p>
          <a:p xmlns:a="http://schemas.openxmlformats.org/drawingml/2006/main">
            <a:r>
              <a:t>- https://www.reddit.com/r/CHROMATOGRAPHY/comments/1e3y2sy/getting_started_with_empower_3/</a:t>
            </a:r>
          </a:p>
          <a:p xmlns:a="http://schemas.openxmlformats.org/drawingml/2006/main">
            <a:r>
              <a:t>- https://www.labwrench.com/thread/135698/hplc-pump-and-autosampler-preventative-performance-maintenance</a:t>
            </a:r>
          </a:p>
          <a:p xmlns:a="http://schemas.openxmlformats.org/drawingml/2006/main">
            <a:r>
              <a:t>- https://www.reddit.com/r/CHROMATOGRAPHY/comments/1somxpf/waters_acquity_arc_lcms_214_nm_uv_baseline/</a:t>
            </a:r>
          </a:p>
          <a:p xmlns:a="http://schemas.openxmlformats.org/drawingml/2006/main">
            <a:r>
              <a:t>- https://www.reddit.com/r/CHROMATOGRAPHY/comments/xlr4pf/best_uhplc_on_the_market/</a:t>
            </a:r>
          </a:p>
          <a:p xmlns:a="http://schemas.openxmlformats.org/drawingml/2006/main">
            <a:r>
              <a:t>- https://www.reddit.com/r/CHROMATOGRAPHY/comments/1q24noh/reccomendations_for_new_hplc_system_for_routine/</a:t>
            </a:r>
          </a:p>
          <a:p xmlns:a="http://schemas.openxmlformats.org/drawingml/2006/main">
            <a:r>
              <a:t>- https://www.reddit.com/r/CHROMATOGRAPHY/comments/1h6lnr0/agilent_1260_hplc_vs_thermo_vanquish_flex/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https://pubmed.ncbi.nlm.nih.gov/42398371/</a:t>
            </a:r>
          </a:p>
          <a:p xmlns:a="http://schemas.openxmlformats.org/drawingml/2006/main">
            <a:r>
              <a:t>- https://www.shimadzu.com/an/products/liquid-chromatograph-mass-spectrometry/triple-quadrupole-lc-msms/lcms-8065xe/index.html</a:t>
            </a:r>
          </a:p>
          <a:p xmlns:a="http://schemas.openxmlformats.org/drawingml/2006/main">
            <a:r>
              <a:t>- https://pubmed.ncbi.nlm.nih.gov/?term=%28%28PFAS+OR+%22per-+and+polyfluoroalkyl%22%29+AND+%28%22LC-MS%22+OR+%22LC-MS%2FMS%22+OR+chromatography%29%29+AND+%28%222025%2F07%2F31%22%5BDate+-+Publication%5D+%3A+%222026%2F07%2F31%22%5BDate+-+Publication%5D%29</a:t>
            </a:r>
          </a:p>
          <a:p xmlns:a="http://schemas.openxmlformats.org/drawingml/2006/main">
            <a:r>
              <a:t>- https://sciex.com/about-us/press-releases/2026/sciex-launches-its-5th-generation-of-nominal-mass-novus-v55-system-with-sciexos-5-0-software</a:t>
            </a:r>
          </a:p>
          <a:p xmlns:a="http://schemas.openxmlformats.org/drawingml/2006/main">
            <a:r>
              <a:t>- https://www.shimadzu.com/news/2026/k8iri3_20_z4uvwt.html</a:t>
            </a:r>
          </a:p>
          <a:p xmlns:a="http://schemas.openxmlformats.org/drawingml/2006/main">
            <a:r>
              <a:t>- https://www.thermofisher.com/us/en/home/industrial/chromatography/liquid-chromatography-lc/hplc-uhplc-systems/vanquish-amplify-uhplc-system.html</a:t>
            </a:r>
          </a:p>
          <a:p xmlns:a="http://schemas.openxmlformats.org/drawingml/2006/main">
            <a:r>
              <a:t>- https://pubmed.ncbi.nlm.nih.gov/?term=%28%28%22laboratory+automation%22+OR+%22workflow+software%22+OR+%22AI%22%29+AND+%28%22LC-MS%22+OR+chromatography+OR+%22mass+spectrometry%22%29%29+AND+%28%222025%2F07%2F31%22%5BDate+-+Publication%5D+%3A+%222026%2F07%2F31%22%5BDate+-+Publication%5D%29</a:t>
            </a:r>
          </a:p>
          <a:p xmlns:a="http://schemas.openxmlformats.org/drawingml/2006/main">
            <a:r>
              <a:t>- https://www.agilent.com/about/newsroom/presrel/2026/20may-ca26015.html</a:t>
            </a:r>
          </a:p>
          <a:p xmlns:a="http://schemas.openxmlformats.org/drawingml/2006/main">
            <a:r>
              <a:t>- https://www.thermofisher.com/order/catalog/product/VQ-AMPLIFY</a:t>
            </a:r>
          </a:p>
          <a:p xmlns:a="http://schemas.openxmlformats.org/drawingml/2006/main">
            <a:r>
              <a:t>- https://pubmed.ncbi.nlm.nih.gov/?term=%28%28oligonucleotide+OR+%22nucleic+acid%22+OR+siRNA%29+AND+%28%22LC-MS%22+OR+chromatography+OR+%22mass+spectrometry%22%29%29+AND+%28%222025%2F07%2F31%22%5BDate+-+Publication%5D+%3A+%222026%2F07%2F31%22%5BDate+-+Publication%5D%29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https://www.bioprocessingsummit.com/</a:t>
            </a:r>
          </a:p>
          <a:p xmlns:a="http://schemas.openxmlformats.org/drawingml/2006/main">
            <a:r>
              <a:t>- https://pubmed.ncbi.nlm.nih.gov/42398371/</a:t>
            </a:r>
          </a:p>
          <a:p xmlns:a="http://schemas.openxmlformats.org/drawingml/2006/main">
            <a:r>
              <a:t>- https://www.shimadzu.com/an/products/liquid-chromatograph-mass-spectrometry/triple-quadrupole-lc-msms/lcms-8065xe/index.html</a:t>
            </a:r>
          </a:p>
          <a:p xmlns:a="http://schemas.openxmlformats.org/drawingml/2006/main">
            <a:r>
              <a:t>- https://pubmed.ncbi.nlm.nih.gov/?term=%28%28PFAS+OR+%22per-+and+polyfluoroalkyl%22%29+AND+%28%22LC-MS%22+OR+%22LC-MS%2FMS%22+OR+chromatography%29%29+AND+%28%222025%2F07%2F31%22%5BDate+-+Publication%5D+%3A+%222026%2F07%2F31%22%5BDate+-+Publication%5D%29</a:t>
            </a:r>
          </a:p>
          <a:p xmlns:a="http://schemas.openxmlformats.org/drawingml/2006/main">
            <a:r>
              <a:t>- https://sciex.com/about-us/press-releases/2026/sciex-launches-its-5th-generation-of-nominal-mass-novus-v55-system-with-sciexos-5-0-software</a:t>
            </a:r>
          </a:p>
          <a:p xmlns:a="http://schemas.openxmlformats.org/drawingml/2006/main">
            <a:r>
              <a:t>- https://www.shimadzu.com/news/2026/k8iri3_20_z4uvwt.html</a:t>
            </a:r>
          </a:p>
          <a:p xmlns:a="http://schemas.openxmlformats.org/drawingml/2006/main">
            <a:r>
              <a:t>- https://www.thermofisher.com/us/en/home/industrial/chromatography/liquid-chromatography-lc/hplc-uhplc-systems/vanquish-amplify-uhplc-system.html</a:t>
            </a:r>
          </a:p>
          <a:p xmlns:a="http://schemas.openxmlformats.org/drawingml/2006/main">
            <a:r>
              <a:t>- https://pubmed.ncbi.nlm.nih.gov/?term=%28%28%22laboratory+automation%22+OR+%22workflow+software%22+OR+%22AI%22%29+AND+%28%22LC-MS%22+OR+chromatography+OR+%22mass+spectrometry%22%29%29+AND+%28%222025%2F07%2F31%22%5BDate+-+Publication%5D+%3A+%222026%2F07%2F31%22%5BDate+-+Publication%5D%29</a:t>
            </a:r>
          </a:p>
          <a:p xmlns:a="http://schemas.openxmlformats.org/drawingml/2006/main">
            <a:r>
              <a:t>- https://www.agilent.com/about/newsroom/presrel/2026/20may-ca26015.html</a:t>
            </a:r>
          </a:p>
          <a:p xmlns:a="http://schemas.openxmlformats.org/drawingml/2006/main">
            <a:r>
              <a:t>- https://www.thermofisher.com/order/catalog/product/VQ-AMPLIFY</a:t>
            </a:r>
          </a:p>
          <a:p xmlns:a="http://schemas.openxmlformats.org/drawingml/2006/main">
            <a:r>
              <a:t>- https://pubmed.ncbi.nlm.nih.gov/?term=%28%28oligonucleotide+OR+%22nucleic+acid%22+OR+siRNA%29+AND+%28%22LC-MS%22+OR+chromatography+OR+%22mass+spectrometry%22%29%29+AND+%28%222025%2F07%2F31%22%5BDate+-+Publication%5D+%3A+%222026%2F07%2F31%22%5BDate+-+Publication%5D%29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https://pubmed.ncbi.nlm.nih.gov/?term=%28%28PFAS+OR+%22per-+and+polyfluoroalkyl%22%29+AND+%28%22LC-MS%22+OR+%22LC-MS%2FMS%22+OR+chromatography%29%29+AND+%28%222025%2F07%2F31%22%5BDate+-+Publication%5D+%3A+%222026%2F07%2F31%22%5BDate+-+Publication%5D%29</a:t>
            </a:r>
          </a:p>
          <a:p xmlns:a="http://schemas.openxmlformats.org/drawingml/2006/main">
            <a:r>
              <a:t>- https://www.agilent.com/about/newsroom/presrel/2026/29may-ca26021.html</a:t>
            </a:r>
          </a:p>
          <a:p xmlns:a="http://schemas.openxmlformats.org/drawingml/2006/main">
            <a:r>
              <a:t>- https://www.sec.gov/Archives/edgar/data/1090872/000109087226000055/a-20260430.htm</a:t>
            </a:r>
          </a:p>
          <a:p xmlns:a="http://schemas.openxmlformats.org/drawingml/2006/main">
            <a:r>
              <a:t>- https://www.shimadzu.com/news/2026/k8iri3_20_z4uvwt.html</a:t>
            </a:r>
          </a:p>
          <a:p xmlns:a="http://schemas.openxmlformats.org/drawingml/2006/main">
            <a:r>
              <a:t>- https://sciex.com/about-us/press-releases/2026/sciex-launches-its-5th-generation-of-nominal-mass-novus-v55-system-with-sciexos-5-0-software</a:t>
            </a:r>
          </a:p>
          <a:p xmlns:a="http://schemas.openxmlformats.org/drawingml/2006/main">
            <a:r>
              <a:t>- https://www.bioprocessingsummit.com/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6929cc8b80a4adc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97d136acb2e424c" /><Relationship Type="http://schemas.openxmlformats.org/officeDocument/2006/relationships/slideLayout" Target="/ppt/slideLayouts/slideLayout1.xml" Id="Rdcba7b77f2d648f7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cba7b77f2d648f7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2ecb3bb37d6430e" /><Relationship Type="http://schemas.openxmlformats.org/officeDocument/2006/relationships/notesSlide" Target="/ppt/notesSlides/notesSlide1.xml" Id="R420f4bf4dadc41c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f8941924e40455d" /><Relationship Type="http://schemas.openxmlformats.org/officeDocument/2006/relationships/notesSlide" Target="/ppt/notesSlides/notesSlide2.xml" Id="R0ae07755c372454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205cb4eafd54c21" /><Relationship Type="http://schemas.openxmlformats.org/officeDocument/2006/relationships/notesSlide" Target="/ppt/notesSlides/notesSlide3.xml" Id="R3630e9e7220b48e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21774c1d03b41f1" /><Relationship Type="http://schemas.openxmlformats.org/officeDocument/2006/relationships/notesSlide" Target="/ppt/notesSlides/notesSlide4.xml" Id="R1a9ecdc684f14d6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b1d94cde5884e67" /><Relationship Type="http://schemas.openxmlformats.org/officeDocument/2006/relationships/notesSlide" Target="/ppt/notesSlides/notesSlide5.xml" Id="R6b8175acfd374cc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5ebf4765f2947c0" /><Relationship Type="http://schemas.openxmlformats.org/officeDocument/2006/relationships/notesSlide" Target="/ppt/notesSlides/notesSlide6.xml" Id="Rc012a00421b84784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3b8341d806d4379" /><Relationship Type="http://schemas.openxmlformats.org/officeDocument/2006/relationships/notesSlide" Target="/ppt/notesSlides/notesSlide7.xml" Id="R4af80615f4074b22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8c3f12834cd44f3" /><Relationship Type="http://schemas.openxmlformats.org/officeDocument/2006/relationships/hyperlink" Target="https://pubmed.ncbi.nlm.nih.gov/?term=%28%28PFAS+OR+%22per-+and+polyfluoroalkyl%22%29+AND+%28%22LC-MS%22+OR+%22LC-MS%2FMS%22+OR+chromatography%29%29+AND+%28%222025%2F07%2F31%22%5BDate+-+Publication%5D+%3A+%222026%2F07%2F31%22%5BDate+-+Publication%5D%29" TargetMode="External" Id="R2fa880576a7343a0" /><Relationship Type="http://schemas.openxmlformats.org/officeDocument/2006/relationships/hyperlink" Target="https://www.agilent.com/about/newsroom/presrel/2026/29may-ca26021.html" TargetMode="External" Id="R282f896780574dc4" /><Relationship Type="http://schemas.openxmlformats.org/officeDocument/2006/relationships/hyperlink" Target="https://www.sec.gov/Archives/edgar/data/1090872/000109087226000055/a-20260430.htm" TargetMode="External" Id="R0baad5ad987849c2" /><Relationship Type="http://schemas.openxmlformats.org/officeDocument/2006/relationships/hyperlink" Target="https://www.shimadzu.com/news/2026/k8iri3_20_z4uvwt.html" TargetMode="External" Id="R081b62ef65c34686" /><Relationship Type="http://schemas.openxmlformats.org/officeDocument/2006/relationships/hyperlink" Target="https://sciex.com/about-us/press-releases/2026/sciex-launches-its-5th-generation-of-nominal-mass-novus-v55-system-with-sciexos-5-0-software" TargetMode="External" Id="R2e869570f5ed4501" /><Relationship Type="http://schemas.openxmlformats.org/officeDocument/2006/relationships/hyperlink" Target="https://www.bioprocessingsummit.com/" TargetMode="External" Id="R7527c5d3076c433f" /><Relationship Type="http://schemas.openxmlformats.org/officeDocument/2006/relationships/notesSlide" Target="/ppt/notesSlides/notesSlide8.xml" Id="Rd4cee950e6f04b3d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5364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DCFCF84-AF1E-4E3E-973D-1C81D2BBC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5D5C6"/>
          </a:solidFill>
          <a:ln xmlns:a="http://schemas.openxmlformats.org/drawingml/2006/main" w="0">
            <a:solidFill>
              <a:srgbClr val="45D5C6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9FD1F94-2B50-4423-9E69-1D11FD821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666750"/>
            <a:ext cx="495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45D5C6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45D5C6"/>
                </a:solidFill>
                <a:latin typeface="Aptos"/>
                <a:ea typeface="Aptos"/>
                <a:cs typeface="Aptos"/>
              </a:rPr>
              <a:t>WATERS · NEXT GEN LC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2A5742C-FD1A-4B80-9AC3-5E46872C3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524000"/>
            <a:ext cx="8953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3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43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Leadership brief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BFC3783-6357-4801-A551-0A404BB4D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419350"/>
            <a:ext cx="8477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C9D9DB"/>
                </a:solidFill>
                <a:latin typeface="Aptos"/>
                <a:ea typeface="Aptos"/>
                <a:cs typeface="Aptos"/>
              </a:defRPr>
            </a:pPr>
            <a:r>
              <a:rPr sz="2100" b="0">
                <a:solidFill>
                  <a:srgbClr val="C9D9DB"/>
                </a:solidFill>
                <a:latin typeface="Aptos"/>
                <a:ea typeface="Aptos"/>
                <a:cs typeface="Aptos"/>
              </a:rPr>
              <a:t>Five external signals. Three evidence-gated decisions.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614498B-4516-4058-B412-B7D322253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276600"/>
            <a:ext cx="7524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C9D9D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C9D9DB"/>
                </a:solidFill>
                <a:latin typeface="Aptos"/>
                <a:ea typeface="Aptos"/>
                <a:cs typeface="Aptos"/>
              </a:rPr>
              <a:t>A concise executive readout of scientific momentum, competitor moves, customer friction, corporate intent, and the next conference moment.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3BD040E-4A48-4F83-8F48-9938848C8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1485900"/>
            <a:ext cx="2400300" cy="2647950"/>
          </a:xfrm>
          <a:prstGeom xmlns:a="http://schemas.openxmlformats.org/drawingml/2006/main" prst="roundRect">
            <a:avLst>
              <a:gd name="adj" fmla="val 4762"/>
            </a:avLst>
          </a:prstGeom>
          <a:solidFill xmlns:a="http://schemas.openxmlformats.org/drawingml/2006/main">
            <a:srgbClr val="0D4A54"/>
          </a:solidFill>
          <a:ln xmlns:a="http://schemas.openxmlformats.org/drawingml/2006/main" w="9525">
            <a:solidFill>
              <a:srgbClr val="2B626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91CDBFB-BDF5-420A-B838-D0A02F176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188595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45D5C6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45D5C6"/>
                </a:solidFill>
                <a:latin typeface="Aptos"/>
                <a:ea typeface="Aptos"/>
                <a:cs typeface="Aptos"/>
              </a:rPr>
              <a:t>DATA CURRENT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DBBF6E4-E398-498E-8FF8-43516F870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2247900"/>
            <a:ext cx="1428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8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48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5B30F36-9C0E-4351-9675-F0A815606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3048000"/>
            <a:ext cx="152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JUL 2026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516C494-95CA-4CD8-8A91-5ACE060E1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3619500"/>
            <a:ext cx="14859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5D5C6"/>
          </a:solidFill>
          <a:ln xmlns:a="http://schemas.openxmlformats.org/drawingml/2006/main" w="0">
            <a:solidFill>
              <a:srgbClr val="45D5C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F001225-0582-4BCC-B463-F0E717328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375285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C9D9D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9D9DB"/>
                </a:solidFill>
                <a:latin typeface="Aptos"/>
                <a:ea typeface="Aptos"/>
                <a:cs typeface="Aptos"/>
              </a:rPr>
              <a:t>PUBLIC EVIDENCE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2613624-E17E-4748-81F7-8729A13F3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61531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C9D9DB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C9D9DB"/>
                </a:solidFill>
                <a:latin typeface="Aptos"/>
                <a:ea typeface="Aptos"/>
                <a:cs typeface="Aptos"/>
              </a:rPr>
              <a:t>Prepared for roadmap review · waters-ci-20260731094444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88E3C92-B6C5-4869-81C1-F5EE96D39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153150"/>
            <a:ext cx="49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45D5C6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45D5C6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72531919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3F8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C316DF5-A12C-4D6D-BE49-5054835E0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LEADERSHIP BRIEF · 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5A81862-1CCB-4603-810E-73A7DD55E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"/>
            <a:ext cx="110966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Leadership Brief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2D14DD9-BF0F-43B9-9519-5C99CE200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276350"/>
            <a:ext cx="10620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7969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0767D"/>
                </a:solidFill>
                <a:latin typeface="Aptos"/>
                <a:ea typeface="Aptos"/>
                <a:cs typeface="Aptos"/>
              </a:rPr>
              <a:t>The strongest cross-page pattern is not a single specification—it is proof that the full workflow is easier to execute, transfer, and troubleshoot.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5FC1284-C6F7-402E-9E91-0D18A29B2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71650"/>
            <a:ext cx="111633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5D5C6"/>
          </a:solidFill>
          <a:ln xmlns:a="http://schemas.openxmlformats.org/drawingml/2006/main" w="0">
            <a:solidFill>
              <a:srgbClr val="45D5C6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E851CCF-F88E-4F3A-A46D-5E097F98A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38350"/>
            <a:ext cx="11163300" cy="819150"/>
          </a:xfrm>
          <a:prstGeom xmlns:a="http://schemas.openxmlformats.org/drawingml/2006/main" prst="roundRect">
            <a:avLst>
              <a:gd name="adj" fmla="val 13953"/>
            </a:avLst>
          </a:prstGeom>
          <a:solidFill xmlns:a="http://schemas.openxmlformats.org/drawingml/2006/main">
            <a:srgbClr val="153640"/>
          </a:solidFill>
          <a:ln xmlns:a="http://schemas.openxmlformats.org/drawingml/2006/main" w="9525">
            <a:solidFill>
              <a:srgbClr val="153640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5BB8B73-9419-4265-82F9-40277FE14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219325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45D5C6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45D5C6"/>
                </a:solidFill>
                <a:latin typeface="Aptos"/>
                <a:ea typeface="Aptos"/>
                <a:cs typeface="Aptos"/>
              </a:rPr>
              <a:t>LEADERSHIP IMPLICATION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6A7C4F4-9A71-4B3B-A865-EDA42E6C9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2162175"/>
            <a:ext cx="8096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9778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Test new requirements against workflow proof, not feature parity alone.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1225674-665E-4CBC-994A-53A64DA8F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143250"/>
            <a:ext cx="3371850" cy="2076450"/>
          </a:xfrm>
          <a:prstGeom xmlns:a="http://schemas.openxmlformats.org/drawingml/2006/main" prst="roundRect">
            <a:avLst>
              <a:gd name="adj" fmla="val 550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EDDD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C18A8CF-C49E-48B9-BF56-CACA648D1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143250"/>
            <a:ext cx="33718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F8C"/>
          </a:solidFill>
          <a:ln xmlns:a="http://schemas.openxmlformats.org/drawingml/2006/main" w="0">
            <a:solidFill>
              <a:srgbClr val="087F8C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9E0927E-0AC9-4095-8603-8FBD7E7A2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429000"/>
            <a:ext cx="29146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3450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1,140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CFA92BF-0116-469E-A06D-88C112D0C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095750"/>
            <a:ext cx="29146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166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Automation and software workflow publications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F3C218E-FB9B-423F-B91C-07BFEDE30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629150"/>
            <a:ext cx="2914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0767D"/>
                </a:solidFill>
                <a:latin typeface="Aptos"/>
                <a:ea typeface="Aptos"/>
                <a:cs typeface="Aptos"/>
              </a:rPr>
              <a:t>Scientific activity in the last year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CD80E82-559D-4488-9202-7439D2F36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0075" y="3143250"/>
            <a:ext cx="3371850" cy="2076450"/>
          </a:xfrm>
          <a:prstGeom xmlns:a="http://schemas.openxmlformats.org/drawingml/2006/main" prst="roundRect">
            <a:avLst>
              <a:gd name="adj" fmla="val 550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EDDD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67013D1-D325-4784-B1EA-152B1D4BD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0075" y="3143250"/>
            <a:ext cx="33718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F8C"/>
          </a:solidFill>
          <a:ln xmlns:a="http://schemas.openxmlformats.org/drawingml/2006/main" w="0">
            <a:solidFill>
              <a:srgbClr val="087F8C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CEE3AC4-C52D-4FDF-ADD7-3471DBECB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8675" y="3429000"/>
            <a:ext cx="29146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3450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333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4CC684F-9A00-4BAB-A21B-0ED59AF8E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8675" y="4095750"/>
            <a:ext cx="29146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166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PFAS and contaminant-testing publications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F553582-2F5D-4B7B-86AB-25F626F17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8675" y="4629150"/>
            <a:ext cx="2914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0767D"/>
                </a:solidFill>
                <a:latin typeface="Aptos"/>
                <a:ea typeface="Aptos"/>
                <a:cs typeface="Aptos"/>
              </a:rPr>
              <a:t>Current regulated-testing activity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3EAF021-AA6C-4A11-97AE-6F533F63E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143250"/>
            <a:ext cx="3371850" cy="2076450"/>
          </a:xfrm>
          <a:prstGeom xmlns:a="http://schemas.openxmlformats.org/drawingml/2006/main" prst="roundRect">
            <a:avLst>
              <a:gd name="adj" fmla="val 550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EDDDF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44D0355-7C23-40CA-B594-B6C6C46C4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143250"/>
            <a:ext cx="33718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F8C"/>
          </a:solidFill>
          <a:ln xmlns:a="http://schemas.openxmlformats.org/drawingml/2006/main" w="0">
            <a:solidFill>
              <a:srgbClr val="087F8C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7B5AAA4-2B5C-4B68-899A-45DA281BC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3429000"/>
            <a:ext cx="29146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3450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664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6EEBD5F-C7A5-464F-B16E-B2AB78301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4095750"/>
            <a:ext cx="29146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166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Oligonucleotide and nucleic-acid publications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B6C46A4-CAE6-4479-B93E-BD18E18D1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4629150"/>
            <a:ext cx="2914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0767D"/>
                </a:solidFill>
                <a:latin typeface="Aptos"/>
                <a:ea typeface="Aptos"/>
                <a:cs typeface="Aptos"/>
              </a:rPr>
              <a:t>Substantial application evidence base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B2BBB3B-2146-4C80-860B-451270A48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0"/>
            <a:ext cx="981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60767D"/>
                </a:solidFill>
                <a:latin typeface="Aptos"/>
                <a:ea typeface="Aptos"/>
                <a:cs typeface="Aptos"/>
              </a:rPr>
              <a:t>WATERS NEXT GEN COMPETITIVE INTELLIGENCE · 31 JUL 2026 · waters-ci-20260731094444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3FE2ADA-31F5-4703-B4BF-248D8BFA7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438900"/>
            <a:ext cx="495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65884369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3F8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5A32D3A-33EC-4CEC-8A6D-3FA11BB50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LEADERSHIP BRIEF · 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DF917CF-3077-40E9-9328-C618026A9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"/>
            <a:ext cx="110966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Five signals now shape the roadmap conversation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1991DC9-31FB-49A0-851B-CFA6A1FFC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276350"/>
            <a:ext cx="10620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0767D"/>
                </a:solidFill>
                <a:latin typeface="Aptos"/>
                <a:ea typeface="Aptos"/>
                <a:cs typeface="Aptos"/>
              </a:rPr>
              <a:t>Each signal comes from a different evidence class; together they show why leadership attention is warranted.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28E0EC4-18FD-4DF1-8DC5-D36C14E88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71650"/>
            <a:ext cx="111633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5D5C6"/>
          </a:solidFill>
          <a:ln xmlns:a="http://schemas.openxmlformats.org/drawingml/2006/main" w="0">
            <a:solidFill>
              <a:srgbClr val="45D5C6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17E8081-C49E-407B-AC48-337616E91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57400"/>
            <a:ext cx="5314950" cy="1390650"/>
          </a:xfrm>
          <a:prstGeom xmlns:a="http://schemas.openxmlformats.org/drawingml/2006/main" prst="roundRect">
            <a:avLst>
              <a:gd name="adj" fmla="val 821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EDDD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19E6EE1-ECFC-4581-82D1-41B9465B2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28850"/>
            <a:ext cx="400050" cy="400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87F8C"/>
          </a:solidFill>
          <a:ln xmlns:a="http://schemas.openxmlformats.org/drawingml/2006/main" w="9525">
            <a:solidFill>
              <a:srgbClr val="087F8C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70E0799-3E95-4A8E-9CB0-614CE52B9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050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BA895B7-82A7-46C0-A979-41E0CDF46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219325"/>
            <a:ext cx="44005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SCIENTIFIC MARKET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E0337F3-343C-4283-9882-19AD134E6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466975"/>
            <a:ext cx="44005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PFAS activity remains substantial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4183C60-5204-4EFE-943A-6841857AB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933700"/>
            <a:ext cx="44005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0767D"/>
                </a:solidFill>
                <a:latin typeface="Aptos"/>
                <a:ea typeface="Aptos"/>
                <a:cs typeface="Aptos"/>
              </a:rPr>
              <a:t>333 records from the canonical PubMed query.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697F382-355A-461C-B59D-F9A0060A7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057400"/>
            <a:ext cx="5314950" cy="1390650"/>
          </a:xfrm>
          <a:prstGeom xmlns:a="http://schemas.openxmlformats.org/drawingml/2006/main" prst="roundRect">
            <a:avLst>
              <a:gd name="adj" fmla="val 821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EDDD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5C59AFC-8993-46EB-BB7B-92781BF28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228850"/>
            <a:ext cx="400050" cy="400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58C00"/>
          </a:solidFill>
          <a:ln xmlns:a="http://schemas.openxmlformats.org/drawingml/2006/main" w="9525">
            <a:solidFill>
              <a:srgbClr val="D58C0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DBAF0A0-6DC5-4F96-8773-EB4782D60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3050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BC85440-2E9B-42C7-BB72-68F5B1A28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2219325"/>
            <a:ext cx="44005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D58C00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D58C00"/>
                </a:solidFill>
                <a:latin typeface="Aptos"/>
                <a:ea typeface="Aptos"/>
                <a:cs typeface="Aptos"/>
              </a:rPr>
              <a:t>COMPETITOR LAUNCH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72338D7-5496-4ECA-95FB-A891C9CEA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2466975"/>
            <a:ext cx="44005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Agilent is packaging LC/TOF into MAM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C0EDDB4-F652-4C96-A859-CF3288564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2933700"/>
            <a:ext cx="44005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0767D"/>
                </a:solidFill>
                <a:latin typeface="Aptos"/>
                <a:ea typeface="Aptos"/>
                <a:cs typeface="Aptos"/>
              </a:rPr>
              <a:t>Observed issuer evidence from Agilent's official release.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56549AE-847C-454F-9B8F-5076C7B95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619500"/>
            <a:ext cx="5314950" cy="1390650"/>
          </a:xfrm>
          <a:prstGeom xmlns:a="http://schemas.openxmlformats.org/drawingml/2006/main" prst="roundRect">
            <a:avLst>
              <a:gd name="adj" fmla="val 821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EDDDF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A0E4B83-5E97-4830-85D7-C4D399914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90950"/>
            <a:ext cx="400050" cy="400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87F8C"/>
          </a:solidFill>
          <a:ln xmlns:a="http://schemas.openxmlformats.org/drawingml/2006/main" w="9525">
            <a:solidFill>
              <a:srgbClr val="087F8C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06DAE2F-3233-4D8E-8EC4-1EF5D64DE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671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6DD0724-43C4-4221-9DF5-1AF693FA1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781425"/>
            <a:ext cx="44005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CUSTOMER EVIDENCE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9D8574D-196B-4A6C-95AD-D15419565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029075"/>
            <a:ext cx="44005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Troubleshooting requires internal validation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1C46C56-CDD0-438A-A84C-2E870D62C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495800"/>
            <a:ext cx="44005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0767D"/>
                </a:solidFill>
                <a:latin typeface="Aptos"/>
                <a:ea typeface="Aptos"/>
                <a:cs typeface="Aptos"/>
              </a:rPr>
              <a:t>Public forum recurrence requires internal field validation.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80418B6-ED6C-45A8-8A7A-4C3664F82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619500"/>
            <a:ext cx="5314950" cy="1390650"/>
          </a:xfrm>
          <a:prstGeom xmlns:a="http://schemas.openxmlformats.org/drawingml/2006/main" prst="roundRect">
            <a:avLst>
              <a:gd name="adj" fmla="val 821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EDDDF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0EA1D08-CA64-4B96-8522-89ABB1759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790950"/>
            <a:ext cx="400050" cy="400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58C00"/>
          </a:solidFill>
          <a:ln xmlns:a="http://schemas.openxmlformats.org/drawingml/2006/main" w="9525">
            <a:solidFill>
              <a:srgbClr val="D58C00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E4E53A0-05FC-4B89-B8E8-F968ED5CC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8671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0830AF0-41A9-4667-A942-95E47D6DA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3781425"/>
            <a:ext cx="44005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D58C00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D58C00"/>
                </a:solidFill>
                <a:latin typeface="Aptos"/>
                <a:ea typeface="Aptos"/>
                <a:cs typeface="Aptos"/>
              </a:rPr>
              <a:t>CORPORATE INTENT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B09A076-C691-4D91-8048-75E769BE9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4029075"/>
            <a:ext cx="44005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Agilent calls LC and LC-MS growth engines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698AFB9-714C-4F0A-A968-1483A03EF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4495800"/>
            <a:ext cx="44005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0767D"/>
                </a:solidFill>
                <a:latin typeface="Aptos"/>
                <a:ea typeface="Aptos"/>
                <a:cs typeface="Aptos"/>
              </a:rPr>
              <a:t>Direct issuer filing; no independent external corroboration.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1DB3F4E-6E93-4DE6-BC5C-81A3924C8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8525" y="5181600"/>
            <a:ext cx="5314950" cy="1390650"/>
          </a:xfrm>
          <a:prstGeom xmlns:a="http://schemas.openxmlformats.org/drawingml/2006/main" prst="roundRect">
            <a:avLst>
              <a:gd name="adj" fmla="val 821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EDDDF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49E3196-8C7C-404E-B2DE-AF83C7324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9975" y="5353050"/>
            <a:ext cx="400050" cy="400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87F8C"/>
          </a:solidFill>
          <a:ln xmlns:a="http://schemas.openxmlformats.org/drawingml/2006/main" w="9525">
            <a:solidFill>
              <a:srgbClr val="087F8C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A0986CB-7CD5-4B67-B32C-0708BC873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9975" y="54292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BAD141B-2F7E-4747-9BFF-C40DB8C71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2425" y="5343525"/>
            <a:ext cx="44005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CONFERENCE MOMENT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B427A2A-1087-43B8-AB80-A635BECA0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2425" y="5591175"/>
            <a:ext cx="44005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Bioprocessing Summit begins Aug 10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66A22D7-1735-44E0-8170-286CA909C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2425" y="6057900"/>
            <a:ext cx="44005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0767D"/>
                </a:solidFill>
                <a:latin typeface="Aptos"/>
                <a:ea typeface="Aptos"/>
                <a:cs typeface="Aptos"/>
              </a:rPr>
              <a:t>Observed agenda and sponsor facts from the event site.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C8CEF7B-08D1-4981-9C5C-6EA8C24EA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0"/>
            <a:ext cx="981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60767D"/>
                </a:solidFill>
                <a:latin typeface="Aptos"/>
                <a:ea typeface="Aptos"/>
                <a:cs typeface="Aptos"/>
              </a:rPr>
              <a:t>WATERS NEXT GEN COMPETITIVE INTELLIGENCE · 31 JUL 2026 · waters-ci-20260731094444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91BCC29-A385-4EB2-B2B9-3FC6C2393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438900"/>
            <a:ext cx="495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37747756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3F8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D0EE352-6690-4011-B987-88BD1A572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LEADERSHIP BRIEF · 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46F1114-56C1-4895-9C14-663A7BCCC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"/>
            <a:ext cx="110966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Observed competitor actions suggest workflow packaging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6BA7467-3B6E-46BF-B472-2471CDB2D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276350"/>
            <a:ext cx="10620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0767D"/>
                </a:solidFill>
                <a:latin typeface="Aptos"/>
                <a:ea typeface="Aptos"/>
                <a:cs typeface="Aptos"/>
              </a:rPr>
              <a:t>Inference confidence is Directional: each company view lacks two independently corroborating source families.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E9F27AC-C40A-4802-A614-61E9A9F99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71650"/>
            <a:ext cx="111633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5D5C6"/>
          </a:solidFill>
          <a:ln xmlns:a="http://schemas.openxmlformats.org/drawingml/2006/main" w="0">
            <a:solidFill>
              <a:srgbClr val="45D5C6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616726B-80EC-4B4D-B391-E737586FA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95500"/>
            <a:ext cx="5276850" cy="1695450"/>
          </a:xfrm>
          <a:prstGeom xmlns:a="http://schemas.openxmlformats.org/drawingml/2006/main" prst="roundRect">
            <a:avLst>
              <a:gd name="adj" fmla="val 674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EDDD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81C6FEB-B0C6-4765-B824-97FCC77BF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95500"/>
            <a:ext cx="7620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F8C"/>
          </a:solidFill>
          <a:ln xmlns:a="http://schemas.openxmlformats.org/drawingml/2006/main" w="0">
            <a:solidFill>
              <a:srgbClr val="087F8C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D45D262-EE63-417A-96A3-BAD090690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76475"/>
            <a:ext cx="2952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SHIMADZU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BF3998E-3F14-4F86-A1B3-FF0F0AD99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2276475"/>
            <a:ext cx="1257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60767D"/>
                </a:solidFill>
                <a:latin typeface="Aptos"/>
                <a:ea typeface="Aptos"/>
                <a:cs typeface="Aptos"/>
              </a:rPr>
              <a:t>03 Mar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3E44E8A-10D1-47E0-BA72-E8C0A600C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62225"/>
            <a:ext cx="4762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Observed: Nexera X4 launch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25D4DCD-2FF6-4646-B026-744CCCE93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114675"/>
            <a:ext cx="4762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0767D"/>
                </a:solidFill>
                <a:latin typeface="Aptos"/>
                <a:ea typeface="Aptos"/>
                <a:cs typeface="Aptos"/>
              </a:rPr>
              <a:t>Inference: productivity-led LC positioning. Alternative: normal platform refresh.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622A172-B233-419A-96BA-70E7B93BE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095500"/>
            <a:ext cx="5276850" cy="1695450"/>
          </a:xfrm>
          <a:prstGeom xmlns:a="http://schemas.openxmlformats.org/drawingml/2006/main" prst="roundRect">
            <a:avLst>
              <a:gd name="adj" fmla="val 674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EDDD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0F8C74E-A184-4E08-9FC3-BD168264E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095500"/>
            <a:ext cx="7620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8C00"/>
          </a:solidFill>
          <a:ln xmlns:a="http://schemas.openxmlformats.org/drawingml/2006/main" w="0">
            <a:solidFill>
              <a:srgbClr val="D58C0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18D40A6-64EC-40B0-BB7C-9F4C52AB5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276475"/>
            <a:ext cx="2952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D58C00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D58C00"/>
                </a:solidFill>
                <a:latin typeface="Aptos"/>
                <a:ea typeface="Aptos"/>
                <a:cs typeface="Aptos"/>
              </a:rPr>
              <a:t>AGILENT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A60455F-CA28-43A9-976E-CF19EAC77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2276475"/>
            <a:ext cx="1257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60767D"/>
                </a:solidFill>
                <a:latin typeface="Aptos"/>
                <a:ea typeface="Aptos"/>
                <a:cs typeface="Aptos"/>
              </a:rPr>
              <a:t>03 Jun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C7DA2B0-2A8C-492F-8BA4-C22058105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562225"/>
            <a:ext cx="4762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Observed: 6230C LC/TOF in MAM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D74D951-7BD1-4343-A370-94A6535C6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114675"/>
            <a:ext cx="4762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0767D"/>
                </a:solidFill>
                <a:latin typeface="Aptos"/>
                <a:ea typeface="Aptos"/>
                <a:cs typeface="Aptos"/>
              </a:rPr>
              <a:t>Inference: application-specific workflow packaging. Alternative: campaign positioning.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B2615FC-1489-43D6-8770-0A1C82297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38600"/>
            <a:ext cx="5276850" cy="1695450"/>
          </a:xfrm>
          <a:prstGeom xmlns:a="http://schemas.openxmlformats.org/drawingml/2006/main" prst="roundRect">
            <a:avLst>
              <a:gd name="adj" fmla="val 674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EDDDF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9A9EE57-F926-41AD-ADC4-00436872F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38600"/>
            <a:ext cx="7620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F8C"/>
          </a:solidFill>
          <a:ln xmlns:a="http://schemas.openxmlformats.org/drawingml/2006/main" w="0">
            <a:solidFill>
              <a:srgbClr val="087F8C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8F6983B-21E1-4CAE-878B-C7185C3B1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19575"/>
            <a:ext cx="2952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SCIEX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5D97052-2224-4D93-A506-66C5FD6FD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4219575"/>
            <a:ext cx="1257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60767D"/>
                </a:solidFill>
                <a:latin typeface="Aptos"/>
                <a:ea typeface="Aptos"/>
                <a:cs typeface="Aptos"/>
              </a:rPr>
              <a:t>01 Jun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F28D272-40C8-495D-A20B-962FEEED3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05325"/>
            <a:ext cx="4762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Observed: novus V55 + SCIEX OS 5.0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43730DC-B2F0-45ED-B041-9A47127BA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57775"/>
            <a:ext cx="4762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0767D"/>
                </a:solidFill>
                <a:latin typeface="Aptos"/>
                <a:ea typeface="Aptos"/>
                <a:cs typeface="Aptos"/>
              </a:rPr>
              <a:t>Inference: software-led nominal-mass offer; this does not verify broader HRMS depth.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32F9CCD-5AF5-40F8-BB8C-4A9CED019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038600"/>
            <a:ext cx="5276850" cy="1695450"/>
          </a:xfrm>
          <a:prstGeom xmlns:a="http://schemas.openxmlformats.org/drawingml/2006/main" prst="roundRect">
            <a:avLst>
              <a:gd name="adj" fmla="val 674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EDDDF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F53306A-804E-4729-B802-F0F8B0A74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038600"/>
            <a:ext cx="7620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8C00"/>
          </a:solidFill>
          <a:ln xmlns:a="http://schemas.openxmlformats.org/drawingml/2006/main" w="0">
            <a:solidFill>
              <a:srgbClr val="D58C00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A551E8D-8DA6-4BBC-ABD8-0D8E99927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4219575"/>
            <a:ext cx="2952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D58C00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D58C00"/>
                </a:solidFill>
                <a:latin typeface="Aptos"/>
                <a:ea typeface="Aptos"/>
                <a:cs typeface="Aptos"/>
              </a:rPr>
              <a:t>THERMO FISHER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B458F7A-76C9-4BFD-8839-92AD1CC66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4219575"/>
            <a:ext cx="1257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60767D"/>
                </a:solidFill>
                <a:latin typeface="Aptos"/>
                <a:ea typeface="Aptos"/>
                <a:cs typeface="Aptos"/>
              </a:rPr>
              <a:t>CURRENT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89EDB79-85E4-4ACF-9A76-76471B6B6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4505325"/>
            <a:ext cx="4762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Observed: Vanquish Amplify product page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B7DA263-B475-4CEE-AFED-F729256D0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5057775"/>
            <a:ext cx="4762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0767D"/>
                </a:solidFill>
                <a:latin typeface="Aptos"/>
                <a:ea typeface="Aptos"/>
                <a:cs typeface="Aptos"/>
              </a:rPr>
              <a:t>Inference: inert biopharma workflow packaging. Alternative: portfolio positioning.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DD160C9-3071-4031-8A49-CB501A51F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0"/>
            <a:ext cx="981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60767D"/>
                </a:solidFill>
                <a:latin typeface="Aptos"/>
                <a:ea typeface="Aptos"/>
                <a:cs typeface="Aptos"/>
              </a:rPr>
              <a:t>WATERS NEXT GEN COMPETITIVE INTELLIGENCE · 31 JUL 2026 · waters-ci-20260731094444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611802F-E802-45AD-B08D-4460FBAB8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438900"/>
            <a:ext cx="495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2010109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3F8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565CD29-2D5A-4F0A-8375-F39B85276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LEADERSHIP BRIEF · 5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D955BC5-6F71-4DE1-AB08-5609CA7AE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"/>
            <a:ext cx="1109662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Customer evidence is a validation input—not a prevalence estimate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933C332-8993-46E6-ACC7-A2E27C287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71600"/>
            <a:ext cx="10620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0767D"/>
                </a:solidFill>
                <a:latin typeface="Aptos"/>
                <a:ea typeface="Aptos"/>
                <a:cs typeface="Aptos"/>
              </a:rPr>
              <a:t>Forum evidence is promoted to leadership only when at least three independent sources support the same theme.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F38CFCA-B674-44F4-A23A-5028C05C2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71650"/>
            <a:ext cx="111633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5D5C6"/>
          </a:solidFill>
          <a:ln xmlns:a="http://schemas.openxmlformats.org/drawingml/2006/main" w="0">
            <a:solidFill>
              <a:srgbClr val="45D5C6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36EEF58-3E00-49A2-A587-44F5D8829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114550"/>
            <a:ext cx="4324350" cy="3695700"/>
          </a:xfrm>
          <a:prstGeom xmlns:a="http://schemas.openxmlformats.org/drawingml/2006/main" prst="roundRect">
            <a:avLst>
              <a:gd name="adj" fmla="val 3093"/>
            </a:avLst>
          </a:prstGeom>
          <a:solidFill xmlns:a="http://schemas.openxmlformats.org/drawingml/2006/main">
            <a:srgbClr val="153640"/>
          </a:solidFill>
          <a:ln xmlns:a="http://schemas.openxmlformats.org/drawingml/2006/main" w="9525">
            <a:solidFill>
              <a:srgbClr val="153640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92E4491-9EE8-499D-80FD-5EA2B7563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476500"/>
            <a:ext cx="333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45D5C6"/>
                </a:solidFill>
                <a:latin typeface="Aptos"/>
                <a:ea typeface="Aptos"/>
                <a:cs typeface="Aptos"/>
              </a:defRPr>
            </a:pPr>
            <a:r>
              <a:rPr sz="3150" b="1">
                <a:solidFill>
                  <a:srgbClr val="45D5C6"/>
                </a:solidFill>
                <a:latin typeface="Aptos"/>
                <a:ea typeface="Aptos"/>
                <a:cs typeface="Aptos"/>
              </a:rPr>
              <a:t>DIRECTIONAL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5483E99-0E3C-46BD-8437-109128A14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162300"/>
            <a:ext cx="3333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C9D9DB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C9D9DB"/>
                </a:solidFill>
                <a:latin typeface="Aptos"/>
                <a:ea typeface="Aptos"/>
                <a:cs typeface="Aptos"/>
              </a:rPr>
              <a:t>PUBLIC CUSTOMER EVIDENCE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28ED099-6E17-4A02-8AA4-F78B3EE76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714750"/>
            <a:ext cx="3333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Leadership threshold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BFD00A0-F283-4292-B0AF-86B665420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171950"/>
            <a:ext cx="3333750" cy="1085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3+ independent sources</a:t>
            </a:r>
          </a:p>
          <a:p xmlns:a="http://schemas.openxmlformats.org/drawingml/2006/main">
            <a:pPr algn="l">
              <a:defRPr sz="16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plus internal field validation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B3DAC5D-3709-44C9-9168-7E18236D2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114550"/>
            <a:ext cx="6534150" cy="3695700"/>
          </a:xfrm>
          <a:prstGeom xmlns:a="http://schemas.openxmlformats.org/drawingml/2006/main" prst="roundRect">
            <a:avLst>
              <a:gd name="adj" fmla="val 30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EDDD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FDE44B7-028E-46C6-B8A5-B827BFA76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419350"/>
            <a:ext cx="5810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WHAT LEADERS SHOULD TAKE FROM IT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171AFFA-C6FE-4B95-A30F-CDD4529CD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781300"/>
            <a:ext cx="571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6207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2175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Do not infer product weakness from one complaint.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73345A3-E356-443E-BDFA-DEB28B4AF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3600450"/>
            <a:ext cx="561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60767D"/>
                </a:solidFill>
                <a:latin typeface="Aptos"/>
                <a:ea typeface="Aptos"/>
                <a:cs typeface="Aptos"/>
              </a:rPr>
              <a:t>Before adding requirements, validate: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BA451B0-9D30-4C5F-BBB2-79361CCC9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4019550"/>
            <a:ext cx="5524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53640"/>
                </a:solidFill>
                <a:latin typeface="Aptos"/>
                <a:ea typeface="Aptos"/>
                <a:cs typeface="Aptos"/>
              </a:rPr>
              <a:t>1. Which failure modes repeat across customer and field records</a:t>
            </a:r>
          </a:p>
          <a:p xmlns:a="http://schemas.openxmlformats.org/drawingml/2006/main">
            <a:pPr algn="l">
              <a:defRPr sz="1350" b="0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53640"/>
                </a:solidFill>
                <a:latin typeface="Aptos"/>
                <a:ea typeface="Aptos"/>
                <a:cs typeface="Aptos"/>
              </a:rPr>
              <a:t>2. How long users take to isolate and recover from them</a:t>
            </a:r>
          </a:p>
          <a:p xmlns:a="http://schemas.openxmlformats.org/drawingml/2006/main">
            <a:pPr algn="l">
              <a:defRPr sz="1350" b="0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53640"/>
                </a:solidFill>
                <a:latin typeface="Aptos"/>
                <a:ea typeface="Aptos"/>
                <a:cs typeface="Aptos"/>
              </a:rPr>
              <a:t>3. Whether guided diagnostics materially shorten that path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A4E056A-E014-443C-B258-7E29CA9FD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0"/>
            <a:ext cx="981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60767D"/>
                </a:solidFill>
                <a:latin typeface="Aptos"/>
                <a:ea typeface="Aptos"/>
                <a:cs typeface="Aptos"/>
              </a:rPr>
              <a:t>WATERS NEXT GEN COMPETITIVE INTELLIGENCE · 31 JUL 2026 · waters-ci-20260731094444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05FA759-DC1B-472A-B765-C38C56A17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438900"/>
            <a:ext cx="495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41867074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3F8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0D5F961-04FB-4D5A-AA48-0F4AA257F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LEADERSHIP BRIEF · 6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5E00FBF-DC4B-4B1D-9CC7-DBA5C5140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"/>
            <a:ext cx="1109662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Three decisions are evidence-prioritized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C797B46-4353-4966-B756-16C3B759E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71600"/>
            <a:ext cx="10620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0767D"/>
                </a:solidFill>
                <a:latin typeface="Aptos"/>
                <a:ea typeface="Aptos"/>
                <a:cs typeface="Aptos"/>
              </a:rPr>
              <a:t>The evidence-priority score compares application activity, competitor activity, and source quality.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EC6EDB6-084E-4D0F-8F51-DBE461B79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71650"/>
            <a:ext cx="111633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5D5C6"/>
          </a:solidFill>
          <a:ln xmlns:a="http://schemas.openxmlformats.org/drawingml/2006/main" w="0">
            <a:solidFill>
              <a:srgbClr val="45D5C6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3B16F9B-F127-44A3-86FC-2F4253B4F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152650"/>
            <a:ext cx="3409950" cy="3581400"/>
          </a:xfrm>
          <a:prstGeom xmlns:a="http://schemas.openxmlformats.org/drawingml/2006/main" prst="roundRect">
            <a:avLst>
              <a:gd name="adj" fmla="val 335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58C00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7828E24-154B-4047-8AF8-B7A8A10AF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152650"/>
            <a:ext cx="34099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8C00"/>
          </a:solidFill>
          <a:ln xmlns:a="http://schemas.openxmlformats.org/drawingml/2006/main" w="0">
            <a:solidFill>
              <a:srgbClr val="D58C0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7593E5B-6988-4FEB-A459-8D6967E30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381250"/>
            <a:ext cx="2990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D58C00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D58C00"/>
                </a:solidFill>
                <a:latin typeface="Aptos"/>
                <a:ea typeface="Aptos"/>
                <a:cs typeface="Aptos"/>
              </a:rPr>
              <a:t>DUE AUGUST 7, 2026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EB1848B-0BBF-4ABD-9725-0212942E0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695575"/>
            <a:ext cx="2990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60767D"/>
                </a:solidFill>
                <a:latin typeface="Aptos"/>
                <a:ea typeface="Aptos"/>
                <a:cs typeface="Aptos"/>
              </a:rPr>
              <a:t>EVIDENCE-PRIORITY SCORE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AA7A6E4-3A00-4A52-9F03-741B2BC2C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95600"/>
            <a:ext cx="29908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2025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54/100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42D2BA9-7559-4AB7-88E7-07B842EE3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314700"/>
            <a:ext cx="29908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0643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Decide whether to package a PFAS-ready regulated quantitation workflow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4A9A79B-FB39-416A-9522-B118580A3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57650"/>
            <a:ext cx="29908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DDDF"/>
          </a:solidFill>
          <a:ln xmlns:a="http://schemas.openxmlformats.org/drawingml/2006/main" w="0">
            <a:solidFill>
              <a:srgbClr val="CEDDD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B4ED03F-3A59-45A3-82C7-BDF4BB8BA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219575"/>
            <a:ext cx="2990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60767D"/>
                </a:solidFill>
                <a:latin typeface="Aptos"/>
                <a:ea typeface="Aptos"/>
                <a:cs typeface="Aptos"/>
              </a:rPr>
              <a:t>OWNER · Product Management and Applications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A14130E-9259-4428-B651-367BFAD37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533900"/>
            <a:ext cx="2990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60767D"/>
                </a:solidFill>
                <a:latin typeface="Aptos"/>
                <a:ea typeface="Aptos"/>
                <a:cs typeface="Aptos"/>
              </a:rPr>
              <a:t>FINAL GO / NO-GO OUTPUT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DECBFB8-BA36-481A-AB9B-E42E054F6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781550"/>
            <a:ext cx="2990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53640"/>
                </a:solidFill>
                <a:latin typeface="Aptos"/>
                <a:ea typeface="Aptos"/>
                <a:cs typeface="Aptos"/>
              </a:rPr>
              <a:t>One recommendation: package, build, partner, monitor, or stop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740FF00-67BE-45EA-AEFE-F46DF7004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1025" y="2152650"/>
            <a:ext cx="3409950" cy="3581400"/>
          </a:xfrm>
          <a:prstGeom xmlns:a="http://schemas.openxmlformats.org/drawingml/2006/main" prst="roundRect">
            <a:avLst>
              <a:gd name="adj" fmla="val 335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EDDD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FC840B7-C6A0-44D7-A387-BD7A4549B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1025" y="2152650"/>
            <a:ext cx="34099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F8C"/>
          </a:solidFill>
          <a:ln xmlns:a="http://schemas.openxmlformats.org/drawingml/2006/main" w="0">
            <a:solidFill>
              <a:srgbClr val="087F8C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76E8EE5-B478-41B7-A86D-42E6F8AB2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0575" y="2381250"/>
            <a:ext cx="2990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DUE NEXT ROADMAP REVIEW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7D936DC-E5B4-4BE1-AC75-2156874A7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0575" y="2695575"/>
            <a:ext cx="2990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60767D"/>
                </a:solidFill>
                <a:latin typeface="Aptos"/>
                <a:ea typeface="Aptos"/>
                <a:cs typeface="Aptos"/>
              </a:rPr>
              <a:t>EVIDENCE-PRIORITY SCORE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8F08E19-9CE3-4705-B62F-83CACBB23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0575" y="2895600"/>
            <a:ext cx="29908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2025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64/100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B9790EB-52BE-4844-BF19-C83302095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0575" y="3314700"/>
            <a:ext cx="29908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0643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Decide whether Next Gen LC and Alliance iS need new end-to-end workflow requirements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B40E356-DD9C-49AA-AA05-5E752D4B9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0575" y="4057650"/>
            <a:ext cx="29908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DDDF"/>
          </a:solidFill>
          <a:ln xmlns:a="http://schemas.openxmlformats.org/drawingml/2006/main" w="0">
            <a:solidFill>
              <a:srgbClr val="CEDDDF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FE5DAEA-9DD3-49FF-8355-D994BBD39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0575" y="4219575"/>
            <a:ext cx="2990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60767D"/>
                </a:solidFill>
                <a:latin typeface="Aptos"/>
                <a:ea typeface="Aptos"/>
                <a:cs typeface="Aptos"/>
              </a:rPr>
              <a:t>OWNER · LC Platform PM and Software Lead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C6E7F87-EB48-42A9-B9AB-989DF043F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0575" y="4533900"/>
            <a:ext cx="2990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60767D"/>
                </a:solidFill>
                <a:latin typeface="Aptos"/>
                <a:ea typeface="Aptos"/>
                <a:cs typeface="Aptos"/>
              </a:rPr>
              <a:t>FINAL GO / NO-GO OUTPUT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C1D263B-9196-4A0B-8A87-4A17F689E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0575" y="4781550"/>
            <a:ext cx="2990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53640"/>
                </a:solidFill>
                <a:latin typeface="Aptos"/>
                <a:ea typeface="Aptos"/>
                <a:cs typeface="Aptos"/>
              </a:rPr>
              <a:t>One recommendation: build, package existing capabilities, reposition, or stop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B05E3A9-3F3C-402D-A5A3-0E1E50D30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152650"/>
            <a:ext cx="3409950" cy="3581400"/>
          </a:xfrm>
          <a:prstGeom xmlns:a="http://schemas.openxmlformats.org/drawingml/2006/main" prst="roundRect">
            <a:avLst>
              <a:gd name="adj" fmla="val 335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EDDDF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213639D-BC87-4A60-9BDB-C1129F71C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152650"/>
            <a:ext cx="34099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F8C"/>
          </a:solidFill>
          <a:ln xmlns:a="http://schemas.openxmlformats.org/drawingml/2006/main" w="0">
            <a:solidFill>
              <a:srgbClr val="087F8C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C0BB029-3C9C-4F60-9CCF-929F5A7BC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381250"/>
            <a:ext cx="2990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DUE AUGUST 21, 2026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EE78E87-0664-4B0E-B46E-DCD6BF7B4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695575"/>
            <a:ext cx="2990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60767D"/>
                </a:solidFill>
                <a:latin typeface="Aptos"/>
                <a:ea typeface="Aptos"/>
                <a:cs typeface="Aptos"/>
              </a:rPr>
              <a:t>EVIDENCE-PRIORITY SCORE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B0CB11A-C1EF-4537-9564-026A9F457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895600"/>
            <a:ext cx="29908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2025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58/100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C13E4A1-5FE2-455F-8C49-91B0834CD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314700"/>
            <a:ext cx="29908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0643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Decide whether Next Gen LC needs an oligonucleotide method-readiness package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94EC51C-6285-4797-945E-21DB11567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4057650"/>
            <a:ext cx="29908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DDDF"/>
          </a:solidFill>
          <a:ln xmlns:a="http://schemas.openxmlformats.org/drawingml/2006/main" w="0">
            <a:solidFill>
              <a:srgbClr val="CEDDDF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5815E9E-8D66-41E6-A2C9-5FF0E9BDD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4219575"/>
            <a:ext cx="2990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60767D"/>
                </a:solidFill>
                <a:latin typeface="Aptos"/>
                <a:ea typeface="Aptos"/>
                <a:cs typeface="Aptos"/>
              </a:rPr>
              <a:t>OWNER · Biopharma Applications and Next Gen LC PM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832B243-6B16-4064-8BF1-DBB51C171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4533900"/>
            <a:ext cx="2990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60767D"/>
                </a:solidFill>
                <a:latin typeface="Aptos"/>
                <a:ea typeface="Aptos"/>
                <a:cs typeface="Aptos"/>
              </a:rPr>
              <a:t>FINAL GO / NO-GO OUTPUT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9E32E6A-C4CF-4629-BA44-4204C5486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4781550"/>
            <a:ext cx="2990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53640"/>
                </a:solidFill>
                <a:latin typeface="Aptos"/>
                <a:ea typeface="Aptos"/>
                <a:cs typeface="Aptos"/>
              </a:rPr>
              <a:t>One recommendation: package, build, partner, monitor, or stop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7F2093B-7977-48C3-8834-A29706A00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0"/>
            <a:ext cx="981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60767D"/>
                </a:solidFill>
                <a:latin typeface="Aptos"/>
                <a:ea typeface="Aptos"/>
                <a:cs typeface="Aptos"/>
              </a:rPr>
              <a:t>WATERS NEXT GEN COMPETITIVE INTELLIGENCE · 31 JUL 2026 · waters-ci-20260731094444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CA6955A-F4A8-47EB-9774-8322F75C2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438900"/>
            <a:ext cx="495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89029782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3F8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4177CEA-36A2-46A1-BD44-37E565E17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LEADERSHIP BRIEF · 7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CAE7831-AC2F-44E4-973C-BD4C46454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"/>
            <a:ext cx="110966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Close the evidence gaps before adding roadmap scope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52EFD64-017B-48F6-98B4-A1A7FCBAC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276350"/>
            <a:ext cx="10620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0767D"/>
                </a:solidFill>
                <a:latin typeface="Aptos"/>
                <a:ea typeface="Aptos"/>
                <a:cs typeface="Aptos"/>
              </a:rPr>
              <a:t>Use the next 30 days to sequence dated deliverables around the conference moment.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1F1CB4D-6360-4BDC-B3F9-8580AE765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71650"/>
            <a:ext cx="111633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5D5C6"/>
          </a:solidFill>
          <a:ln xmlns:a="http://schemas.openxmlformats.org/drawingml/2006/main" w="0">
            <a:solidFill>
              <a:srgbClr val="45D5C6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16484C3-D9AD-4AF4-AC52-4C0DB3489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067050"/>
            <a:ext cx="9144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DDDF"/>
          </a:solidFill>
          <a:ln xmlns:a="http://schemas.openxmlformats.org/drawingml/2006/main" w="0">
            <a:solidFill>
              <a:srgbClr val="CEDDD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EC9394B-8473-4F25-9D86-D472C767C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2857500"/>
            <a:ext cx="476250" cy="476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58C00"/>
          </a:solidFill>
          <a:ln xmlns:a="http://schemas.openxmlformats.org/drawingml/2006/main" w="9525">
            <a:solidFill>
              <a:srgbClr val="D58C0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2B74786-47E4-4571-8E1C-038FCC46A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476625"/>
            <a:ext cx="914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D58C00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D58C00"/>
                </a:solidFill>
                <a:latin typeface="Aptos"/>
                <a:ea typeface="Aptos"/>
                <a:cs typeface="Aptos"/>
              </a:rPr>
              <a:t>07 AUG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AF6A79C-29C3-443C-B2DC-BE1EF5177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905250"/>
            <a:ext cx="2209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PFAS decision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88FF5C9-7840-42A1-B84F-C200678C1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514850"/>
            <a:ext cx="2209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0767D"/>
                </a:solidFill>
                <a:latin typeface="Aptos"/>
                <a:ea typeface="Aptos"/>
                <a:cs typeface="Aptos"/>
              </a:rPr>
              <a:t>Complete claims matrix and make the package go/no-go.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661B529-C78E-4395-9B56-2C17AB71D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2857500"/>
            <a:ext cx="476250" cy="476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87F8C"/>
          </a:solidFill>
          <a:ln xmlns:a="http://schemas.openxmlformats.org/drawingml/2006/main" w="9525">
            <a:solidFill>
              <a:srgbClr val="087F8C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76935A5-564B-4029-8DEB-2AC932303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3476625"/>
            <a:ext cx="914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10 AUG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EB0FC44-E4B2-439E-BCDF-042DB8372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905250"/>
            <a:ext cx="2209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Conference moment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3A8890A-31C4-46EC-B048-40538ADEB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4514850"/>
            <a:ext cx="2209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0767D"/>
                </a:solidFill>
                <a:latin typeface="Aptos"/>
                <a:ea typeface="Aptos"/>
                <a:cs typeface="Aptos"/>
              </a:rPr>
              <a:t>Lead with MAM, complex modalities and transfer proof.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9D0E336-EBC7-4BC0-950F-F51F5A96A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625" y="2857500"/>
            <a:ext cx="476250" cy="476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87F8C"/>
          </a:solidFill>
          <a:ln xmlns:a="http://schemas.openxmlformats.org/drawingml/2006/main" w="9525">
            <a:solidFill>
              <a:srgbClr val="087F8C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1298AF9-6212-4DE4-8068-4F67D1004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3476625"/>
            <a:ext cx="914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14 AUG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E65A8C5-EDED-4B6C-A5D8-EBE4A372F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3905250"/>
            <a:ext cx="2209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Workflow decision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FCCCBA5-F614-4423-B8FD-16919B8D1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514850"/>
            <a:ext cx="2209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0767D"/>
                </a:solidFill>
                <a:latin typeface="Aptos"/>
                <a:ea typeface="Aptos"/>
                <a:cs typeface="Aptos"/>
              </a:rPr>
              <a:t>Choose build, package, reposition, or stop.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0F2600D-86B0-4EAA-BC6B-2391E3475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2857500"/>
            <a:ext cx="476250" cy="476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87F8C"/>
          </a:solidFill>
          <a:ln xmlns:a="http://schemas.openxmlformats.org/drawingml/2006/main" w="9525">
            <a:solidFill>
              <a:srgbClr val="087F8C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705147A-ED74-4C72-81EA-24161515E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3476625"/>
            <a:ext cx="914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21 AUG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CE4C51B-6218-4ACA-B194-39541F582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3905250"/>
            <a:ext cx="2209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Oligo decision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CD17FC3-6E90-4BC0-9C69-88AC40CB5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4514850"/>
            <a:ext cx="2209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0767D"/>
                </a:solidFill>
                <a:latin typeface="Aptos"/>
                <a:ea typeface="Aptos"/>
                <a:cs typeface="Aptos"/>
              </a:rPr>
              <a:t>Choose package, build, partner, monitor, or stop.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E090783-54B5-4AF2-9727-66068FB2E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467350"/>
            <a:ext cx="883920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153640"/>
          </a:solidFill>
          <a:ln xmlns:a="http://schemas.openxmlformats.org/drawingml/2006/main" w="9525">
            <a:solidFill>
              <a:srgbClr val="15364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93C83AE-DE6F-4CB5-9C99-66D80535F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5600700"/>
            <a:ext cx="828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3136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Gate roadmap capacity on repeated customer-visible evidence plus quantified benefit and engineering effort.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8087B74-E664-475B-A792-83BFFEDD7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0"/>
            <a:ext cx="981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60767D"/>
                </a:solidFill>
                <a:latin typeface="Aptos"/>
                <a:ea typeface="Aptos"/>
                <a:cs typeface="Aptos"/>
              </a:rPr>
              <a:t>WATERS NEXT GEN COMPETITIVE INTELLIGENCE · 31 JUL 2026 · waters-ci-20260731094444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1C7B291-4FEB-443D-8559-519BC0175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438900"/>
            <a:ext cx="495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89754244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3F8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FE2524A4-E2B1-4FB8-B7E2-B5B642599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LEADERSHIP BRIEF · 8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4D8F48F-87DD-45DB-88D5-C8106451A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"/>
            <a:ext cx="110966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Primary sources behind the leadership readout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C22EA2C-1FA6-407B-A9C9-6C2873C3C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276350"/>
            <a:ext cx="10620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0767D"/>
                </a:solidFill>
                <a:latin typeface="Aptos"/>
                <a:ea typeface="Aptos"/>
                <a:cs typeface="Aptos"/>
              </a:rPr>
              <a:t>Direct public evidence is kept separate from inference; publication counts are contextual signals, not market-size claims.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3690452-77FF-4805-B794-43DDA19EF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71650"/>
            <a:ext cx="111633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5D5C6"/>
          </a:solidFill>
          <a:ln xmlns:a="http://schemas.openxmlformats.org/drawingml/2006/main" w="0">
            <a:solidFill>
              <a:srgbClr val="45D5C6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BC6A1B1-7A19-4946-9525-195B94491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133600"/>
            <a:ext cx="400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43170E7-A1DB-4474-A7AA-D08490B9F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095500"/>
            <a:ext cx="1714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0767D"/>
                </a:solidFill>
                <a:latin typeface="Aptos"/>
                <a:ea typeface="Aptos"/>
                <a:cs typeface="Aptos"/>
              </a:rPr>
              <a:t>SCIENTIFIC MARKET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C5ABDA2-547A-4A88-BF97-D60892025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2076450"/>
            <a:ext cx="409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PubMed · PFAS / LC-MS query</a:t>
            </a:r>
          </a:p>
        </p:txBody>
      </p:sp>
      <p:sp>
        <p:nvSpPr>
          <p:cNvPr id="8" name="">
            <a:hlinkClick xmlns:r="http://schemas.openxmlformats.org/officeDocument/2006/relationships" xmlns:a="http://schemas.openxmlformats.org/drawingml/2006/main" r:id="R2fa880576a7343a0"/>
            <a:extLst xmlns:a="http://schemas.openxmlformats.org/drawingml/2006/main">
              <a:ext uri="{FF2B5EF4-FFF2-40B4-BE49-F238E27FC236}">
                <a16:creationId xmlns:a16="http://schemas.microsoft.com/office/drawing/2014/main" id="{EFABD726-9E29-4192-8070-2B603B09B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095500"/>
            <a:ext cx="4305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2714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087F8C"/>
                </a:solidFill>
                <a:latin typeface="Aptos"/>
                <a:ea typeface="Aptos"/>
                <a:cs typeface="Aptos"/>
              </a:rPr>
              <a:t>https://pubmed.ncbi.nlm.nih.gov/?term=%28%28PFAS+OR+%22per-+and+polyfluoroalkyl%22%29+AND+%28%22LC-MS%22+OR+%22LC-MS%2FMS%22+OR+chromatography%29%29+AND+%28%222025%2F07%2F31%22%5BDate+-+Publication%5D+%3A+%222026%2F07%2F31%22%5BDate+-+Publication%5D%29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B60E446-B46A-4F9F-9F52-5B6F109BA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552700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DDDF"/>
          </a:solidFill>
          <a:ln xmlns:a="http://schemas.openxmlformats.org/drawingml/2006/main" w="0">
            <a:solidFill>
              <a:srgbClr val="CEDDD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8D98DC7-0861-4B75-8834-B3ECE02D1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781300"/>
            <a:ext cx="400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7CFCC70-4BCC-4D7A-AC64-F6F8E3CAD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743200"/>
            <a:ext cx="1714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0767D"/>
                </a:solidFill>
                <a:latin typeface="Aptos"/>
                <a:ea typeface="Aptos"/>
                <a:cs typeface="Aptos"/>
              </a:rPr>
              <a:t>AGILENT LAUNCH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C00281D-190F-4426-B619-099866C0E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2724150"/>
            <a:ext cx="409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6230C LC/TOF in MAM workflow</a:t>
            </a:r>
          </a:p>
        </p:txBody>
      </p:sp>
      <p:sp>
        <p:nvSpPr>
          <p:cNvPr id="13" name="">
            <a:hlinkClick xmlns:r="http://schemas.openxmlformats.org/officeDocument/2006/relationships" xmlns:a="http://schemas.openxmlformats.org/drawingml/2006/main" r:id="R282f896780574dc4"/>
            <a:extLst xmlns:a="http://schemas.openxmlformats.org/drawingml/2006/main">
              <a:ext uri="{FF2B5EF4-FFF2-40B4-BE49-F238E27FC236}">
                <a16:creationId xmlns:a16="http://schemas.microsoft.com/office/drawing/2014/main" id="{8F9088F3-2CC1-454B-94EC-8AD5BC2D0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743200"/>
            <a:ext cx="4305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087F8C"/>
                </a:solidFill>
                <a:latin typeface="Aptos"/>
                <a:ea typeface="Aptos"/>
                <a:cs typeface="Aptos"/>
              </a:rPr>
              <a:t>https://www.agilent.com/about/newsroom/presrel/2026/29may-ca26021.html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F356C9C-64DE-4B57-96ED-7C543846F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200400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DDDF"/>
          </a:solidFill>
          <a:ln xmlns:a="http://schemas.openxmlformats.org/drawingml/2006/main" w="0">
            <a:solidFill>
              <a:srgbClr val="CEDDD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B2801CB-34EC-4CEB-BA12-84464541A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429000"/>
            <a:ext cx="400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A1B609B-B47D-4BDC-95BD-77E955308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390900"/>
            <a:ext cx="1714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0767D"/>
                </a:solidFill>
                <a:latin typeface="Aptos"/>
                <a:ea typeface="Aptos"/>
                <a:cs typeface="Aptos"/>
              </a:rPr>
              <a:t>AGILENT FILING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B91620B-B675-44AA-8F10-81E0715CA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3371850"/>
            <a:ext cx="409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Issuer-reported LC / LC-MS growth</a:t>
            </a:r>
          </a:p>
        </p:txBody>
      </p:sp>
      <p:sp>
        <p:nvSpPr>
          <p:cNvPr id="18" name="">
            <a:hlinkClick xmlns:r="http://schemas.openxmlformats.org/officeDocument/2006/relationships" xmlns:a="http://schemas.openxmlformats.org/drawingml/2006/main" r:id="R0baad5ad987849c2"/>
            <a:extLst xmlns:a="http://schemas.openxmlformats.org/drawingml/2006/main">
              <a:ext uri="{FF2B5EF4-FFF2-40B4-BE49-F238E27FC236}">
                <a16:creationId xmlns:a16="http://schemas.microsoft.com/office/drawing/2014/main" id="{DADBA1A2-6849-4087-B31A-0E0FE0EE7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390900"/>
            <a:ext cx="4305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087F8C"/>
                </a:solidFill>
                <a:latin typeface="Aptos"/>
                <a:ea typeface="Aptos"/>
                <a:cs typeface="Aptos"/>
              </a:rPr>
              <a:t>https://www.sec.gov/Archives/edgar/data/1090872/000109087226000055/a-20260430.htm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F3383A7-5E46-4E3B-B287-1743EC467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848100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DDDF"/>
          </a:solidFill>
          <a:ln xmlns:a="http://schemas.openxmlformats.org/drawingml/2006/main" w="0">
            <a:solidFill>
              <a:srgbClr val="CEDDDF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9B79FD6-7260-48E3-91D8-61BC702B7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076700"/>
            <a:ext cx="400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55CD8F9-964D-4A50-8EE8-FE5D2DA5F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038600"/>
            <a:ext cx="1714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0767D"/>
                </a:solidFill>
                <a:latin typeface="Aptos"/>
                <a:ea typeface="Aptos"/>
                <a:cs typeface="Aptos"/>
              </a:rPr>
              <a:t>SHIMADZU LAUNCH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76DD3DF-5257-4D7E-9736-333577BA9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4019550"/>
            <a:ext cx="409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Nexera X4 UHPLC</a:t>
            </a:r>
          </a:p>
        </p:txBody>
      </p:sp>
      <p:sp>
        <p:nvSpPr>
          <p:cNvPr id="23" name="">
            <a:hlinkClick xmlns:r="http://schemas.openxmlformats.org/officeDocument/2006/relationships" xmlns:a="http://schemas.openxmlformats.org/drawingml/2006/main" r:id="R081b62ef65c34686"/>
            <a:extLst xmlns:a="http://schemas.openxmlformats.org/drawingml/2006/main">
              <a:ext uri="{FF2B5EF4-FFF2-40B4-BE49-F238E27FC236}">
                <a16:creationId xmlns:a16="http://schemas.microsoft.com/office/drawing/2014/main" id="{D844B5B7-CFA9-43BA-9AF3-E588EE29C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038600"/>
            <a:ext cx="4305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087F8C"/>
                </a:solidFill>
                <a:latin typeface="Aptos"/>
                <a:ea typeface="Aptos"/>
                <a:cs typeface="Aptos"/>
              </a:rPr>
              <a:t>https://www.shimadzu.com/news/2026/k8iri3_20_z4uvwt.html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DFF71F2-6307-4302-BA38-16114AE1E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495800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DDDF"/>
          </a:solidFill>
          <a:ln xmlns:a="http://schemas.openxmlformats.org/drawingml/2006/main" w="0">
            <a:solidFill>
              <a:srgbClr val="CEDDDF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9496620-F0ED-4828-A57D-64A9C0DB9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724400"/>
            <a:ext cx="400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F753109-19A0-4E70-B08A-57F2E07A7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686300"/>
            <a:ext cx="1714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0767D"/>
                </a:solidFill>
                <a:latin typeface="Aptos"/>
                <a:ea typeface="Aptos"/>
                <a:cs typeface="Aptos"/>
              </a:rPr>
              <a:t>SCIEX LAUNCH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2FD4F65-AAA2-43CE-A93B-444E5A1DA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4667250"/>
            <a:ext cx="409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novus V55 with SCIEX OS 5.0</a:t>
            </a:r>
          </a:p>
        </p:txBody>
      </p:sp>
      <p:sp>
        <p:nvSpPr>
          <p:cNvPr id="28" name="">
            <a:hlinkClick xmlns:r="http://schemas.openxmlformats.org/officeDocument/2006/relationships" xmlns:a="http://schemas.openxmlformats.org/drawingml/2006/main" r:id="R2e869570f5ed4501"/>
            <a:extLst xmlns:a="http://schemas.openxmlformats.org/drawingml/2006/main">
              <a:ext uri="{FF2B5EF4-FFF2-40B4-BE49-F238E27FC236}">
                <a16:creationId xmlns:a16="http://schemas.microsoft.com/office/drawing/2014/main" id="{C9972BDB-0090-4E1C-9BB0-5B4ABA578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686300"/>
            <a:ext cx="4305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087F8C"/>
                </a:solidFill>
                <a:latin typeface="Aptos"/>
                <a:ea typeface="Aptos"/>
                <a:cs typeface="Aptos"/>
              </a:rPr>
              <a:t>https://sciex.com/about-us/press-releases/2026/sciex-launches-its-5th-generation-of-nominal-mass-novus-v55-system-with-sciexos-5-0-software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D122DCE-D3A8-4C37-887F-EE66E5D46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143500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DDDF"/>
          </a:solidFill>
          <a:ln xmlns:a="http://schemas.openxmlformats.org/drawingml/2006/main" w="0">
            <a:solidFill>
              <a:srgbClr val="CEDDDF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E261921-165C-4CAA-87FB-894DCF981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372100"/>
            <a:ext cx="400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62941A0-40DD-4F13-B8F7-25EC15899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334000"/>
            <a:ext cx="1714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0767D"/>
                </a:solidFill>
                <a:latin typeface="Aptos"/>
                <a:ea typeface="Aptos"/>
                <a:cs typeface="Aptos"/>
              </a:rPr>
              <a:t>CONFERENCE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08D102A-FB99-401D-8058-9CC22C982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5314950"/>
            <a:ext cx="409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Bioprocessing Summit US 2026</a:t>
            </a:r>
          </a:p>
        </p:txBody>
      </p:sp>
      <p:sp>
        <p:nvSpPr>
          <p:cNvPr id="33" name="">
            <a:hlinkClick xmlns:r="http://schemas.openxmlformats.org/officeDocument/2006/relationships" xmlns:a="http://schemas.openxmlformats.org/drawingml/2006/main" r:id="R7527c5d3076c433f"/>
            <a:extLst xmlns:a="http://schemas.openxmlformats.org/drawingml/2006/main">
              <a:ext uri="{FF2B5EF4-FFF2-40B4-BE49-F238E27FC236}">
                <a16:creationId xmlns:a16="http://schemas.microsoft.com/office/drawing/2014/main" id="{A51EDA66-A585-40EC-A6D4-0FEBB2DB6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5334000"/>
            <a:ext cx="4305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087F8C"/>
                </a:solidFill>
                <a:latin typeface="Aptos"/>
                <a:ea typeface="Aptos"/>
                <a:cs typeface="Aptos"/>
              </a:rPr>
              <a:t>https://www.bioprocessingsummit.com/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BBCAA36-8991-4C89-841F-403D10325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019800"/>
            <a:ext cx="11163300" cy="323850"/>
          </a:xfrm>
          <a:prstGeom xmlns:a="http://schemas.openxmlformats.org/drawingml/2006/main" prst="roundRect">
            <a:avLst>
              <a:gd name="adj" fmla="val 35294"/>
            </a:avLst>
          </a:prstGeom>
          <a:solidFill xmlns:a="http://schemas.openxmlformats.org/drawingml/2006/main">
            <a:srgbClr val="FFF3D4"/>
          </a:solidFill>
          <a:ln xmlns:a="http://schemas.openxmlformats.org/drawingml/2006/main" w="9525">
            <a:solidFill>
              <a:srgbClr val="FFF3D4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B234CF86-390F-44E4-A13A-E87B39D40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6096000"/>
            <a:ext cx="10782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7C5600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7C5600"/>
                </a:solidFill>
                <a:latin typeface="Aptos"/>
                <a:ea typeface="Aptos"/>
                <a:cs typeface="Aptos"/>
              </a:rPr>
              <a:t>Snapshot: waters-ci-20260731094444 · As of 2026-07-31T09:44:44 · Business magnitude requires Waters internal data.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8E7C5EE-9295-49FD-8E77-B4BD3D108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0"/>
            <a:ext cx="981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60767D"/>
                </a:solidFill>
                <a:latin typeface="Aptos"/>
                <a:ea typeface="Aptos"/>
                <a:cs typeface="Aptos"/>
              </a:rPr>
              <a:t>WATERS NEXT GEN COMPETITIVE INTELLIGENCE · 31 JUL 2026 · waters-ci-20260731094444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9EC699DF-B008-4AF9-B5DE-E331B0131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438900"/>
            <a:ext cx="495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02568972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2026-07-31T13:51:44.6000000Z</dcterms:created>
  <dcterms:modified xsi:type="dcterms:W3CDTF">2026-07-31T13:51:44.6000000Z</dcterms:modified>
</coreProperties>
</file>