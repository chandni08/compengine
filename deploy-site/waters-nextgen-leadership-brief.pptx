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ebf9cdb2084c4c" /><Relationship Type="http://schemas.openxmlformats.org/officeDocument/2006/relationships/extended-properties" Target="/docProps/app.xml" Id="Raccb0210288f486d" /><Relationship Type="http://schemas.openxmlformats.org/officeDocument/2006/relationships/officeDocument" Target="/ppt/presentation.xml" Id="R5135e1c1b85245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87bfeb1d74499b"/>
  </p:sldMasterIdLst>
  <p:notesMasterIdLst>
    <p:notesMasterId xmlns:r="http://schemas.openxmlformats.org/officeDocument/2006/relationships" r:id="Rc0002804cad7432e"/>
  </p:notesMasterIdLst>
  <p:sldIdLst>
    <p:sldId xmlns:r="http://schemas.openxmlformats.org/officeDocument/2006/relationships" id="256" r:id="Rb4176906ade94004"/>
    <p:sldId xmlns:r="http://schemas.openxmlformats.org/officeDocument/2006/relationships" id="257" r:id="R7df0f2c8bb624bb9"/>
    <p:sldId xmlns:r="http://schemas.openxmlformats.org/officeDocument/2006/relationships" id="258" r:id="R7967a5aaf82648bf"/>
    <p:sldId xmlns:r="http://schemas.openxmlformats.org/officeDocument/2006/relationships" id="259" r:id="R86f0c1b8c02f4239"/>
    <p:sldId xmlns:r="http://schemas.openxmlformats.org/officeDocument/2006/relationships" id="260" r:id="Rbfd6c2b39c2a4c05"/>
    <p:sldId xmlns:r="http://schemas.openxmlformats.org/officeDocument/2006/relationships" id="261" r:id="Rb1f6498a9377499b"/>
    <p:sldId xmlns:r="http://schemas.openxmlformats.org/officeDocument/2006/relationships" id="262" r:id="Rbbb2fb8bd8984c15"/>
    <p:sldId xmlns:r="http://schemas.openxmlformats.org/officeDocument/2006/relationships" id="263" r:id="R7abd050b334047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68dfdf81e0466c" /><Relationship Type="http://schemas.openxmlformats.org/officeDocument/2006/relationships/slideMaster" Target="/ppt/slideMasters/slideMaster1.xml" Id="Rd387bfeb1d74499b" /><Relationship Type="http://schemas.openxmlformats.org/officeDocument/2006/relationships/notesMaster" Target="/ppt/notesMasters/notesMaster1.xml" Id="Rc0002804cad7432e" /><Relationship Type="http://schemas.openxmlformats.org/officeDocument/2006/relationships/presProps" Target="/ppt/presProps.xml" Id="R9af10f94798a4f3c" /><Relationship Type="http://schemas.openxmlformats.org/officeDocument/2006/relationships/tableStyles" Target="/ppt/tableStyles.xml" Id="R8df44da1ce3e4e0f" /><Relationship Type="http://schemas.openxmlformats.org/officeDocument/2006/relationships/slide" Target="/ppt/slides/slide1.xml" Id="Rb4176906ade94004" /><Relationship Type="http://schemas.openxmlformats.org/officeDocument/2006/relationships/slide" Target="/ppt/slides/slide2.xml" Id="R7df0f2c8bb624bb9" /><Relationship Type="http://schemas.openxmlformats.org/officeDocument/2006/relationships/slide" Target="/ppt/slides/slide3.xml" Id="R7967a5aaf82648bf" /><Relationship Type="http://schemas.openxmlformats.org/officeDocument/2006/relationships/slide" Target="/ppt/slides/slide4.xml" Id="R86f0c1b8c02f4239" /><Relationship Type="http://schemas.openxmlformats.org/officeDocument/2006/relationships/slide" Target="/ppt/slides/slide5.xml" Id="Rbfd6c2b39c2a4c05" /><Relationship Type="http://schemas.openxmlformats.org/officeDocument/2006/relationships/slide" Target="/ppt/slides/slide6.xml" Id="Rb1f6498a9377499b" /><Relationship Type="http://schemas.openxmlformats.org/officeDocument/2006/relationships/slide" Target="/ppt/slides/slide7.xml" Id="Rbbb2fb8bd8984c15" /><Relationship Type="http://schemas.openxmlformats.org/officeDocument/2006/relationships/slide" Target="/ppt/slides/slide8.xml" Id="R7abd050b334047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3fda26b5b046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90fde16d8e486a" /><Relationship Type="http://schemas.openxmlformats.org/officeDocument/2006/relationships/notesMaster" Target="/ppt/notesMasters/notesMaster1.xml" Id="R34e2ddba47274c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4068d645114538" /><Relationship Type="http://schemas.openxmlformats.org/officeDocument/2006/relationships/notesMaster" Target="/ppt/notesMasters/notesMaster1.xml" Id="Re84e9a23d36844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1969cd91f74f49" /><Relationship Type="http://schemas.openxmlformats.org/officeDocument/2006/relationships/notesMaster" Target="/ppt/notesMasters/notesMaster1.xml" Id="R53557d1d08c548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509a180d5942da" /><Relationship Type="http://schemas.openxmlformats.org/officeDocument/2006/relationships/notesMaster" Target="/ppt/notesMasters/notesMaster1.xml" Id="Rbff8879d42c24e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a8be826d6e45c7" /><Relationship Type="http://schemas.openxmlformats.org/officeDocument/2006/relationships/notesMaster" Target="/ppt/notesMasters/notesMaster1.xml" Id="R1c4c4d770f4d4a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fa411f5e3d473a" /><Relationship Type="http://schemas.openxmlformats.org/officeDocument/2006/relationships/notesMaster" Target="/ppt/notesMasters/notesMaster1.xml" Id="R885c0a3d259b4d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e6e28f81714d5f" /><Relationship Type="http://schemas.openxmlformats.org/officeDocument/2006/relationships/notesMaster" Target="/ppt/notesMasters/notesMaster1.xml" Id="R9e2fdcb24bfe44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be04ac497348cd" /><Relationship Type="http://schemas.openxmlformats.org/officeDocument/2006/relationships/notesMaster" Target="/ppt/notesMasters/notesMaster1.xml" Id="R7f9febc13f884b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?term=%28%28%22laboratory+automation%22+OR+%22workflow+software%22+OR+%22AI%22%29+AND+%28%22LC-MS%22+OR+chromatography+OR+%22mass+spectrometry%22%29%29+AND+%28%222025%2F07%2F29%22%5BDate+-+Publication%5D+%3A+%222026%2F07%2F29%22%5BDate+-+Publication%5D%29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https://pubmed.ncbi.nlm.nih.gov/?term=%28%28PFAS+OR+%22per-+and+polyfluoroalkyl%22%29+AND+%28%22LC-MS%22+OR+%22LC-MS%2FMS%22+OR+chromatography%29%29+AND+%28%222025%2F07%2F29%22%5BDate+-+Publication%5D+%3A+%222026%2F07%2F29%22%5BDate+-+Publication%5D%29</a:t>
            </a:r>
          </a:p>
          <a:p xmlns:a="http://schemas.openxmlformats.org/drawingml/2006/main">
            <a:r>
              <a:t>- https://pubmed.ncbi.nlm.nih.gov/?term=%28%28oligonucleotide+OR+%22nucleic+acid%22+OR+siRNA%29+AND+%28%22LC-MS%22+OR+chromatography+OR+%22mass+spectrometry%22%29%29+AND+%28%222025%2F07%2F29%22%5BDate+-+Publication%5D+%3A+%222026%2F07%2F29%22%5BDate+-+Publication%5D%29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https://pubmed.ncbi.nlm.nih.gov/?term=%28%28PFAS+OR+%22per-+and+polyfluoroalkyl%22%29+AND+%28%22LC-MS%22+OR+%22LC-MS%2FMS%22+OR+chromatography%29%29+AND+%28%222025%2F07%2F29%22%5BDate+-+Publication%5D+%3A+%222026%2F07%2F29%22%5BDate+-+Publication%5D%29</a:t>
            </a:r>
          </a:p>
          <a:p xmlns:a="http://schemas.openxmlformats.org/drawingml/2006/main">
            <a:r>
              <a:t>- https://www.agilent.com/about/newsroom/presrel/2026/29may-ca26021.html</a:t>
            </a:r>
          </a:p>
          <a:p xmlns:a="http://schemas.openxmlformats.org/drawingml/2006/main">
            <a:r>
              <a:t>- https://www.sec.gov/Archives/edgar/data/1090872/000109087226000055/a-20260430.htm</a:t>
            </a:r>
          </a:p>
          <a:p xmlns:a="http://schemas.openxmlformats.org/drawingml/2006/main">
            <a:r>
              <a:t>- https://www.bioprocessingsummit.com/</a:t>
            </a:r>
          </a:p>
          <a:p xmlns:a="http://schemas.openxmlformats.org/drawingml/2006/main">
            <a:r>
              <a:t>- https://www.reddit.com/r/CHROMATOGRAPHY/comments/1uk333s/update_uplc_waters_high_pressure_problem/</a:t>
            </a:r>
          </a:p>
          <a:p xmlns:a="http://schemas.openxmlformats.org/drawingml/2006/main">
            <a:r>
              <a:t>- https://www.reddit.com/r/CHROMATOGRAPHY/comments/1h1i93y/waters_acquity_uplc_beh_17_um_21_x_100_mm_column/</a:t>
            </a:r>
          </a:p>
          <a:p xmlns:a="http://schemas.openxmlformats.org/drawingml/2006/main">
            <a:r>
              <a:t>- https://www.reddit.com/r/CHROMATOGRAPHY/comments/1e3y2sy/getting_started_with_empower_3/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https://www.shimadzu.com/news/2026/k8iri3_20_z4uvwt.html</a:t>
            </a:r>
          </a:p>
          <a:p xmlns:a="http://schemas.openxmlformats.org/drawingml/2006/main">
            <a:r>
              <a:t>- https://www.agilent.com/about/newsroom/presrel/2026/29may-ca26021.html</a:t>
            </a:r>
          </a:p>
          <a:p xmlns:a="http://schemas.openxmlformats.org/drawingml/2006/main">
            <a:r>
              <a:t>- https://sciex.com/about-us/press-releases/2026/sciex-launches-its-5th-generation-of-nominal-mass-novus-v55-system-with-sciexos-5-0-software</a:t>
            </a:r>
          </a:p>
          <a:p xmlns:a="http://schemas.openxmlformats.org/drawingml/2006/main">
            <a:r>
              <a:t>- https://www.thermofisher.com/us/en/home/industrial/chromatography/liquid-chromatography-lc/hplc-uhplc-systems/vanquish-amplify-uhplc-system.html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https://www.reddit.com/r/CHROMATOGRAPHY/comments/1uk333s/update_uplc_waters_high_pressure_problem/</a:t>
            </a:r>
          </a:p>
          <a:p xmlns:a="http://schemas.openxmlformats.org/drawingml/2006/main">
            <a:r>
              <a:t>- https://www.reddit.com/r/CHROMATOGRAPHY/comments/1h1i93y/waters_acquity_uplc_beh_17_um_21_x_100_mm_column/</a:t>
            </a:r>
          </a:p>
          <a:p xmlns:a="http://schemas.openxmlformats.org/drawingml/2006/main">
            <a:r>
              <a:t>- https://www.reddit.com/r/CHROMATOGRAPHY/comments/1e3y2sy/getting_started_with_empower_3/</a:t>
            </a:r>
          </a:p>
          <a:p xmlns:a="http://schemas.openxmlformats.org/drawingml/2006/main">
            <a:r>
              <a:t>- https://www.labwrench.com/thread/135698/hplc-pump-and-autosampler-preventative-performance-maintenance</a:t>
            </a:r>
          </a:p>
          <a:p xmlns:a="http://schemas.openxmlformats.org/drawingml/2006/main">
            <a:r>
              <a:t>- https://www.reddit.com/r/CHROMATOGRAPHY/comments/1somxpf/waters_acquity_arc_lcms_214_nm_uv_baseline/</a:t>
            </a:r>
          </a:p>
          <a:p xmlns:a="http://schemas.openxmlformats.org/drawingml/2006/main">
            <a:r>
              <a:t>- https://www.reddit.com/r/CHROMATOGRAPHY/comments/xlr4pf/best_uhplc_on_the_market/</a:t>
            </a:r>
          </a:p>
          <a:p xmlns:a="http://schemas.openxmlformats.org/drawingml/2006/main">
            <a:r>
              <a:t>- https://www.reddit.com/r/CHROMATOGRAPHY/comments/1q24noh/reccomendations_for_new_hplc_system_for_routine/</a:t>
            </a:r>
          </a:p>
          <a:p xmlns:a="http://schemas.openxmlformats.org/drawingml/2006/main">
            <a:r>
              <a:t>- https://www.reddit.com/r/CHROMATOGRAPHY/comments/1h6lnr0/agilent_1260_hplc_vs_thermo_vanquish_flex/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https://pubmed.ncbi.nlm.nih.gov/42398371/</a:t>
            </a:r>
          </a:p>
          <a:p xmlns:a="http://schemas.openxmlformats.org/drawingml/2006/main">
            <a:r>
              <a:t>- https://www.shimadzu.com/an/products/liquid-chromatograph-mass-spectrometry/triple-quadrupole-lc-msms/lcms-8065xe/index.html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https://pubmed.ncbi.nlm.nih.gov/?term=%28%28PFAS+OR+%22per-+and+polyfluoroalkyl%22%29+AND+%28%22LC-MS%22+OR+%22LC-MS%2FMS%22+OR+chromatography%29%29+AND+%28%222025%2F07%2F29%22%5BDate+-+Publication%5D+%3A+%222026%2F07%2F29%22%5BDate+-+Publication%5D%29</a:t>
            </a:r>
          </a:p>
          <a:p xmlns:a="http://schemas.openxmlformats.org/drawingml/2006/main">
            <a:r>
              <a:t>- https://sciex.com/about-us/press-releases/2026/sciex-launches-its-5th-generation-of-nominal-mass-novus-v55-system-with-sciexos-5-0-software</a:t>
            </a:r>
          </a:p>
          <a:p xmlns:a="http://schemas.openxmlformats.org/drawingml/2006/main">
            <a:r>
              <a:t>- https://www.shimadzu.com/news/2026/k8iri3_20_z4uvwt.html</a:t>
            </a:r>
          </a:p>
          <a:p xmlns:a="http://schemas.openxmlformats.org/drawingml/2006/main">
            <a:r>
              <a:t>- https://www.thermofisher.com/us/en/home/industrial/chromatography/liquid-chromatography-lc/hplc-uhplc-systems/vanquish-amplify-uhplc-system.html</a:t>
            </a:r>
          </a:p>
          <a:p xmlns:a="http://schemas.openxmlformats.org/drawingml/2006/main">
            <a:r>
              <a:t>- https://pubmed.ncbi.nlm.nih.gov/?term=%28%28%22laboratory+automation%22+OR+%22workflow+software%22+OR+%22AI%22%29+AND+%28%22LC-MS%22+OR+chromatography+OR+%22mass+spectrometry%22%29%29+AND+%28%222025%2F07%2F29%22%5BDate+-+Publication%5D+%3A+%222026%2F07%2F29%22%5BDate+-+Publication%5D%29</a:t>
            </a:r>
          </a:p>
          <a:p xmlns:a="http://schemas.openxmlformats.org/drawingml/2006/main">
            <a:r>
              <a:t>- https://www.agilent.com/about/newsroom/presrel/2026/20may-ca26015.html</a:t>
            </a:r>
          </a:p>
          <a:p xmlns:a="http://schemas.openxmlformats.org/drawingml/2006/main">
            <a:r>
              <a:t>- https://www.perkinelmer.com/corporate-and-newsroom/strategic-partnership-between-covaris-and-hamilton-empowers-labs-with-sonication-star</a:t>
            </a:r>
          </a:p>
          <a:p xmlns:a="http://schemas.openxmlformats.org/drawingml/2006/main">
            <a:r>
              <a:t>- https://pubmed.ncbi.nlm.nih.gov/?term=%28%28oligonucleotide+OR+%22nucleic+acid%22+OR+siRNA%29+AND+%28%22LC-MS%22+OR+chromatography+OR+%22mass+spectrometry%22%29%29+AND+%28%222025%2F07%2F29%22%5BDate+-+Publication%5D+%3A+%222026%2F07%2F29%22%5BDate+-+Publication%5D%29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https://www.bioprocessingsummit.com/</a:t>
            </a:r>
          </a:p>
          <a:p xmlns:a="http://schemas.openxmlformats.org/drawingml/2006/main">
            <a:r>
              <a:t>- https://pubmed.ncbi.nlm.nih.gov/42398371/</a:t>
            </a:r>
          </a:p>
          <a:p xmlns:a="http://schemas.openxmlformats.org/drawingml/2006/main">
            <a:r>
              <a:t>- https://www.shimadzu.com/an/products/liquid-chromatograph-mass-spectrometry/triple-quadrupole-lc-msms/lcms-8065xe/index.html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https://pubmed.ncbi.nlm.nih.gov/?term=%28%28PFAS+OR+%22per-+and+polyfluoroalkyl%22%29+AND+%28%22LC-MS%22+OR+%22LC-MS%2FMS%22+OR+chromatography%29%29+AND+%28%222025%2F07%2F29%22%5BDate+-+Publication%5D+%3A+%222026%2F07%2F29%22%5BDate+-+Publication%5D%29</a:t>
            </a:r>
          </a:p>
          <a:p xmlns:a="http://schemas.openxmlformats.org/drawingml/2006/main">
            <a:r>
              <a:t>- https://sciex.com/about-us/press-releases/2026/sciex-launches-its-5th-generation-of-nominal-mass-novus-v55-system-with-sciexos-5-0-software</a:t>
            </a:r>
          </a:p>
          <a:p xmlns:a="http://schemas.openxmlformats.org/drawingml/2006/main">
            <a:r>
              <a:t>- https://www.shimadzu.com/news/2026/k8iri3_20_z4uvwt.html</a:t>
            </a:r>
          </a:p>
          <a:p xmlns:a="http://schemas.openxmlformats.org/drawingml/2006/main">
            <a:r>
              <a:t>- https://www.thermofisher.com/us/en/home/industrial/chromatography/liquid-chromatography-lc/hplc-uhplc-systems/vanquish-amplify-uhplc-system.html</a:t>
            </a:r>
          </a:p>
          <a:p xmlns:a="http://schemas.openxmlformats.org/drawingml/2006/main">
            <a:r>
              <a:t>- https://pubmed.ncbi.nlm.nih.gov/?term=%28%28%22laboratory+automation%22+OR+%22workflow+software%22+OR+%22AI%22%29+AND+%28%22LC-MS%22+OR+chromatography+OR+%22mass+spectrometry%22%29%29+AND+%28%222025%2F07%2F29%22%5BDate+-+Publication%5D+%3A+%222026%2F07%2F29%22%5BDate+-+Publication%5D%29</a:t>
            </a:r>
          </a:p>
          <a:p xmlns:a="http://schemas.openxmlformats.org/drawingml/2006/main">
            <a:r>
              <a:t>- https://www.agilent.com/about/newsroom/presrel/2026/20may-ca26015.html</a:t>
            </a:r>
          </a:p>
          <a:p xmlns:a="http://schemas.openxmlformats.org/drawingml/2006/main">
            <a:r>
              <a:t>- https://www.perkinelmer.com/corporate-and-newsroom/strategic-partnership-between-covaris-and-hamilton-empowers-labs-with-sonication-star</a:t>
            </a:r>
          </a:p>
          <a:p xmlns:a="http://schemas.openxmlformats.org/drawingml/2006/main">
            <a:r>
              <a:t>- https://pubmed.ncbi.nlm.nih.gov/?term=%28%28oligonucleotide+OR+%22nucleic+acid%22+OR+siRNA%29+AND+%28%22LC-MS%22+OR+chromatography+OR+%22mass+spectrometry%22%29%29+AND+%28%222025%2F07%2F29%22%5BDate+-+Publication%5D+%3A+%222026%2F07%2F29%22%5BDate+-+Publication%5D%29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https://pubmed.ncbi.nlm.nih.gov/?term=%28%28PFAS+OR+%22per-+and+polyfluoroalkyl%22%29+AND+%28%22LC-MS%22+OR+%22LC-MS%2FMS%22+OR+chromatography%29%29+AND+%28%222025%2F07%2F29%22%5BDate+-+Publication%5D+%3A+%222026%2F07%2F29%22%5BDate+-+Publication%5D%29</a:t>
            </a:r>
          </a:p>
          <a:p xmlns:a="http://schemas.openxmlformats.org/drawingml/2006/main">
            <a:r>
              <a:t>- https://www.agilent.com/about/newsroom/presrel/2026/29may-ca26021.html</a:t>
            </a:r>
          </a:p>
          <a:p xmlns:a="http://schemas.openxmlformats.org/drawingml/2006/main">
            <a:r>
              <a:t>- https://www.sec.gov/Archives/edgar/data/1090872/000109087226000055/a-20260430.htm</a:t>
            </a:r>
          </a:p>
          <a:p xmlns:a="http://schemas.openxmlformats.org/drawingml/2006/main">
            <a:r>
              <a:t>- https://www.shimadzu.com/news/2026/k8iri3_20_z4uvwt.html</a:t>
            </a:r>
          </a:p>
          <a:p xmlns:a="http://schemas.openxmlformats.org/drawingml/2006/main">
            <a:r>
              <a:t>- https://sciex.com/about-us/press-releases/2026/sciex-launches-its-5th-generation-of-nominal-mass-novus-v55-system-with-sciexos-5-0-software</a:t>
            </a:r>
          </a:p>
          <a:p xmlns:a="http://schemas.openxmlformats.org/drawingml/2006/main">
            <a:r>
              <a:t>- https://www.bioprocessingsummit.com/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a9aaa08af49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73510bbe374d9c" /><Relationship Type="http://schemas.openxmlformats.org/officeDocument/2006/relationships/slideLayout" Target="/ppt/slideLayouts/slideLayout1.xml" Id="R182da94d29dd45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da94d29dd45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aac83dcac4a37" /><Relationship Type="http://schemas.openxmlformats.org/officeDocument/2006/relationships/notesSlide" Target="/ppt/notesSlides/notesSlide1.xml" Id="R59103bba6ec449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b400d7c744b01" /><Relationship Type="http://schemas.openxmlformats.org/officeDocument/2006/relationships/notesSlide" Target="/ppt/notesSlides/notesSlide2.xml" Id="Rec49611136c84f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921634c9a4aac" /><Relationship Type="http://schemas.openxmlformats.org/officeDocument/2006/relationships/notesSlide" Target="/ppt/notesSlides/notesSlide3.xml" Id="R9fa45cb802834a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7bb2bbfb04e3b" /><Relationship Type="http://schemas.openxmlformats.org/officeDocument/2006/relationships/notesSlide" Target="/ppt/notesSlides/notesSlide4.xml" Id="Rfc52ba964ba141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aa826b7db435c" /><Relationship Type="http://schemas.openxmlformats.org/officeDocument/2006/relationships/notesSlide" Target="/ppt/notesSlides/notesSlide5.xml" Id="R77121125398b42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d678a51ca4135" /><Relationship Type="http://schemas.openxmlformats.org/officeDocument/2006/relationships/notesSlide" Target="/ppt/notesSlides/notesSlide6.xml" Id="R3e44ec4456de42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2c4e922d847c0" /><Relationship Type="http://schemas.openxmlformats.org/officeDocument/2006/relationships/notesSlide" Target="/ppt/notesSlides/notesSlide7.xml" Id="R2d36ad729eaa4c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1407f80b74638" /><Relationship Type="http://schemas.openxmlformats.org/officeDocument/2006/relationships/hyperlink" Target="https://pubmed.ncbi.nlm.nih.gov/?term=%28%28PFAS+OR+%22per-+and+polyfluoroalkyl%22%29+AND+%28%22LC-MS%22+OR+%22LC-MS%2FMS%22+OR+chromatography%29%29+AND+%28%222025%2F07%2F29%22%5BDate+-+Publication%5D+%3A+%222026%2F07%2F29%22%5BDate+-+Publication%5D%29" TargetMode="External" Id="R2868b734d1b4456a" /><Relationship Type="http://schemas.openxmlformats.org/officeDocument/2006/relationships/hyperlink" Target="https://www.agilent.com/about/newsroom/presrel/2026/29may-ca26021.html" TargetMode="External" Id="R181f300f4329426e" /><Relationship Type="http://schemas.openxmlformats.org/officeDocument/2006/relationships/hyperlink" Target="https://www.sec.gov/Archives/edgar/data/1090872/000109087226000055/a-20260430.htm" TargetMode="External" Id="R022ff759e5f8494a" /><Relationship Type="http://schemas.openxmlformats.org/officeDocument/2006/relationships/hyperlink" Target="https://www.shimadzu.com/news/2026/k8iri3_20_z4uvwt.html" TargetMode="External" Id="Rc28be450a1bb46e0" /><Relationship Type="http://schemas.openxmlformats.org/officeDocument/2006/relationships/hyperlink" Target="https://sciex.com/about-us/press-releases/2026/sciex-launches-its-5th-generation-of-nominal-mass-novus-v55-system-with-sciexos-5-0-software" TargetMode="External" Id="R4b0d3c1e7ec241a4" /><Relationship Type="http://schemas.openxmlformats.org/officeDocument/2006/relationships/hyperlink" Target="https://www.bioprocessingsummit.com/" TargetMode="External" Id="Rd675e955205441dc" /><Relationship Type="http://schemas.openxmlformats.org/officeDocument/2006/relationships/notesSlide" Target="/ppt/notesSlides/notesSlide8.xml" Id="R4a21a2ff398942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6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E78AE-DF96-482D-A3FB-7741E069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D76C7-B210-4DD0-A2A9-14B99695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WATERS · NEXT GEN 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62551-AA82-4B2B-861D-87B9B87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Leadership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19AD7-841F-4F21-A1F2-FA5DBEAC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C9D9DB"/>
                </a:solidFill>
                <a:latin typeface="Aptos"/>
                <a:ea typeface="Aptos"/>
                <a:cs typeface="Aptos"/>
              </a:rPr>
              <a:t>Five external signals. Three evidence-gated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5EF65-1BA2-487C-9097-90DF84CE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9D9DB"/>
                </a:solidFill>
                <a:latin typeface="Aptos"/>
                <a:ea typeface="Aptos"/>
                <a:cs typeface="Aptos"/>
              </a:rPr>
              <a:t>A concise executive readout of scientific momentum, competitor moves, customer friction, corporate intent, and the next conference moment.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1E157-E395-4807-B842-FDB51D81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85900"/>
            <a:ext cx="2400300" cy="26479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D4A54"/>
          </a:solidFill>
          <a:ln xmlns:a="http://schemas.openxmlformats.org/drawingml/2006/main" w="9525">
            <a:solidFill>
              <a:srgbClr val="2B62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4FDAA-D0CA-4847-B09E-A1D26D5B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85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DATA CURRENT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26032-9BBC-4807-B608-5AAD23FC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9695A-2BC7-4035-A34A-B7E64579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JUL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DCC1E-B088-4A81-B628-06F87623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1950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6935C-0147-4C34-BE4F-CF53C9D3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52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D9DB"/>
                </a:solidFill>
                <a:latin typeface="Aptos"/>
                <a:ea typeface="Aptos"/>
                <a:cs typeface="Aptos"/>
              </a:rPr>
              <a:t>PUBLIC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B886D-7AB3-4B90-801E-559908FF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9DB"/>
                </a:solidFill>
                <a:latin typeface="Aptos"/>
                <a:ea typeface="Aptos"/>
                <a:cs typeface="Aptos"/>
              </a:rPr>
              <a:t>Prepared for roadmap review · waters-ci-20260729231947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1C111-3744-4F9E-A8C1-3D4A9751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531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9349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0A25D-3D47-4110-B4B7-9F9468D9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D41BD-F922-4C8B-A1A2-9E0F7F79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Leadership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123E9-3E2B-4EC3-986A-E4AAB6A8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The strongest cross-page pattern is not a single specification—it is proof that the full workflow is easier to execute, transfer, and troubleshoot.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CA41F-5726-429A-B2F9-9CE83E93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D0E18-F415-4B62-B6AC-F50D82CE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1163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53640"/>
          </a:solidFill>
          <a:ln xmlns:a="http://schemas.openxmlformats.org/drawingml/2006/main" w="9525">
            <a:solidFill>
              <a:srgbClr val="1536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BD06C-25E5-408F-A02F-5C5AA56C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LEADERSHIP IMPLICATION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0D324-3AAF-4445-8E3F-530E5255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621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 new requirements against workflow proof, not feature parity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17D12-AE6C-4DFE-BF44-4672A5D6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3718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33B24-DEE7-4525-88A0-F5F9B7E4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D9605-A6CA-4020-9C65-649EE070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1,139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2DED4-147C-4B27-BCF0-F90F7B23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Automation and software workflow publications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99597-9E5B-41B9-BD6B-C27C087D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Scientific activity in the last year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911E7-F212-4BCB-892A-BF7D1574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43250"/>
            <a:ext cx="33718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C4DE8-037C-45F5-AD81-3266677E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4325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F3AA8-9667-474E-9537-C72CF733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290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333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2D400-BB93-43B6-86D8-4F23DB75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957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PFAS and contaminant-testing publications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E2134-56B6-4540-9ED6-08F269AE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291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Current regulated-testing activity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BF9AC-219F-454B-8E00-EC22CDCF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718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8A305-930F-4631-B854-B4388575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1764A-C77C-4411-9145-5A973B76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665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57698-5ABB-4FE1-9FB6-33C7B603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Oligonucleotide and nucleic-acid publications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61B6D-6947-43D3-AA33-FF86C8EC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291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Substantial application evidence 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06FE9A-3737-4792-B8F8-3C8365D9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864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A3A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A3A42"/>
                </a:solidFill>
                <a:latin typeface="Aptos"/>
                <a:ea typeface="Aptos"/>
                <a:cs typeface="Aptos"/>
              </a:rPr>
              <a:t>Waters business exposure remains UNQUANTIFIED pending installed-base, pipeline, win/loss, and engineering-effort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3AF3D6-9A95-45AA-99AF-4506FD46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29 JUL 2026 · waters-ci-20260729231947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918871-8CD3-4576-B741-ED7E2BFA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925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CE2D6C-E667-45E3-8100-C64F8C96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8E97F-4123-4183-B31F-591752AF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Five signals now shape the roadmap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86297-EC0E-4A06-80E5-D6200393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Each signal comes from a different evidence class; together they show why leadership attention is warranted.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37EBC-9960-41D0-92C9-F361E335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0BE6D-3C69-4EE9-8EDA-42B7F7F9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15FAE-3F16-4C2C-A2E1-ACC67655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B215A-9889-45E7-BDC0-F06B33ED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0B1DC-69BC-4F21-A6EE-FFA5A063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193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SCIENTIFIC MARKET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FE2F5-AE4C-4E63-A735-21A4EBDB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669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PFAS activity remains substantial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C6A45-59DC-4FB8-9D4E-565A24A8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333 records; Waters exposure unquantified.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A417A-0533-40B5-BCC0-C1BCFD97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574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4AD0B-3CC1-40F5-A131-511D7D0A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28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C00"/>
          </a:solidFill>
          <a:ln xmlns:a="http://schemas.openxmlformats.org/drawingml/2006/main" w="9525">
            <a:solidFill>
              <a:srgbClr val="D58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82464-B5B3-42CF-B1E2-A3A705CF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EA46E-B6D5-4A9E-8399-AEBCC5CA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193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COMPETITOR LAUNCH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35CA0-4A2D-4BEC-AC03-D087D6DF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669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Agilent is packaging LC/TOF into MAM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82A14-39BD-4576-A825-2BF156E3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Observed issuer evidence; Waters exposure unquantified.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797F6-5B1F-42A7-A0A1-AE0F821E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B7980-144C-4203-BC1C-723DF9CC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CF50B-4F21-4911-9395-E6F78164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55BD6-188B-4683-B4C0-4EAD6BF5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814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CUSTOMER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DBE5E-45E2-454F-8F86-CB78C72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290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Troubleshooting requires internal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12878-C01D-4CDD-87BD-766FA414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Public forum evidence is directional; recurrence and business impact are unquantified.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D8908-839B-4547-BED9-4F2E0921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43D29-7D97-4D18-A835-A9DDA41E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90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C00"/>
          </a:solidFill>
          <a:ln xmlns:a="http://schemas.openxmlformats.org/drawingml/2006/main" w="9525">
            <a:solidFill>
              <a:srgbClr val="D58C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B2F1E-31CC-4519-81B3-E7C975A3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852ECD-B6AE-41E5-8F5D-CA81A50A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814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CORPORATE INTENT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CEBFA3-A95A-4E70-BEB9-67AF3442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290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Agilent calls LC and LC-MS growth engines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A5645D-ACC1-4942-90D6-2CF56DC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958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Direct issuer filing; no independent external corroboration.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BC496-7DA6-476C-B9C7-0D27F2B7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1816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BC58E4-A214-44B5-9E5C-735450BF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353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E7BE86-E7E7-4AE4-981F-1807B265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429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4041F5-C2B8-4EA6-856B-11E5BD90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3435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CONFERENCE MOMENT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7410EC-6659-4745-85A3-62C7CD06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911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Bioprocessing Summit begins Aug 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35DD93-4F5F-490B-AAEE-56F408AF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0579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Observed agenda and sponsor facts; Waters exposure unquantified.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DDD325-E053-4C22-A627-845A08D3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29 JUL 2026 · waters-ci-20260729231947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BE8FDB-3ED8-4541-B729-CFBC9CE0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990516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B953A9-AB98-48C6-9F38-9CF46493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27806-7AD4-457A-8566-1DC8CE1F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 competitor actions suggest workflow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19A84-287C-4255-B1FF-F31CCF84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 confidence is Directional: each company view lacks two independently corroborating source families.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03381-A8FC-40CF-8367-29A56B20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FA54F-93B3-4D6A-B456-DB4D7EB6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52768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E88D3-2536-4C37-B54B-35FD64F0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CB3E8-6662-4663-B6D9-6386FB7B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SHIMADZU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B7CD1-3BB1-4FCE-972C-87E2A8C4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764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03 Mar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8E531-D406-4BC0-8402-3DDCE7C9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Observed: Nexera X4 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84F03-E94D-469F-BEB1-F4F21A66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Inference: productivity-led LC positioning. Alternative: normal platform refresh.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E7A22-7BDD-433F-8FF8-60714184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2768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FC01D-95E4-409F-A1BA-B865B63C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C00"/>
          </a:solidFill>
          <a:ln xmlns:a="http://schemas.openxmlformats.org/drawingml/2006/main" w="0">
            <a:solidFill>
              <a:srgbClr val="D58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CFE1F-494B-4B3F-8D1C-BA1C2DA4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764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AGILENT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02361-6738-42EE-92A0-9CA827F8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764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03 Jun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413C0-B9A6-4B10-A676-45EC64C2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622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Observed: 6230C LC/TOF in MAM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DB98F-AEB2-41F1-8D80-67B7AECB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14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Inference: application-specific workflow packaging. Alternative: campaign positioning.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546F1-B9BA-475B-90D9-F8CD762C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52768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87716-37D0-435C-9C3A-BA94680A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19A8E-6F55-4647-A399-219E4BD2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SCIEX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1293F-713F-4198-ABC5-48E32B32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195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01 Jun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C1393-DB95-4C81-AF14-E71DC1F7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Observed: novus V55 + SCIEX OS 5.0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8E99D-F6BA-4DAC-93B7-E76A184E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Inference: software-led nominal-mass offer; this does not verify broader HRMS depth.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6D458-9344-4AC7-8CD8-AF338C3B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52768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D0B4A-9C0B-4326-AD99-C1BDCB1D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C00"/>
          </a:solidFill>
          <a:ln xmlns:a="http://schemas.openxmlformats.org/drawingml/2006/main" w="0">
            <a:solidFill>
              <a:srgbClr val="D58C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8FB4E4-64E6-4676-8C82-29091642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95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THERMO FISHER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BAEF6-A1F2-49A4-A5CE-4D160C04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195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CURRENT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5611B0-AE18-4AE5-891E-DF43EDE8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053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Observed: Vanquish Amplify product page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4A6853-61D9-484F-B3B4-75181D4B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577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Inference: inert biopharma workflow packaging. Alternative: portfolio positioning.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8A5E9C-5A1A-4AB7-8C22-FA01ECDC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29 JUL 2026 · waters-ci-20260729231947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2E9E48-93EC-449F-AE58-3288AA5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0469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B7174-6C64-48EE-B313-76786FF0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577E4-DCC5-4362-94B4-E97D91A3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Customer evidence is a validation input—not a prevalence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E4858-0B21-44AA-AA3F-CF338DA0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Forum evidence is promoted to leadership only when at least three independent sources support the same theme.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A5138-6A15-4128-A68B-BA2AB8CD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87FC9-0F99-4D67-849B-F7BAF867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43243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53640"/>
          </a:solidFill>
          <a:ln xmlns:a="http://schemas.openxmlformats.org/drawingml/2006/main" w="9525">
            <a:solidFill>
              <a:srgbClr val="1536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71C9A-DD35-4D48-B738-DE3C47F1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DIRECTIONAL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64FE6-B0D3-4B61-A79A-B8E8E14A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D9DB"/>
                </a:solidFill>
                <a:latin typeface="Aptos"/>
                <a:ea typeface="Aptos"/>
                <a:cs typeface="Aptos"/>
              </a:rPr>
              <a:t>PUBLIC CUSTOMER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CAE69-64D9-489A-AEC4-646A55A4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Leadership threshold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4B218-0A83-4512-89D8-70C58117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333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3+ independent sources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plus internal field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37D0A-4D15-4298-BC7B-ABD792E8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65341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D1E0D-5668-4F5F-9FD4-E90AFA5A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193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WHAT LEADERS SHOULD TAKE FROM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74149-6030-4428-AF93-AF36DE06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813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Do not infer product weakness from one complaint.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6992B-9157-4521-AF91-961AB7DC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00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Before adding requirements, validate: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47919-70C7-4B82-9FE9-B439D4E6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19550"/>
            <a:ext cx="552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1. Which failure modes repeat across customer and field records</a:t>
            </a:r>
          </a:p>
          <a:p xmlns:a="http://schemas.openxmlformats.org/drawingml/2006/main">
            <a:pPr algn="l">
              <a:defRPr sz="1350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2. How long users take to isolate and recover from them</a:t>
            </a:r>
          </a:p>
          <a:p xmlns:a="http://schemas.openxmlformats.org/drawingml/2006/main">
            <a:pPr algn="l">
              <a:defRPr sz="1350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3. Whether guided diagnostics materially shorten that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A2A5A-578D-423D-9F85-1F4EFA4A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57800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A3A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A3A42"/>
                </a:solidFill>
                <a:latin typeface="Aptos"/>
                <a:ea typeface="Aptos"/>
                <a:cs typeface="Aptos"/>
              </a:rPr>
              <a:t>Business impact: UNQUANTIFIED — installed-base, pipeline, field recurrence and effort are required.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86D53-D47E-464C-9AF0-59B45D74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29 JUL 2026 · waters-ci-20260729231947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17090-8748-479B-B22A-44086F86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3902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4E10DC-E65D-4914-A7B0-CB45A72B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A2753-4B6D-45BE-A44C-DE64050D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8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Three decisions are evidence-prioritized; business impact is unquantified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A88CA-4E14-40C8-9EF0-C5F40BC7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The evidence-priority score ranks public signals; it does not quantify revenue, customer value, or engineering effort.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37FD7-1161-43D0-9BF8-6C4DAB39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E1ECE-626F-41F4-804C-AFC7DAC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3409950" cy="358140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8C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4E142-4677-4D6F-BF64-F91AD19D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3409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C00"/>
          </a:solidFill>
          <a:ln xmlns:a="http://schemas.openxmlformats.org/drawingml/2006/main" w="0">
            <a:solidFill>
              <a:srgbClr val="D58C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3B232-4A72-4104-8204-BE89D8E9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DUE AUGUST 7,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B5D69-0646-4B3E-AFAE-E39B9579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EVIDENCE-PRIORITY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FCB1B-901A-44A4-878C-202D2A9D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51/100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8A5B7-3C46-49F6-B738-0934E6EC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A3A4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A3A42"/>
                </a:solidFill>
                <a:latin typeface="Aptos"/>
                <a:ea typeface="Aptos"/>
                <a:cs typeface="Aptos"/>
              </a:rPr>
              <a:t>BUSINESS IMPACT · UNQUANTIFIED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818B5-C9E4-4BBC-A7C6-F39032D3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Decide whether to package a PFAS-ready regulated quantitation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AC5A0-9A58-4956-8E27-E61A8DEB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0837D-AEEF-4C27-8C9F-4DCE3557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OWNER · Product Management and Applications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04DB2-F27F-4C2A-97B0-67CB3292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FINAL GO / NO-GO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C00C6-DB34-4C21-9FA0-E9AEA361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299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One recommendation: package, build, partner, monitor, or stop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E455F-A9EE-41A2-BC40-32B2CC4A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52650"/>
            <a:ext cx="3409950" cy="358140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58E91-20E7-460C-BE71-AD414D2C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52650"/>
            <a:ext cx="3409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834F5-1D7E-4EE2-8217-ECF6319F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812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DUE AUGUST 14,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99B8B-8950-415A-B9C5-78A84379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9557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EVIDENCE-PRIORITY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20C3B-320B-43C0-9915-058B9743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956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65/100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8E063-3658-4DC1-9F8B-1D27D2F7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76600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A3A4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A3A42"/>
                </a:solidFill>
                <a:latin typeface="Aptos"/>
                <a:ea typeface="Aptos"/>
                <a:cs typeface="Aptos"/>
              </a:rPr>
              <a:t>BUSINESS IMPACT · UNQUANTIFIED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290D5-AD31-46EE-B60B-431955B5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718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Decide whether Next Gen LC and Alliance iS need new end-to-end workflow requirements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2C39D-D2E1-4CD1-AECE-C274603E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6720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F01D6D-D155-471F-81EE-05A392E3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410075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OWNER · LC Platform PM and Software Lead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7DD326-C206-45B2-9161-B4A665A0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05350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FINAL GO / NO-GO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1154BE-A70F-4C36-84FE-275A0C65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33950"/>
            <a:ext cx="299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One recommendation: build, package existing capabilities, reposition, or stop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388391-C9C5-4CB4-975A-126C7A5D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409950" cy="358140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B62768-DF26-4F10-9F8A-936C6379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409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4057C3-6DCF-46FF-8658-5D54E90B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DUE AUGUST 21,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0F2C58-819C-40CE-8C65-7C26C44A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9557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EVIDENCE-PRIORITY SCORE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75A0E6-4446-42C1-8024-0A85B9E6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56/100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8B5FCA-1726-4B74-827B-3FAAA03A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A3A4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A3A42"/>
                </a:solidFill>
                <a:latin typeface="Aptos"/>
                <a:ea typeface="Aptos"/>
                <a:cs typeface="Aptos"/>
              </a:rPr>
              <a:t>BUSINESS IMPACT · UNQUANTIFIED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046F10-F78F-4CB5-8454-B30B7D40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Decide whether Next Gen LC needs an oligonucleotide method-readiness package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ACD905-09C0-4BE0-9E7B-A9E25A08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9E14E3-F043-456A-B475-6E381B7B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0075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OWNER · Biopharma Applications and Next Gen LC PM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C2F409-A490-4037-8926-371CDFE3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05350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FINAL GO / NO-GO OUTPUT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0AADA4-37E9-46AA-B54E-734D8B9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33950"/>
            <a:ext cx="299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One recommendation: package, build, partner, monitor, or stop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E84E68-E7F1-4498-8F9A-94B712D8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29 JUL 2026 · waters-ci-20260729231947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7D0C30-AC96-4FBD-93CB-122C58D5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5680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723202-76FB-411F-95B4-A923699F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DD868-E1AE-4A03-B91E-4E8995FC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Close the evidence gaps before adding roadmap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BEA80-656F-4EDA-86CA-A2178C73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Use the next 30 days to sequence dated deliverables around the conference moment.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0BC14-2F50-40B2-B769-3A3A6C4A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BB827-4978-4AFE-91AA-3F98BFFA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6705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D8502-1224-4043-B150-8407BD22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C00"/>
          </a:solidFill>
          <a:ln xmlns:a="http://schemas.openxmlformats.org/drawingml/2006/main" w="9525">
            <a:solidFill>
              <a:srgbClr val="D58C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ECC9E-8B51-452D-8400-65AC30C6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07 AUG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EE20A-CE72-4F54-88AF-398ED15E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PFAS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14C3F-CFB4-4969-BC19-834EA5E6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Complete claims matrix and make the package go/no-go.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72993-DE10-4A5C-BB48-1D78822C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B9686-54CE-4907-AA91-5AEFB7AD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766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10 AUG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55B7C-799D-4741-A99B-B9D43AA7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Conference moment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BC34B-BF32-4C98-99D6-94758FA9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1485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Lead with MAM, complex modalities and transfer proof.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C1740-15A0-478D-B714-E523B19A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7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71FA2-5F5A-4AFF-B064-25F57DB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766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14 AUG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54B5A-7DCF-467B-AB7E-F6D26897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Workflow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65961-A893-4B07-9686-ADEB9E2A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Choose build, package, reposition, or stop.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CE430-40BB-40FC-8784-CA291BD2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57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B2C56-CBB0-4E44-ADE1-277E50F3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766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21 AUG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BF9FF7-E722-4B7A-AA29-A6319AFB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052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Oligo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0D7F1-B7FA-41A8-A538-69480DD0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1485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Choose package, build, partner, monitor, or stop.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E781D-A75D-4EEB-A3D6-DA625A35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67350"/>
            <a:ext cx="8839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53640"/>
          </a:solidFill>
          <a:ln xmlns:a="http://schemas.openxmlformats.org/drawingml/2006/main" w="9525">
            <a:solidFill>
              <a:srgbClr val="1536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4DF81-4C5D-45C0-B9A7-BA20A9F3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0070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3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Gate roadmap capacity on repeated customer-visible evidence plus quantified benefit and engineering effort.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617E2-AED9-4F29-9D2F-E2D4526F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29 JUL 2026 · waters-ci-20260729231947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459B0-4C72-407A-8E62-E785A59D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39507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9BF4CF-1230-4428-9A22-4D715CF6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F213F-72CB-4148-AC56-73AA3A84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Primary sources behind the leadership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7E9C9-9704-4974-A1C8-2D02152B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Direct public evidence is kept separate from inference; publication counts are contextual signals, not market-size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7B8F5-ADCA-4718-9201-02EEEE13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5D09D-3EF9-4D34-A454-5480C333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AD6BD-A9D9-4EE7-8BFD-8E8112DA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SCIENTIFIC 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D541B-FF1A-4237-8417-0DA269A7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76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PubMed · PFAS / LC-MS query</a:t>
            </a:r>
          </a:p>
        </p:txBody>
      </p:sp>
      <p:sp>
        <p:nvSpPr>
          <p:cNvPr id="8" name="">
            <a:hlinkClick xmlns:r="http://schemas.openxmlformats.org/officeDocument/2006/relationships" xmlns:a="http://schemas.openxmlformats.org/drawingml/2006/main" r:id="R2868b734d1b4456a"/>
            <a:extLst xmlns:a="http://schemas.openxmlformats.org/drawingml/2006/main">
              <a:ext uri="{FF2B5EF4-FFF2-40B4-BE49-F238E27FC236}">
                <a16:creationId xmlns:a16="http://schemas.microsoft.com/office/drawing/2014/main" id="{1BF93EB5-BDA9-4186-8685-C800BA34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714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https://pubmed.ncbi.nlm.nih.gov/?term=%28%28PFAS+OR+%22per-+and+polyfluoroalkyl%22%29+AND+%28%22LC-MS%22+OR+%22LC-MS%2FMS%22+OR+chromatography%29%29+AND+%28%222025%2F07%2F29%22%5BDate+-+Publication%5D+%3A+%222026%2F07%2F29%22%5BDate+-+Publication%5D%29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411B2-7385-4B28-BDD3-AAB83FF9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23394-9F32-4981-BF1C-EEE81D38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6261E-529D-48BE-BF77-CF63E451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AGILENT LAUNCH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DFE77-0123-42EC-8B01-E3ACD595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6230C LC/TOF in MAM workflow</a:t>
            </a:r>
          </a:p>
        </p:txBody>
      </p:sp>
      <p:sp>
        <p:nvSpPr>
          <p:cNvPr id="13" name="">
            <a:hlinkClick xmlns:r="http://schemas.openxmlformats.org/officeDocument/2006/relationships" xmlns:a="http://schemas.openxmlformats.org/drawingml/2006/main" r:id="R181f300f4329426e"/>
            <a:extLst xmlns:a="http://schemas.openxmlformats.org/drawingml/2006/main">
              <a:ext uri="{FF2B5EF4-FFF2-40B4-BE49-F238E27FC236}">
                <a16:creationId xmlns:a16="http://schemas.microsoft.com/office/drawing/2014/main" id="{7A80753C-CBFB-48C8-B792-A69919E3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https://www.agilent.com/about/newsroom/presrel/2026/29may-ca26021.html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8595C-8B30-4507-8674-CC1652E9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609BA-716A-4664-BDB0-DF9954EA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FCC8A-C4EB-4883-96AB-D95A7A1D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AGILENT FILING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37EA4-17A7-4522-B9FA-7D343B54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71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Issuer-reported LC / LC-MS growth</a:t>
            </a:r>
          </a:p>
        </p:txBody>
      </p:sp>
      <p:sp>
        <p:nvSpPr>
          <p:cNvPr id="18" name="">
            <a:hlinkClick xmlns:r="http://schemas.openxmlformats.org/officeDocument/2006/relationships" xmlns:a="http://schemas.openxmlformats.org/drawingml/2006/main" r:id="R022ff759e5f8494a"/>
            <a:extLst xmlns:a="http://schemas.openxmlformats.org/drawingml/2006/main">
              <a:ext uri="{FF2B5EF4-FFF2-40B4-BE49-F238E27FC236}">
                <a16:creationId xmlns:a16="http://schemas.microsoft.com/office/drawing/2014/main" id="{9931ECA3-9C63-46C1-8472-DB8228ED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https://www.sec.gov/Archives/edgar/data/1090872/000109087226000055/a-20260430.htm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2E669-FD5C-4687-9A59-C2E6C27C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3AE37-C2C4-4857-9FF6-C19E8BED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ADE63-9435-4452-AC15-DFF1C229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SHIMADZU LAUNCH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37E7A-A847-43E7-8796-693A5A28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19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Nexera X4 UHPLC</a:t>
            </a:r>
          </a:p>
        </p:txBody>
      </p:sp>
      <p:sp>
        <p:nvSpPr>
          <p:cNvPr id="23" name="">
            <a:hlinkClick xmlns:r="http://schemas.openxmlformats.org/officeDocument/2006/relationships" xmlns:a="http://schemas.openxmlformats.org/drawingml/2006/main" r:id="Rc28be450a1bb46e0"/>
            <a:extLst xmlns:a="http://schemas.openxmlformats.org/drawingml/2006/main">
              <a:ext uri="{FF2B5EF4-FFF2-40B4-BE49-F238E27FC236}">
                <a16:creationId xmlns:a16="http://schemas.microsoft.com/office/drawing/2014/main" id="{C233C111-31C3-4CA3-892F-FA7EA785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https://www.shimadzu.com/news/2026/k8iri3_20_z4uvwt.html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3CA869-34CF-4B3B-BAC1-4EB9A8AA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C705BE-144B-4908-B4A8-B389DA28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F0653-8AC1-4C1D-A9BA-D0FA15CE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SCIEX LAUNCH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C0B7CD-9497-4C65-9761-FA08DE08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novus V55 with SCIEX OS 5.0</a:t>
            </a:r>
          </a:p>
        </p:txBody>
      </p:sp>
      <p:sp>
        <p:nvSpPr>
          <p:cNvPr id="28" name="">
            <a:hlinkClick xmlns:r="http://schemas.openxmlformats.org/officeDocument/2006/relationships" xmlns:a="http://schemas.openxmlformats.org/drawingml/2006/main" r:id="R4b0d3c1e7ec241a4"/>
            <a:extLst xmlns:a="http://schemas.openxmlformats.org/drawingml/2006/main">
              <a:ext uri="{FF2B5EF4-FFF2-40B4-BE49-F238E27FC236}">
                <a16:creationId xmlns:a16="http://schemas.microsoft.com/office/drawing/2014/main" id="{4A552D66-AEFB-4B90-ABFC-0A9D84D9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https://sciex.com/about-us/press-releases/2026/sciex-launches-its-5th-generation-of-nominal-mass-novus-v55-system-with-sciexos-5-0-software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778903-4B37-4856-AC24-04066072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EA226B-08F2-48D4-94A8-60A7989F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914B5D-8B2F-4F73-9136-45B6E175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CONFERENCE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E09BCF-FAAC-490E-B3D3-7E10C2DC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14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Bioprocessing Summit US 2026</a:t>
            </a:r>
          </a:p>
        </p:txBody>
      </p:sp>
      <p:sp>
        <p:nvSpPr>
          <p:cNvPr id="33" name="">
            <a:hlinkClick xmlns:r="http://schemas.openxmlformats.org/officeDocument/2006/relationships" xmlns:a="http://schemas.openxmlformats.org/drawingml/2006/main" r:id="Rd675e955205441dc"/>
            <a:extLst xmlns:a="http://schemas.openxmlformats.org/drawingml/2006/main">
              <a:ext uri="{FF2B5EF4-FFF2-40B4-BE49-F238E27FC236}">
                <a16:creationId xmlns:a16="http://schemas.microsoft.com/office/drawing/2014/main" id="{2CE55E3D-F376-4873-9CC7-CE2F9EBD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https://www.bioprocessingsummit.com/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3E313C-E3A5-49B3-AA45-6A2702FF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1163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3D4"/>
          </a:solidFill>
          <a:ln xmlns:a="http://schemas.openxmlformats.org/drawingml/2006/main" w="9525">
            <a:solidFill>
              <a:srgbClr val="FFF3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4231F1-04CC-4C31-B63B-6BA6E70A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56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5600"/>
                </a:solidFill>
                <a:latin typeface="Aptos"/>
                <a:ea typeface="Aptos"/>
                <a:cs typeface="Aptos"/>
              </a:rPr>
              <a:t>Snapshot: waters-ci-20260729231947 · As of 2026-07-29T23:19:47 · Business magnitude requires Waters internal data.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0C17F2-F230-4C23-A974-E1FE545C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29 JUL 2026 · waters-ci-20260729231947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7FAD1F-DAA1-4FFD-9AB3-876B064A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61179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2026-07-30T04:26:29.0880000Z</dcterms:created>
  <dcterms:modified xsi:type="dcterms:W3CDTF">2026-07-30T04:26:29.0880000Z</dcterms:modified>
</coreProperties>
</file>