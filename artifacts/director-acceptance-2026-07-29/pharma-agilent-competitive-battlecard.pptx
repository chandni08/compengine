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1. Reddit discussion: New HPLC system for routine work: https://www.reddit.com/r/CHROMATOGRAPHY/comments/1q24noh/reccomendations_for_new_hplc_system_for_routine/
2. Reddit discussion: Agilent 1260 HPLC versus Thermo Vanquish Flex: https://www.reddit.com/r/CHROMATOGRAPHY/comments/1h6lnr0/agilent_1260_hplc_vs_thermo_vanquish_flex/
3. Waters proof point 2: https://ir.waters.com/News--Events/newsroom/news-details/2021/Waters-BioAccord-System-with-ACQUITY-Premier-Brings-Greater-Simplicity-Accuracy-and-Reproducibility-to-Multi-Attribute-Monitoring-of-Biopharmaceuticals/default.aspx
4. Automated LC/MS Quality Control of Anti-Sense Oligonucleotides: https://www.agilent.com/en/product/software-informatics/chromatography-software/chromatography-add-on/oligo-analysis-accelerator-for-openlab-cds
5. Enhanced Data Quality in LC-MS/MS Analysis of Nitrosamines: https://www.agilent.com/cs/library/applications/an-infinitylab-quick-change-nitrosamines-analysis-lc-ms-ms-5994-9264en-agilent.pdf
6. Drug Metabolite Identification with a Streamlined Software Workflow: https://www.agilent.com/en/product/liquid-chromatography-mass-spectrometry-lc-ms/lc-ms-instruments/quadrupole-time-of-flight-lc-ms/revident-lc-q-tof
7. Pesticide Screening with Fast Polarity Switching Using Agilent Revident LC/Q-TOF: https://www.agilent.com/cs/library/applications/an-pesticide-screening-revident-lc-qtof-5994-8751en-agilent.pdf
8. 6230C LC/TOF Mass Spectrometer in MAM workflow: https://www.agilent.com/about/newsroom/presrel/2026/29may-ca26021.html
9. 1290 Infinity III Fluorescence Detector: https://www.agilent.com/about/newsroom/presrel/2026/21may-ca26016.html
10. Linear dynamic range: https://www.agilent.com/en/product/liquid-chromatography-mass-spectrometry-lc-ms/lc-ms-instruments/time-of-flight-lc-ms/6230-time-of-flight-tof-lc-ms
11. IMSC 2026 competitor evidence: https://www.shimadzu.eu/news-events/2026/IMSC.html
12. Lab of the Future Europe competitor evidence: https://www.agilent.com/about/newsroom/presrel/2026/28may-ca26020.html
13. A direct SPE clean-up after protein precipitation methodology to remove endogenous steroid sulfate MRM interferences for PFAS analysis of serum samples by isotope dilution LC-MS/MS: https://pubmed.ncbi.nlm.nih.gov/42398371/
14. Agilent to Announce Third-Quarter Fiscal Year 2026 Financial Results on Aug. 26: https://www.agilent.com/about/newsroom/presrel/2026/28jul-gp26015.html
15. Agilent Receives EU Approval for PD-L1 IHC 22C3 pharmDx in Epithelial Ovarian, Fallopian Tube, or Primary Peritoneal Carcinoma: https://www.agilent.com/about/newsroom/presrel/2026/23jul-ca26027.html
16. Reddit discussion: UPLC Waters high-pressure problem: https://www.reddit.com/r/CHROMATOGRAPHY/comments/1uk333s/update_uplc_waters_high_pressure_problem/
17. Reddit discussion: compatibility between Waters and Agilent testing methods: https://www.reddit.com/r/CHROMATOGRAPHY/comments/1tk17h8/how_to_solve_the_problem_of_compatibility_between/
18. Reddit discussion: Waters ACQUITY Arc LCMS UV baseline oscillations: https://www.reddit.com/r/CHROMATOGRAPHY/comments/1somxpf/waters_acquity_arc_lcms_214_nm_uv_baseline/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eddit.com/r/CHROMATOGRAPHY/comments/1q24noh/reccomendations_for_new_hplc_system_for_routine/" TargetMode="External"/><Relationship Id="rId2" Type="http://schemas.openxmlformats.org/officeDocument/2006/relationships/hyperlink" Target="https://www.reddit.com/r/CHROMATOGRAPHY/comments/1h6lnr0/agilent_1260_hplc_vs_thermo_vanquish_flex/" TargetMode="External"/><Relationship Id="rId3" Type="http://schemas.openxmlformats.org/officeDocument/2006/relationships/hyperlink" Target="https://ir.waters.com/News--Events/newsroom/news-details/2021/Waters-BioAccord-System-with-ACQUITY-Premier-Brings-Greater-Simplicity-Accuracy-and-Reproducibility-to-Multi-Attribute-Monitoring-of-Biopharmaceuticals/default.asp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73F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One-Page Competitive Battlecard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Pharma · Agilent · Platform replacement, workflow modernization, or method-transfer evaluation where operational continuity and compliance risk shape the decision.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92640" y="3474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B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— NOT APPROVED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 rot="19500000">
            <a:off x="960120" y="260604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45B5B">
                    <a:alpha val="28000"/>
                  </a:srgb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DRAFT — NOT APPROVED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35331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GOVERNING POSITION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627632"/>
            <a:ext cx="35204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Gen LC should help laboratories execute reliable, transferable, compliant analytical workflows—not merely compete on UHPLC hardwa…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of difference: Differentiate on reducing workflow risk across method transfer, reliable routine execution, compliant operation,…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15968" y="135331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7B4F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RESPONSE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15968" y="1627632"/>
            <a:ext cx="35204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Gen LC should help laboratories execute reliable, transferable, compliant analytical workflows—not merely compete on UHPLC hardware specifications. Proposed — not approved: a…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10728" y="135331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A2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/ APPROVAL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10728" y="1627632"/>
            <a:ext cx="35204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Gen LC should help laboratories execute reliable, transferable, compliant analytical workflows—not merely compete on UHPLC hardware specificatio…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" y="312724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MESSAGES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3401568"/>
            <a:ext cx="35204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 user / analyst: Proposed — not approved: Make reliable routine execution and faster issue isolation concrete in the user's actual method a…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 developer: Proposed — not approved: Position Next Gen LC around transferable methods with explicit equivalency boundaries and migration s…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15968" y="312724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8A64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OBJECTION HANDLING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15968" y="3401568"/>
            <a:ext cx="35204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Troubleshooting burden around leaks, pressure stability, and repeat root-cause isolation Response: Proposed — not approved: Make reliable routine execution and faster issue isolation concre…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10728" y="312724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2C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/ CAVEATS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10728" y="3401568"/>
            <a:ext cx="35204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synthesized from public records; not a verbatim customer statement or approved Waters claim.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IMSC 2026: participation may be confirmed, but the specific competitor message or session is expected — not confirmed.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0352" y="4498848"/>
            <a:ext cx="7306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A2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UNSUPPORTED WARNINGS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" y="4773168"/>
            <a:ext cx="7306056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or more included claims have no established legal/claims approval. The output must remain DRAFT — NOT APPROVED.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included claim is Unsupported after compatibility review.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evidence record is Inapplicable and cannot be used as proof.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10728" y="449884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5E4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WORKFLOW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10728" y="4773168"/>
            <a:ext cx="35204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Owner: Owner needed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Due date: Deadline needed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Status: Draft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measure: Measure needed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" y="61996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Reddit discussion: New HPLC system for routine work </a:t>
            </a:r>
            <a:pPr indent="0" marL="0">
              <a:buNone/>
            </a:pPr>
            <a:r>
              <a:rPr lang="en-US" sz="850" u="sng" dirty="0">
                <a:solidFill>
                  <a:srgbClr val="1769AA"/>
                </a:solidFill>
                <a:uFill>
                  <a:solidFill>
                    <a:srgbClr val="1769AA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https://www.reddit.com/r/CHROMATOGRAPHY/comments/1q24noh/reccomendations_for_new_hplc_system_for_routine/</a:t>
            </a:r>
            <a:pPr indent="0" marL="0">
              <a:buNone/>
            </a:pPr>
            <a:r>
              <a:rPr lang="en-US" sz="850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pPr indent="0" marL="0">
              <a:buNone/>
            </a:pPr>
            <a:r>
              <a:rPr lang="en-US" sz="850" b="1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Reddit discussion: Agilent 1260 HPLC versus Thermo Vanquish Flex </a:t>
            </a:r>
            <a:pPr indent="0" marL="0">
              <a:buNone/>
            </a:pPr>
            <a:r>
              <a:rPr lang="en-US" sz="850" u="sng" dirty="0">
                <a:solidFill>
                  <a:srgbClr val="1769AA"/>
                </a:solidFill>
                <a:uFill>
                  <a:solidFill>
                    <a:srgbClr val="1769AA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https://www.reddit.com/r/CHROMATOGRAPHY/comments/1h6lnr0/agilent_1260_hplc_vs_thermo_vanquish_flex/</a:t>
            </a:r>
            <a:pPr indent="0" marL="0">
              <a:buNone/>
            </a:pPr>
            <a:r>
              <a:rPr lang="en-US" sz="850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pPr indent="0" marL="0">
              <a:buNone/>
            </a:pPr>
            <a:r>
              <a:rPr lang="en-US" sz="850" b="1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Waters proof point 2 </a:t>
            </a:r>
            <a:pPr indent="0" marL="0">
              <a:buNone/>
            </a:pPr>
            <a:r>
              <a:rPr lang="en-US" sz="850" u="sng" dirty="0">
                <a:solidFill>
                  <a:srgbClr val="1769AA"/>
                </a:solidFill>
                <a:uFill>
                  <a:solidFill>
                    <a:srgbClr val="1769AA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https://ir.waters.com/News--Events/newsroom/news-details/2021/Waters-BioAccord-System-with-ACQUITY-Premier-Brings-Greater-Simplicity-Accuracy-and-Reproducibility-to-Multi-Attribute-Monitoring-of-Biopharmaceuticals/default.aspx</a:t>
            </a:r>
            <a:pPr indent="0" marL="0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Waters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One-Page Competitive Battlecard</dc:title>
  <dc:subject>Pharma · Agilent competitive battlecard</dc:subject>
  <dc:creator>Competition Engine</dc:creator>
  <cp:lastModifiedBy>Competition Engine</cp:lastModifiedBy>
  <cp:revision>1</cp:revision>
  <dcterms:created xsi:type="dcterms:W3CDTF">2026-07-30T02:59:23Z</dcterms:created>
  <dcterms:modified xsi:type="dcterms:W3CDTF">2026-07-30T02:59:23Z</dcterms:modified>
</cp:coreProperties>
</file>