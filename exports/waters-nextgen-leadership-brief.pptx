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503d3fccdb4f8b" /><Relationship Type="http://schemas.openxmlformats.org/officeDocument/2006/relationships/extended-properties" Target="/docProps/app.xml" Id="Ra71b052e47974b9b" /><Relationship Type="http://schemas.openxmlformats.org/officeDocument/2006/relationships/officeDocument" Target="/ppt/presentation.xml" Id="Rc059c68dc1394a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f68449db4440f2"/>
  </p:sldMasterIdLst>
  <p:notesMasterIdLst>
    <p:notesMasterId xmlns:r="http://schemas.openxmlformats.org/officeDocument/2006/relationships" r:id="Ree9d64bb38154449"/>
  </p:notesMasterIdLst>
  <p:sldIdLst>
    <p:sldId xmlns:r="http://schemas.openxmlformats.org/officeDocument/2006/relationships" id="256" r:id="Rd64d390c99994fb0"/>
    <p:sldId xmlns:r="http://schemas.openxmlformats.org/officeDocument/2006/relationships" id="257" r:id="R5d172cdb27ea4e33"/>
    <p:sldId xmlns:r="http://schemas.openxmlformats.org/officeDocument/2006/relationships" id="258" r:id="R0a179b4323e7451b"/>
    <p:sldId xmlns:r="http://schemas.openxmlformats.org/officeDocument/2006/relationships" id="259" r:id="R1163a224a5a0479d"/>
    <p:sldId xmlns:r="http://schemas.openxmlformats.org/officeDocument/2006/relationships" id="260" r:id="Rdfc24e2d6cfe4375"/>
    <p:sldId xmlns:r="http://schemas.openxmlformats.org/officeDocument/2006/relationships" id="261" r:id="R45fc0b0f97704f53"/>
    <p:sldId xmlns:r="http://schemas.openxmlformats.org/officeDocument/2006/relationships" id="262" r:id="Rd201ab4733dd401a"/>
    <p:sldId xmlns:r="http://schemas.openxmlformats.org/officeDocument/2006/relationships" id="263" r:id="R27f516412f774fe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686e5a0a2b4d8e" /><Relationship Type="http://schemas.openxmlformats.org/officeDocument/2006/relationships/slideMaster" Target="/ppt/slideMasters/slideMaster1.xml" Id="Rd7f68449db4440f2" /><Relationship Type="http://schemas.openxmlformats.org/officeDocument/2006/relationships/notesMaster" Target="/ppt/notesMasters/notesMaster1.xml" Id="Ree9d64bb38154449" /><Relationship Type="http://schemas.openxmlformats.org/officeDocument/2006/relationships/presProps" Target="/ppt/presProps.xml" Id="Rbcb29ae5447d4e53" /><Relationship Type="http://schemas.openxmlformats.org/officeDocument/2006/relationships/tableStyles" Target="/ppt/tableStyles.xml" Id="R6501d9ae195c4b32" /><Relationship Type="http://schemas.openxmlformats.org/officeDocument/2006/relationships/slide" Target="/ppt/slides/slide1.xml" Id="Rd64d390c99994fb0" /><Relationship Type="http://schemas.openxmlformats.org/officeDocument/2006/relationships/slide" Target="/ppt/slides/slide2.xml" Id="R5d172cdb27ea4e33" /><Relationship Type="http://schemas.openxmlformats.org/officeDocument/2006/relationships/slide" Target="/ppt/slides/slide3.xml" Id="R0a179b4323e7451b" /><Relationship Type="http://schemas.openxmlformats.org/officeDocument/2006/relationships/slide" Target="/ppt/slides/slide4.xml" Id="R1163a224a5a0479d" /><Relationship Type="http://schemas.openxmlformats.org/officeDocument/2006/relationships/slide" Target="/ppt/slides/slide5.xml" Id="Rdfc24e2d6cfe4375" /><Relationship Type="http://schemas.openxmlformats.org/officeDocument/2006/relationships/slide" Target="/ppt/slides/slide6.xml" Id="R45fc0b0f97704f53" /><Relationship Type="http://schemas.openxmlformats.org/officeDocument/2006/relationships/slide" Target="/ppt/slides/slide7.xml" Id="Rd201ab4733dd401a" /><Relationship Type="http://schemas.openxmlformats.org/officeDocument/2006/relationships/slide" Target="/ppt/slides/slide8.xml" Id="R27f516412f774f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79f97f850d45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9e0752185540c9" /><Relationship Type="http://schemas.openxmlformats.org/officeDocument/2006/relationships/notesMaster" Target="/ppt/notesMasters/notesMaster1.xml" Id="R7b7907750e8743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7b5c9061044b3f" /><Relationship Type="http://schemas.openxmlformats.org/officeDocument/2006/relationships/notesMaster" Target="/ppt/notesMasters/notesMaster1.xml" Id="R27d35563dcc442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7ad5f1ef4f431e" /><Relationship Type="http://schemas.openxmlformats.org/officeDocument/2006/relationships/notesMaster" Target="/ppt/notesMasters/notesMaster1.xml" Id="Rcfa8617638fb40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3a05b3bf164ead" /><Relationship Type="http://schemas.openxmlformats.org/officeDocument/2006/relationships/notesMaster" Target="/ppt/notesMasters/notesMaster1.xml" Id="R1bb2de98382742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c1364d8d2b4882" /><Relationship Type="http://schemas.openxmlformats.org/officeDocument/2006/relationships/notesMaster" Target="/ppt/notesMasters/notesMaster1.xml" Id="R29537b9d01b842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6de3cea0ad463c" /><Relationship Type="http://schemas.openxmlformats.org/officeDocument/2006/relationships/notesMaster" Target="/ppt/notesMasters/notesMaster1.xml" Id="R2ec641635d254e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fe4f9ca048495c" /><Relationship Type="http://schemas.openxmlformats.org/officeDocument/2006/relationships/notesMaster" Target="/ppt/notesMasters/notesMaster1.xml" Id="R489b6db7afb74a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c10952fccf4b97" /><Relationship Type="http://schemas.openxmlformats.org/officeDocument/2006/relationships/notesMaster" Target="/ppt/notesMasters/notesMaster1.xml" Id="R88d0201eb42d48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13%22%5BDate+-+Publication%5D+%3A+%222026%2F08%2F13%22%5BDate+-+Publication%5D%29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https://pubmed.ncbi.nlm.nih.gov/?term=%28%28PFAS+OR+%22per-+and+polyfluoroalkyl%22%29+AND+%28%22LC-MS%22+OR+%22LC-MS%2FMS%22+OR+chromatography%29%29+AND+%28%222025%2F08%2F13%22%5BDate+-+Publication%5D+%3A+%222026%2F08%2F13%22%5BDate+-+Publication%5D%29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https://pubmed.ncbi.nlm.nih.gov/?term=%28%28oligonucleotide+OR+%22nucleic+acid%22+OR+siRNA%29+AND+%28%22LC-MS%22+OR+chromatography+OR+%22mass+spectrometry%22%29%29+AND+%28%222025%2F08%2F13%22%5BDate+-+Publication%5D+%3A+%222026%2F08%2F13%22%5BDate+-+Publication%5D%29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https://pubmed.ncbi.nlm.nih.gov/?term=%28%28PFAS+OR+%22per-+and+polyfluoroalkyl%22%29+AND+%28%22LC-MS%22+OR+%22LC-MS%2FMS%22+OR+chromatography%29%29+AND+%28%222025%2F08%2F13%22%5BDate+-+Publication%5D+%3A+%222026%2F08%2F13%22%5BDate+-+Publication%5D%29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https://www.reddit.com/r/CHROMATOGRAPHY/comments/1uk333s/update_uplc_waters_high_pressure_problem/</a:t>
            </a:r>
          </a:p>
          <a:p xmlns:a="http://schemas.openxmlformats.org/drawingml/2006/main">
            <a:r>
              <a:t>- https://www.reddit.com/r/CHROMATOGRAPHY/comments/1h1i93y/waters_acquity_uplc_beh_17_um_21_x_100_mm_column/</a:t>
            </a:r>
          </a:p>
          <a:p xmlns:a="http://schemas.openxmlformats.org/drawingml/2006/main">
            <a:r>
              <a:t>- https://www.reddit.com/r/CHROMATOGRAPHY/comments/1e3y2sy/getting_started_with_empower_3/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https://www.reddit.com/r/CHROMATOGRAPHY/comments/1uk333s/update_uplc_waters_high_pressure_problem/</a:t>
            </a:r>
          </a:p>
          <a:p xmlns:a="http://schemas.openxmlformats.org/drawingml/2006/main">
            <a:r>
              <a:t>- https://www.reddit.com/r/CHROMATOGRAPHY/comments/1h1i93y/waters_acquity_uplc_beh_17_um_21_x_100_mm_column/</a:t>
            </a:r>
          </a:p>
          <a:p xmlns:a="http://schemas.openxmlformats.org/drawingml/2006/main">
            <a:r>
              <a:t>- https://www.reddit.com/r/CHROMATOGRAPHY/comments/1e3y2sy/getting_started_with_empower_3/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https://www.reddit.com/r/CHROMATOGRAPHY/comments/1somxpf/waters_acquity_arc_lcms_214_nm_uv_baseline/</a:t>
            </a:r>
          </a:p>
          <a:p xmlns:a="http://schemas.openxmlformats.org/drawingml/2006/main">
            <a:r>
              <a:t>- https://www.reddit.com/r/CHROMATOGRAPHY/comments/xlr4pf/best_uhplc_on_the_market/</a:t>
            </a:r>
          </a:p>
          <a:p xmlns:a="http://schemas.openxmlformats.org/drawingml/2006/main">
            <a:r>
              <a:t>- https://www.reddit.com/r/CHROMATOGRAPHY/comments/1q24noh/reccomendations_for_new_hplc_system_for_routine/</a:t>
            </a:r>
          </a:p>
          <a:p xmlns:a="http://schemas.openxmlformats.org/drawingml/2006/main">
            <a:r>
              <a:t>- https://www.reddit.com/r/CHROMATOGRAPHY/comments/1h6lnr0/agilent_1260_hplc_vs_thermo_vanquish_flex/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https://pubmed.ncbi.nlm.nih.gov/?term=%28%28PFAS+OR+%22per-+and+polyfluoroalkyl%22%29+AND+%28%22LC-MS%22+OR+%22LC-MS%2FMS%22+OR+chromatography%29%29+AND+%28%222025%2F08%2F13%22%5BDate+-+Publication%5D+%3A+%222026%2F08%2F13%22%5BDate+-+Publication%5D%29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13%22%5BDate+-+Publication%5D+%3A+%222026%2F08%2F13%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https://pubmed.ncbi.nlm.nih.gov/?term=%28%28oligonucleotide+OR+%22nucleic+acid%22+OR+siRNA%29+AND+%28%22LC-MS%22+OR+chromatography+OR+%22mass+spectrometry%22%29%29+AND+%28%222025%2F08%2F13%22%5BDate+-+Publication%5D+%3A+%222026%2F08%2F13%22%5BDate+-+Publication%5D%29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https://pubmed.ncbi.nlm.nih.gov/?term=%28%28PFAS+OR+%22per-+and+polyfluoroalkyl%22%29+AND+%28%22LC-MS%22+OR+%22LC-MS%2FMS%22+OR+chromatography%29%29+AND+%28%222025%2F08%2F13%22%5BDate+-+Publication%5D+%3A+%222026%2F08%2F13%22%5BDate+-+Publication%5D%29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13%22%5BDate+-+Publication%5D+%3A+%222026%2F08%2F13%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https://pubmed.ncbi.nlm.nih.gov/?term=%28%28oligonucleotide+OR+%22nucleic+acid%22+OR+siRNA%29+AND+%28%22LC-MS%22+OR+chromatography+OR+%22mass+spectrometry%22%29%29+AND+%28%222025%2F08%2F13%22%5BDate+-+Publication%5D+%3A+%222026%2F08%2F13%22%5BDate+-+Publication%5D%29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https://pubmed.ncbi.nlm.nih.gov/?term=%28%28PFAS+OR+%22per-+and+polyfluoroalkyl%22%29+AND+%28%22LC-MS%22+OR+%22LC-MS%2FMS%22+OR+chromatography%29%29+AND+%28%222025%2F08%2F13%22%5BDate+-+Publication%5D+%3A+%222026%2F08%2F13%22%5BDate+-+Publication%5D%29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a6886e43744d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80123e8b6b4aa8" /><Relationship Type="http://schemas.openxmlformats.org/officeDocument/2006/relationships/slideLayout" Target="/ppt/slideLayouts/slideLayout1.xml" Id="R0f40835474de45f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40835474de45f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94f7b0666d4f0a" /><Relationship Type="http://schemas.openxmlformats.org/officeDocument/2006/relationships/notesSlide" Target="/ppt/notesSlides/notesSlide1.xml" Id="R7e35a4ba230641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eeded6e9a43dc" /><Relationship Type="http://schemas.openxmlformats.org/officeDocument/2006/relationships/notesSlide" Target="/ppt/notesSlides/notesSlide2.xml" Id="Ra6c2d039c2fb4e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1d376e9564211" /><Relationship Type="http://schemas.openxmlformats.org/officeDocument/2006/relationships/notesSlide" Target="/ppt/notesSlides/notesSlide3.xml" Id="R1e83b48fd0c544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0ed2b0f8d4609" /><Relationship Type="http://schemas.openxmlformats.org/officeDocument/2006/relationships/notesSlide" Target="/ppt/notesSlides/notesSlide4.xml" Id="R0941faa153df40a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492ef7cc64bb7" /><Relationship Type="http://schemas.openxmlformats.org/officeDocument/2006/relationships/notesSlide" Target="/ppt/notesSlides/notesSlide5.xml" Id="R6c3589c8e2f14a5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3de6728274860" /><Relationship Type="http://schemas.openxmlformats.org/officeDocument/2006/relationships/notesSlide" Target="/ppt/notesSlides/notesSlide6.xml" Id="R09e0b83656234c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21d5131c64309" /><Relationship Type="http://schemas.openxmlformats.org/officeDocument/2006/relationships/notesSlide" Target="/ppt/notesSlides/notesSlide7.xml" Id="Rb7b73464f67b40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25b5d60944bdd" /><Relationship Type="http://schemas.openxmlformats.org/officeDocument/2006/relationships/hyperlink" Target="https://pubmed.ncbi.nlm.nih.gov/?term=%28%28PFAS+OR+%22per-+and+polyfluoroalkyl%22%29+AND+%28%22LC-MS%22+OR+%22LC-MS%2FMS%22+OR+chromatography%29%29+AND+%28%222025%2F08%2F13%22%5BDate+-+Publication%5D+%3A+%222026%2F08%2F13%22%5BDate+-+Publication%5D%29" TargetMode="External" Id="Red9b1478fb1b485e" /><Relationship Type="http://schemas.openxmlformats.org/officeDocument/2006/relationships/hyperlink" Target="https://www.agilent.com/about/newsroom/presrel/2026/29may-ca26021.html" TargetMode="External" Id="R0a9e04737bfb4d9c" /><Relationship Type="http://schemas.openxmlformats.org/officeDocument/2006/relationships/hyperlink" Target="https://www.sec.gov/Archives/edgar/data/1090872/000109087226000055/a-20260430.htm" TargetMode="External" Id="R096cb83171b34616" /><Relationship Type="http://schemas.openxmlformats.org/officeDocument/2006/relationships/hyperlink" Target="https://www.shimadzu.com/news/2026/k8iri3_20_z4uvwt.html" TargetMode="External" Id="Rf7328ad13df04350" /><Relationship Type="http://schemas.openxmlformats.org/officeDocument/2006/relationships/hyperlink" Target="https://sciex.com/about-us/press-releases/2026/sciex-launches-its-5th-generation-of-nominal-mass-novus-v55-system-with-sciexos-5-0-software" TargetMode="External" Id="Rec13bdbc53604572" /><Relationship Type="http://schemas.openxmlformats.org/officeDocument/2006/relationships/hyperlink" Target="https://www.bioprocessingsummit.com/" TargetMode="External" Id="R6159171908fe4e0d" /><Relationship Type="http://schemas.openxmlformats.org/officeDocument/2006/relationships/notesSlide" Target="/ppt/notesSlides/notesSlide8.xml" Id="Rc71bf84b7f8048e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0B6A4D-7F9D-45F4-AF77-E8FE91A9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822AB8-4672-4E57-ADE9-B5297CB5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WATERS · NEXT GEN 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F7FB0F-F399-4BC9-9F2A-399FF7D6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5D295-9C23-4A0F-974D-0137CB61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Five external signals. Three evidence-gated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3A916B-AF16-45DC-BBC8-7CFC2FBD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A concise executive readout of scientific momentum, competitor moves, customer friction, corporate intent, and the next conference moment.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A9F168-A677-4E56-9BE9-AB1A0530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85900"/>
            <a:ext cx="2400300" cy="26479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4A54"/>
          </a:solidFill>
          <a:ln xmlns:a="http://schemas.openxmlformats.org/drawingml/2006/main" w="9525">
            <a:solidFill>
              <a:srgbClr val="2B62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AA1210-C3C6-400E-A153-45C8187D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85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DATA 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022E4F-7503-4546-B738-54B42CFF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3BB944-8270-4531-B93C-2F557E8B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AUG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CF5CC4-6504-4A01-A77C-AAE6069A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1950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BC12D9-B1AB-4599-AA39-656C1803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09315A-CA92-4D7D-B3E6-010F76D6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531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Prepared for roadmap review · waters-ci-20260813070817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AA9721-D91D-4037-B81A-614EC86E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1531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283145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F3EE79-08F8-4179-B3F6-D600C3EA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4D2EDD-4DDB-4997-B9A9-D1DD3D11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93D056-D89F-4EAF-90FA-1EDB9971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strongest cross-page pattern is not a single specification—it is proof that the full workflow is easier to execute, transfer, and troubleshoot.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14686-DD51-4FB1-8F2E-89DB2382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9777BE-61BB-44E6-BCEE-4D936580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61206-5228-4C8F-A87D-8869498E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LEADERSHIP IMPLICATION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BE9CDB-B03B-4806-84E8-5B7812FD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62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 new requirements against workflow proof, not feature parity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E4C9EA-241C-4198-88F4-5ECAA722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44C0F-CD6C-4C45-AE79-192B57F1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B1788-77C2-4284-AEDA-018A209D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1,135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F82C2F-E1EB-4E29-9F2C-596BC6AD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Automation and software workflow publications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055B1-C5CF-4909-AED8-9C0CDA0F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activity in the last year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D57292-7898-43E2-B5C3-702FC277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BD44F-1579-4F1B-A0E2-5AC7CFFE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D4F895-0BA8-4F9B-AF92-E3FCD2DD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335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1E28F2-DA4E-4C4D-8152-D1E5DA20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and contaminant-testing publications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C7D58D-0CC9-4758-82DD-0DD7BFFC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regulated-testing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0CD88-4C14-4E78-8682-3AE12265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298462-35AA-44F5-9B02-75C4E390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823F0C-1334-4A14-B951-94EAF75F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656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EFF479-0635-4B10-8BC6-58F3DD9E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Oligonucleotide and nucleic-acid publications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EADB0C-6EA1-41A7-B9BE-4C8C7E56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Substantial application evidence 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BAFEA9-7B8B-4CC0-AA0D-D2EEF3F2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13 AUG 2026 · waters-ci-20260813070817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FABF07-4DF8-4EAA-A6F9-7EA86D79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55000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A10C2A-70AA-4841-8B67-39082151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3EF534-067C-4AF2-B51C-70A9FA84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Five signals now shape the roadmap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94362-2D32-47DA-B745-DAE618D4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Each signal comes from a different evidence class; together they show why leadership attention is warranted.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7F04DB-73A6-4057-A4D5-AD4DE6B22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B6A66A-51F5-419A-8FC1-4C99A154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F67CCD-B4A7-4D09-AF99-17F381DF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E413AF-56CB-4067-84EA-B8D921F2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1FEFC9-19A6-46D1-A692-AAF6165E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4E3F14-0A7B-4C58-B919-DF6F8C4A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activity remains substantial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BE98CC-CD20-418B-865C-69212431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335 records from the canonical PubMed query.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00435-2BF9-4C82-A42C-D73C54E4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AAB9CA-7E88-48AE-B2FF-8769912C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4E4021-94A5-4B6D-A165-4CB05174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8A89FE-FF23-43CD-8180-9BD9830A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COMPETITOR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04B907-9B5A-4804-B5D4-2E9333DB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is packaging LC/TOF into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FA52B2-8805-4582-93E1-6409A68B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issuer evidence from Agilent's official release.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3A4457-B8BF-4A07-AE45-6B87596E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317260-6072-4D6E-A235-8B1F31EE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1ED18C-C447-4F39-B9DF-261270CC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74F3A0-A4ED-4DCE-A3FC-05391127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2AA76A-46D3-46F2-B5A3-940C7259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Troubleshooting requires internal 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90D2AE-4808-4F96-BDC2-FD039ACE8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Public forum recurrence requires internal field validation.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B68D3A-8ED3-4953-BE33-9DDF9706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A579D7-30CE-443A-B3FA-EDBF0B829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73B36B-DB5B-4ED2-AF18-B55814E2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BDE4C3-E0DC-47C3-A516-9F8C2AE6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3B62DC-E657-4C9A-82D8-1422D2D82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calls LC and LC-MS growth engines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01D934-49F8-4ECE-A9FD-CA66E461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issuer filing; no independent external corroboration.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B3F5BF-E7A0-4894-A99E-6F6320AE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51816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6ECCAC-B251-415D-A6AD-29856AD5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353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4BAED4-6956-4CA7-B93F-E120922A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29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CA2A91-892E-4B6C-B6E3-ECAD62B7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435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2BC6CB-9D9D-427D-9D16-588D0B19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5911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begins Aug 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7BC65C-A5CD-47D1-91F9-E0EFF9D5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0579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agenda and sponsor facts from the event site.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99EE76-7CFA-469F-890D-8AA94A5A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13 AUG 2026 · waters-ci-20260813070817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0DB7BD-7860-4027-B571-63E618CE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86322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29194F-892A-47BC-9688-C72CD701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C52FF-E4AF-4183-BABE-CA1E8C0A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 competitor actions suggest workflow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69645-CABD-4F9D-AAA0-6BAE9F30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 confidence is Directional: each company view lacks two independently corroborating source families.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A89B46-F9FD-436D-BC07-824262DB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412B42-329F-4418-B8BF-04ACE423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1B0DE-DEB0-4ED4-B3E9-B496A9F4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ACA6B-2FEC-41A6-A620-C9FC5065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793D5-3B90-4CC1-91CA-059B5C69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B31615-627C-4199-AA5E-D4F3B416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Nexera X4 launch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19C7F8-C1D8-41EE-AB5D-649CCFE3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productivity-led LC positioning. Alternative: normal platform refresh.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85620-8AAA-45CB-8E7B-D8C6684E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AF58E-63EB-418D-9530-F226A8BB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B0D123-918B-4665-9BA5-40FCE3DF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AGILENT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CE004D-DAE5-4C4C-9664-14ED2D79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Jun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4F3BB1-B7CA-412B-B4A2-599D5969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6230C LC/TOF in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C9BD31-09C4-4442-9E6D-E3E65079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application-specific workflow packaging. Alternative: campaign positioning.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BA03A1-BFD9-4AFD-AF66-80318C21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59D8D7-96A5-435B-A9FB-C851742E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81B156-3FEE-4313-8DA0-1F273962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65E709-40B5-4F66-B7FA-56BCBD98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01 Jun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4B46F2-0F15-417D-AE94-5F3A91ED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novus V55 + SCIEX OS 5.0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4B4EC3-0DDD-4CBD-A701-9E58A95A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software-led nominal-mass offer; this does not verify broader HRMS depth.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98E5D0-2483-43C5-A8B0-A3F30E66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43B792-569F-4469-B7E8-36F917EA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EA5ED1-7AEF-48F3-A44F-3277D726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THERMO FISHER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127A70-1FFF-4928-AF1C-1B8A72B34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EE3889-5C34-4C00-8607-89CCE005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Vanquish Amplify product page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DB9162-D405-455C-9309-B1EC5AE5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inert biopharma workflow packaging. Alternative: portfolio positioning.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BE6F0F-EB81-437F-93F4-EF91859E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13 AUG 2026 · waters-ci-20260813070817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B1A2C9-6A4B-46D4-8C97-FB54D8E2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20312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0A1921-E1FC-406A-BD5F-1EDF78B8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B06143-209C-4C0F-97A0-587F9DA7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Customer evidence is a validation input—not a prevalence estimate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FAE24F-4158-4FFC-A34A-B2F4C37A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Forum evidence is promoted to leadership only when at least three independent sources support the same theme.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51C5D-AC69-4293-A388-A6968147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0F5805-148F-4569-82E9-780831B2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43243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72DAC-42F1-4AC6-BBE0-0284210D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DIRECTIONAL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8EC7C-9AB2-4F08-A967-9E8C2C78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CUSTOMER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AAF87E-50CA-4FD3-B71A-8C302D39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7A6F4F-DAA9-4E64-9EBE-1E57678C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333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3+ independent sources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plus internal field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C5B32C-7CDB-4559-B97E-B52144DC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5341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3E058C-72D4-44E3-93C6-894A031F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WHAT LEADERS SHOULD TAKE FROM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A32BC5-9F84-498F-AD20-9C1AA3EF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813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 not infer product weakness from one complaint.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E06D17-7718-4FBB-9E49-927C4671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004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Before adding requirements, validate: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86A792-C50C-4688-A70F-3C491EFA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19550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1. Which failure modes repeat across customer and field records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2. How long users take to isolate and recover from them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3. Whether guided diagnostics materially shorten that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15E46F-0066-4A95-BD3C-F7371A10F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13 AUG 2026 · waters-ci-20260813070817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9D3770-8337-43E3-BC05-F62786B7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382932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4D74BE-CAAF-4F46-BB20-A425D763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C5A1D3-EF3E-400C-BAB3-43040544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Three decisions are evidence-prioritized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483337-EA28-4FE7-9702-A415E409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evidence-priority score compares application activity, competitor activity, and source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92781D-428F-4BC2-AA6F-A0F65DAB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BFB09-7E82-42AB-B9F1-EC9209E09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7126B-D90A-42B7-9CD7-7948C32B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1B960F-585B-44BA-9EB8-AE68EA64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119CA-8665-4E9D-841B-A7DF2DF8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A1151-BBDF-4F01-83CF-D79E2B5A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54/100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0E0109-3BD5-47CE-8474-045E58CE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to package a PFAS-ready regulated quantitation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61F1CF-2ADE-4794-8B97-E46E27AA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83541-4D97-42CD-B92D-71531F71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Product Management and Applications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C0DEBB-6E3F-46EF-83A3-48F12F6A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FDCAFD-DAB3-4A6A-9A82-80851307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BBF848-97AD-4879-9CC6-26EC7B18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1BAE44-9836-4255-80A7-BD395939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9D5368-3A27-41DB-9F0E-CCD68A0C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F6D267-4094-4A57-8CA5-2C84C996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430C66-A574-404A-94DF-C540A4AE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63/100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A0B07D-E881-467F-A2E3-F127D41B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and Alliance iS need new end-to-end workflow requirements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F453A8-ED87-4F6D-96F1-BB2949EC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CE6237-C020-41E7-9E07-CD38A5D2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LC Platform PM and Software Lead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513662-D4DB-4FCF-A83D-05FD4A20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122E95-B499-4CFF-B6CA-3628BC2C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build, package existing capabilities, reposition, or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31B2F6-EA5A-41DD-9C01-24BD67C8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14450E-4ABE-4153-8344-B4C46D41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849BE5-FF8A-45DA-BA0D-FA232D2D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7220FC-D977-40B5-9034-90493082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48C78F-5347-49C1-B1A1-341DE42B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58/100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266EDF-426F-482A-98D4-A9BCBA7A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needs an oligonucleotide method-readiness package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E3EB5C-EAAF-4347-83AC-07ED3207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358251-AC96-4B56-ACEB-531C6C47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Biopharma Applications and Next Gen LC PM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3103D8-97F7-45DF-8D06-1CE00DE3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93B558-9185-4DF3-A3B4-1DFF91C2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0DD19A-D871-422A-A26C-E7E4C0CC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13 AUG 2026 · waters-ci-20260813070817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B0C0BA8-1176-4862-AB23-BF2F50FB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103879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656AC4-522E-4D04-A1C0-A1E3E05D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2D069E-745B-4D61-B65C-1C4ECD1A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Close the evidence gaps before adding roadmap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BD13D2-A4F9-4D9A-884F-982BAE3A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Sequence evidence gates around the next roadmap review without inventing calendar commitments.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A372F0-D575-4616-9133-08D7052D5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8005F-B2E7-468A-A28F-449CA4EC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914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47D12B-30A9-4EEE-BE8B-BA0F8E3D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3CC394-85E2-4A33-99E6-B33850AE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GATE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2DEC3-B5E4-4117-B0B1-D8ADF877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E45C7D-1D02-477D-8B27-3F656DF1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claims matrix and make the package go/no-go.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713BBB-03D0-49FA-8CC9-5F7E7FE2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F3F0BE-52DF-43B6-8F28-7DC13D76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EVENT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07318-2CC4-4ABF-A3B4-4D1565B3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35A15A-F6D7-4897-92DD-8F21A5F7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Lead with MAM, complex modalities and transfer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0904C-B371-496B-9006-C40F1012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BC5CB6-ACFF-462A-B9DE-D4C6ADD5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0AB455-970E-47C0-BA6D-44BAED59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BEE206-FCE9-48D4-BB03-3152F77B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build, package, reposition, or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719CC5-035F-44E5-9A87-0C4D8E6E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D1A865-A661-46F3-8F37-041B3AD3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FB21F0-E3B3-4B07-A9DF-E2F5FE13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C3474E-7CF0-4172-9C7A-20269E33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package, build, partner, monitor, or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8D6CD1-F393-4A8D-B3EC-32A61D1E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67350"/>
            <a:ext cx="8839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6F8C1-8C52-4C95-AD7C-627B0EE6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Gate roadmap capacity on repeated customer-visible evidence plus quantified benefit and engineering effort.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BCF7D6-38DF-4C95-86ED-9284507D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13 AUG 2026 · waters-ci-20260813070817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7678F5-E563-4E40-BB88-AFFEC3B9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633705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D0040D-16E2-414B-B809-D74C2979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83B339-E8F7-44EA-A758-5A0913E3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Primary sources behind the leadership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CF3CDE-CB5C-4DA1-BBCB-B8A1BC64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public evidence is kept separate from inference; publication counts are contextual signals, not market-size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775EA-5363-442B-95D8-448EB54D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5569E-886F-42D2-B734-9D8D979F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FC7C4C-46D9-4299-ABF6-4AEA24B3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D637D-EB59-467D-BAC2-85A041A4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PubMed · PFAS / LC-MS query</a:t>
            </a:r>
          </a:p>
        </p:txBody>
      </p:sp>
      <p:sp>
        <p:nvSpPr>
          <p:cNvPr id="8" name="">
            <a:hlinkClick xmlns:r="http://schemas.openxmlformats.org/officeDocument/2006/relationships" xmlns:a="http://schemas.openxmlformats.org/drawingml/2006/main" r:id="Red9b1478fb1b485e"/>
            <a:extLst xmlns:a="http://schemas.openxmlformats.org/drawingml/2006/main">
              <a:ext uri="{FF2B5EF4-FFF2-40B4-BE49-F238E27FC236}">
                <a16:creationId xmlns:a16="http://schemas.microsoft.com/office/drawing/2014/main" id="{FC685DDE-6FFE-4C19-BB2E-E2D318C9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14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https://pubmed.ncbi.nlm.nih.gov/?term=%28%28PFAS+OR+%22per-+and+polyfluoroalkyl%22%29+AND+%28%22LC-MS%22+OR+%22LC-MS%2FMS%22+OR+chromatography%29%29+AND+%28%222025%2F08%2F13%22%5BDate+-+Publication%5D+%3A+%222026%2F08%2F13%22%5BDate+-+Publication%5D%29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FF3872-34F8-4D44-82B9-546A4F9F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CD9EA-18D7-4729-B3CD-9A8BEAC8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034143-C366-4D60-A884-DDB5E724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LAUNCH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966395-28F2-4E63-A675-6865D038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 workflow</a:t>
            </a:r>
          </a:p>
        </p:txBody>
      </p:sp>
      <p:sp>
        <p:nvSpPr>
          <p:cNvPr id="13" name="">
            <a:hlinkClick xmlns:r="http://schemas.openxmlformats.org/officeDocument/2006/relationships" xmlns:a="http://schemas.openxmlformats.org/drawingml/2006/main" r:id="R0a9e04737bfb4d9c"/>
            <a:extLst xmlns:a="http://schemas.openxmlformats.org/drawingml/2006/main">
              <a:ext uri="{FF2B5EF4-FFF2-40B4-BE49-F238E27FC236}">
                <a16:creationId xmlns:a16="http://schemas.microsoft.com/office/drawing/2014/main" id="{08DDEFA5-DB41-4FB0-B46F-BB5D2F42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https://www.agilent.com/about/newsroom/presrel/2026/29may-ca26021.html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922C17-DCA1-4B3B-BFBB-9665AC140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250DB1-1F4A-4C31-996E-145BFEF4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D4F003-9B66-48C6-AD69-7ACCD3FB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FILING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C520CE-872E-432F-BCA6-C04F0958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Issuer-reported LC / LC-MS growth</a:t>
            </a:r>
          </a:p>
        </p:txBody>
      </p:sp>
      <p:sp>
        <p:nvSpPr>
          <p:cNvPr id="18" name="">
            <a:hlinkClick xmlns:r="http://schemas.openxmlformats.org/officeDocument/2006/relationships" xmlns:a="http://schemas.openxmlformats.org/drawingml/2006/main" r:id="R096cb83171b34616"/>
            <a:extLst xmlns:a="http://schemas.openxmlformats.org/drawingml/2006/main">
              <a:ext uri="{FF2B5EF4-FFF2-40B4-BE49-F238E27FC236}">
                <a16:creationId xmlns:a16="http://schemas.microsoft.com/office/drawing/2014/main" id="{C6F19FE4-285E-42B1-87E4-BBFCA9EC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https://www.sec.gov/Archives/edgar/data/1090872/000109087226000055/a-20260430.htm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E29824-4C83-4314-AD1F-B12F985C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D6CA4A-B9FB-4A8B-8BF5-46F02E24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7C72ED-ABBB-4CBB-8E53-4535966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SHIMADZU LAUNCH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C37170-FFEB-499F-910D-B7A6FF15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195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 UHPLC</a:t>
            </a:r>
          </a:p>
        </p:txBody>
      </p:sp>
      <p:sp>
        <p:nvSpPr>
          <p:cNvPr id="23" name="">
            <a:hlinkClick xmlns:r="http://schemas.openxmlformats.org/officeDocument/2006/relationships" xmlns:a="http://schemas.openxmlformats.org/drawingml/2006/main" r:id="Rf7328ad13df04350"/>
            <a:extLst xmlns:a="http://schemas.openxmlformats.org/drawingml/2006/main">
              <a:ext uri="{FF2B5EF4-FFF2-40B4-BE49-F238E27FC236}">
                <a16:creationId xmlns:a16="http://schemas.microsoft.com/office/drawing/2014/main" id="{C7839549-6FE1-4D09-8350-5DBDAFC2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https://www.shimadzu.com/news/2026/k8iri3_20_z4uvwt.html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1E90A3-50A2-4898-9424-DA602DBD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F5A1C4-568D-4A45-AAB8-EEE1FE78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A1D05E-B648-498C-8E73-968DDC02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SCIEX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9F0641-50E6-4D8E-97AF-6A2B5C6C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novus V55 with SCIEX OS 5.0</a:t>
            </a:r>
          </a:p>
        </p:txBody>
      </p:sp>
      <p:sp>
        <p:nvSpPr>
          <p:cNvPr id="28" name="">
            <a:hlinkClick xmlns:r="http://schemas.openxmlformats.org/officeDocument/2006/relationships" xmlns:a="http://schemas.openxmlformats.org/drawingml/2006/main" r:id="Rec13bdbc53604572"/>
            <a:extLst xmlns:a="http://schemas.openxmlformats.org/drawingml/2006/main">
              <a:ext uri="{FF2B5EF4-FFF2-40B4-BE49-F238E27FC236}">
                <a16:creationId xmlns:a16="http://schemas.microsoft.com/office/drawing/2014/main" id="{1FDD1E8D-055D-4576-9F69-AA312418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https://sciex.com/about-us/press-releases/2026/sciex-launches-its-5th-generation-of-nominal-mass-novus-v55-system-with-sciexos-5-0-software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D05A75-CB74-4407-9C76-56768C5B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6A5E26-A0F7-4D49-B488-8D640AB5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B7439A-E86C-4FF1-99C9-C7EAB833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CONFERENCE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D44E11-D7E9-4CF0-B41F-10328858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149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US 2026</a:t>
            </a:r>
          </a:p>
        </p:txBody>
      </p:sp>
      <p:sp>
        <p:nvSpPr>
          <p:cNvPr id="33" name="">
            <a:hlinkClick xmlns:r="http://schemas.openxmlformats.org/officeDocument/2006/relationships" xmlns:a="http://schemas.openxmlformats.org/drawingml/2006/main" r:id="R6159171908fe4e0d"/>
            <a:extLst xmlns:a="http://schemas.openxmlformats.org/drawingml/2006/main">
              <a:ext uri="{FF2B5EF4-FFF2-40B4-BE49-F238E27FC236}">
                <a16:creationId xmlns:a16="http://schemas.microsoft.com/office/drawing/2014/main" id="{4838532F-4BF1-4016-92C2-65EA17BE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340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https://www.bioprocessingsummit.com/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3542C2-24CF-4BFE-9A35-ED57D7C7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19800"/>
            <a:ext cx="11163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3D4"/>
          </a:solidFill>
          <a:ln xmlns:a="http://schemas.openxmlformats.org/drawingml/2006/main" w="9525">
            <a:solidFill>
              <a:srgbClr val="FFF3D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01A231-C197-4740-8DD3-5C918E2B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56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C5600"/>
                </a:solidFill>
                <a:latin typeface="Aptos"/>
                <a:ea typeface="Aptos"/>
                <a:cs typeface="Aptos"/>
              </a:rPr>
              <a:t>Snapshot: waters-ci-20260813070817 · As of 2026-08-13T07:08:17 · Business magnitude requires Waters internal data.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11CBF6B-60C5-4E99-938C-56F72DB2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13 AUG 2026 · waters-ci-20260813070817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F99F69-B35D-4A36-8958-EB41B9DC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896593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2026-08-13T13:14:53.8060000Z</dcterms:created>
  <dcterms:modified xsi:type="dcterms:W3CDTF">2026-08-13T13:14:53.8060000Z</dcterms:modified>
</coreProperties>
</file>