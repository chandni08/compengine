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14fe0976fde4842" /><Relationship Type="http://schemas.openxmlformats.org/officeDocument/2006/relationships/extended-properties" Target="/docProps/app.xml" Id="R5db9fa9917c64677" /><Relationship Type="http://schemas.openxmlformats.org/officeDocument/2006/relationships/officeDocument" Target="/ppt/presentation.xml" Id="Rc36cb523e3dc473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cb6c97e2bcd419c"/>
  </p:sldMasterIdLst>
  <p:notesMasterIdLst>
    <p:notesMasterId xmlns:r="http://schemas.openxmlformats.org/officeDocument/2006/relationships" r:id="R0efcaed8ecba4905"/>
  </p:notesMasterIdLst>
  <p:sldIdLst>
    <p:sldId xmlns:r="http://schemas.openxmlformats.org/officeDocument/2006/relationships" id="256" r:id="R556f780c76824fe4"/>
    <p:sldId xmlns:r="http://schemas.openxmlformats.org/officeDocument/2006/relationships" id="257" r:id="Rb44282db72ae4917"/>
    <p:sldId xmlns:r="http://schemas.openxmlformats.org/officeDocument/2006/relationships" id="258" r:id="Rca47cbee05144e34"/>
    <p:sldId xmlns:r="http://schemas.openxmlformats.org/officeDocument/2006/relationships" id="259" r:id="R2525c5099d7346c2"/>
    <p:sldId xmlns:r="http://schemas.openxmlformats.org/officeDocument/2006/relationships" id="260" r:id="R86a839fa955946ed"/>
    <p:sldId xmlns:r="http://schemas.openxmlformats.org/officeDocument/2006/relationships" id="261" r:id="R6ff4f69e61dd4f68"/>
    <p:sldId xmlns:r="http://schemas.openxmlformats.org/officeDocument/2006/relationships" id="262" r:id="R0b1498b47b7a460a"/>
    <p:sldId xmlns:r="http://schemas.openxmlformats.org/officeDocument/2006/relationships" id="263" r:id="R839b2c6295394fca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b8fce534e794765" /><Relationship Type="http://schemas.openxmlformats.org/officeDocument/2006/relationships/slideMaster" Target="/ppt/slideMasters/slideMaster1.xml" Id="R5cb6c97e2bcd419c" /><Relationship Type="http://schemas.openxmlformats.org/officeDocument/2006/relationships/notesMaster" Target="/ppt/notesMasters/notesMaster1.xml" Id="R0efcaed8ecba4905" /><Relationship Type="http://schemas.openxmlformats.org/officeDocument/2006/relationships/presProps" Target="/ppt/presProps.xml" Id="R4971bca4089d4db5" /><Relationship Type="http://schemas.openxmlformats.org/officeDocument/2006/relationships/tableStyles" Target="/ppt/tableStyles.xml" Id="R979de1bd44b04405" /><Relationship Type="http://schemas.openxmlformats.org/officeDocument/2006/relationships/slide" Target="/ppt/slides/slide1.xml" Id="R556f780c76824fe4" /><Relationship Type="http://schemas.openxmlformats.org/officeDocument/2006/relationships/slide" Target="/ppt/slides/slide2.xml" Id="Rb44282db72ae4917" /><Relationship Type="http://schemas.openxmlformats.org/officeDocument/2006/relationships/slide" Target="/ppt/slides/slide3.xml" Id="Rca47cbee05144e34" /><Relationship Type="http://schemas.openxmlformats.org/officeDocument/2006/relationships/slide" Target="/ppt/slides/slide4.xml" Id="R2525c5099d7346c2" /><Relationship Type="http://schemas.openxmlformats.org/officeDocument/2006/relationships/slide" Target="/ppt/slides/slide5.xml" Id="R86a839fa955946ed" /><Relationship Type="http://schemas.openxmlformats.org/officeDocument/2006/relationships/slide" Target="/ppt/slides/slide6.xml" Id="R6ff4f69e61dd4f68" /><Relationship Type="http://schemas.openxmlformats.org/officeDocument/2006/relationships/slide" Target="/ppt/slides/slide7.xml" Id="R0b1498b47b7a460a" /><Relationship Type="http://schemas.openxmlformats.org/officeDocument/2006/relationships/slide" Target="/ppt/slides/slide8.xml" Id="R839b2c6295394fc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09fd8ec4c91417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10bffe755c24d2c" /><Relationship Type="http://schemas.openxmlformats.org/officeDocument/2006/relationships/notesMaster" Target="/ppt/notesMasters/notesMaster1.xml" Id="Rbd57f1af803f47b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5fef5b7d7384cd0" /><Relationship Type="http://schemas.openxmlformats.org/officeDocument/2006/relationships/notesMaster" Target="/ppt/notesMasters/notesMaster1.xml" Id="R2c71ce1ac421488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580ff41daf54ea8" /><Relationship Type="http://schemas.openxmlformats.org/officeDocument/2006/relationships/notesMaster" Target="/ppt/notesMasters/notesMaster1.xml" Id="Ra1bef77e8c0545d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d03af6bad974ef0" /><Relationship Type="http://schemas.openxmlformats.org/officeDocument/2006/relationships/notesMaster" Target="/ppt/notesMasters/notesMaster1.xml" Id="Rab28f086a908450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42e2c470ef14f93" /><Relationship Type="http://schemas.openxmlformats.org/officeDocument/2006/relationships/notesMaster" Target="/ppt/notesMasters/notesMaster1.xml" Id="Rc78ef5d4d507444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848b90a84904afd" /><Relationship Type="http://schemas.openxmlformats.org/officeDocument/2006/relationships/notesMaster" Target="/ppt/notesMasters/notesMaster1.xml" Id="R1902801cde124d9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5fb5c52ac934466" /><Relationship Type="http://schemas.openxmlformats.org/officeDocument/2006/relationships/notesMaster" Target="/ppt/notesMasters/notesMaster1.xml" Id="Rf9a3240ebf14469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755aa12100d415a" /><Relationship Type="http://schemas.openxmlformats.org/officeDocument/2006/relationships/notesMaster" Target="/ppt/notesMasters/notesMaster1.xml" Id="R148c050d0cb24b2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3b0df20c7534e4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0c3a18ac7124bb6" /><Relationship Type="http://schemas.openxmlformats.org/officeDocument/2006/relationships/slideLayout" Target="/ppt/slideLayouts/slideLayout1.xml" Id="Ra8e8d68a59a448c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8e8d68a59a448c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e444d8a0a24fef" /><Relationship Type="http://schemas.openxmlformats.org/officeDocument/2006/relationships/notesSlide" Target="/ppt/notesSlides/notesSlide1.xml" Id="R383e49015f86435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b5a6374f444352" /><Relationship Type="http://schemas.openxmlformats.org/officeDocument/2006/relationships/notesSlide" Target="/ppt/notesSlides/notesSlide2.xml" Id="Rd8a45554c216463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16b2a284fd4166" /><Relationship Type="http://schemas.openxmlformats.org/officeDocument/2006/relationships/notesSlide" Target="/ppt/notesSlides/notesSlide3.xml" Id="Reef347f1d63442c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d05209d0fb4c61" /><Relationship Type="http://schemas.openxmlformats.org/officeDocument/2006/relationships/notesSlide" Target="/ppt/notesSlides/notesSlide4.xml" Id="R914fadc1cb414fb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3d110d1b70443f" /><Relationship Type="http://schemas.openxmlformats.org/officeDocument/2006/relationships/notesSlide" Target="/ppt/notesSlides/notesSlide5.xml" Id="Rce1d9a54e76e48d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7a5819a9c154aee" /><Relationship Type="http://schemas.openxmlformats.org/officeDocument/2006/relationships/notesSlide" Target="/ppt/notesSlides/notesSlide6.xml" Id="Rd4299a87be76499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4ae428ac3f8494f" /><Relationship Type="http://schemas.openxmlformats.org/officeDocument/2006/relationships/notesSlide" Target="/ppt/notesSlides/notesSlide7.xml" Id="R8c7ebf3132744b6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1fb96333174b8a" /><Relationship Type="http://schemas.openxmlformats.org/officeDocument/2006/relationships/notesSlide" Target="/ppt/notesSlides/notesSlide8.xml" Id="R8dd933bb1619438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5364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E1992FB-1065-4A4A-AFD3-177913356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D5C6"/>
          </a:solidFill>
          <a:ln xmlns:a="http://schemas.openxmlformats.org/drawingml/2006/main" w="0">
            <a:solidFill>
              <a:srgbClr val="45D5C6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8048C1B-FFFB-4D6D-8387-FF3163CCE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66750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45D5C6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45D5C6"/>
                </a:solidFill>
                <a:latin typeface="Aptos"/>
                <a:ea typeface="Aptos"/>
                <a:cs typeface="Aptos"/>
              </a:rPr>
              <a:t>WATERS · NEXT GEN LC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B1091C1-2451-4EE6-8482-7E54A31EA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24000"/>
            <a:ext cx="8953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4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Leadership brief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324A5D-5C25-4D21-BC5D-1117F68F3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19350"/>
            <a:ext cx="8477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C9D9DB"/>
                </a:solidFill>
                <a:latin typeface="Aptos"/>
                <a:ea typeface="Aptos"/>
                <a:cs typeface="Aptos"/>
              </a:defRPr>
            </a:pPr>
            <a:r>
              <a:rPr sz="2100" b="0">
                <a:solidFill>
                  <a:srgbClr val="C9D9DB"/>
                </a:solidFill>
                <a:latin typeface="Aptos"/>
                <a:ea typeface="Aptos"/>
                <a:cs typeface="Aptos"/>
              </a:rPr>
              <a:t>Five external signals. Three roadmap decisions.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2A5F11-49DC-4A95-8F4D-7A0F87E17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276600"/>
            <a:ext cx="7524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C9D9D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C9D9DB"/>
                </a:solidFill>
                <a:latin typeface="Aptos"/>
                <a:ea typeface="Aptos"/>
                <a:cs typeface="Aptos"/>
              </a:rPr>
              <a:t>A concise executive readout of scientific momentum, competitor moves, customer friction, corporate intent, and the next conference moment.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925846-E492-44E0-AFFD-D65702E19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1485900"/>
            <a:ext cx="2400300" cy="264795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0D4A54"/>
          </a:solidFill>
          <a:ln xmlns:a="http://schemas.openxmlformats.org/drawingml/2006/main" w="9525">
            <a:solidFill>
              <a:srgbClr val="2B626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C2C1A24-E61F-4139-8400-61606DAB4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18859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45D5C6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45D5C6"/>
                </a:solidFill>
                <a:latin typeface="Aptos"/>
                <a:ea typeface="Aptos"/>
                <a:cs typeface="Aptos"/>
              </a:rPr>
              <a:t>DATA CURRENT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5A18E01-4DFE-4CFF-B8C5-A2619EC36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247900"/>
            <a:ext cx="1428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4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63CC360-701F-4606-B580-09A7CE9DE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048000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JUL 2026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67A32C0-F16B-46F7-8714-81509E928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3619500"/>
            <a:ext cx="14859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D5C6"/>
          </a:solidFill>
          <a:ln xmlns:a="http://schemas.openxmlformats.org/drawingml/2006/main" w="0">
            <a:solidFill>
              <a:srgbClr val="45D5C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CD7C706-2DEE-42B5-99E6-D8DDA7AA1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37528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C9D9D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9D9DB"/>
                </a:solidFill>
                <a:latin typeface="Aptos"/>
                <a:ea typeface="Aptos"/>
                <a:cs typeface="Aptos"/>
              </a:rPr>
              <a:t>PUBLIC EVIDENCE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EA09BEA-E2C6-4C44-9510-57D7DA193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153150"/>
            <a:ext cx="533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C9D9D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C9D9DB"/>
                </a:solidFill>
                <a:latin typeface="Aptos"/>
                <a:ea typeface="Aptos"/>
                <a:cs typeface="Aptos"/>
              </a:rPr>
              <a:t>Prepared for roadmap review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34E73B0-4DF6-41A3-A4A9-3A4519DA3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15315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45D5C6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45D5C6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81348476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3F8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AC8F75C-E12A-4046-A5AC-4B1382F17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LEADERSHIP BRIEF · 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9856A66-E6BE-40FF-AB54-F3F4D1972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"/>
            <a:ext cx="110966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Workflow execution is becoming part of product competition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4CEEE3-E6BE-459F-AB0D-51A09022B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76350"/>
            <a:ext cx="10620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7969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The strongest cross-page pattern is not a single specification—it is proof that the full workflow is easier to execute, transfer, and troubleshoot.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DFC0974-AB37-4EA2-87EC-FFC968DFA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71650"/>
            <a:ext cx="11163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D5C6"/>
          </a:solidFill>
          <a:ln xmlns:a="http://schemas.openxmlformats.org/drawingml/2006/main" w="0">
            <a:solidFill>
              <a:srgbClr val="45D5C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28716F8-21CE-4184-9AAF-E5ED1FF7E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38350"/>
            <a:ext cx="11163300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153640"/>
          </a:solidFill>
          <a:ln xmlns:a="http://schemas.openxmlformats.org/drawingml/2006/main" w="9525">
            <a:solidFill>
              <a:srgbClr val="15364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B3855CF-A784-4B41-A505-214C3DFDC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219325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45D5C6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45D5C6"/>
                </a:solidFill>
                <a:latin typeface="Aptos"/>
                <a:ea typeface="Aptos"/>
                <a:cs typeface="Aptos"/>
              </a:rPr>
              <a:t>LEADERSHIP IMPLICATION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CACA8A7-E2EF-46FC-9BB7-452E4870E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162175"/>
            <a:ext cx="8096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9778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Test new requirements against workflow proof, not feature parity alone.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B30FB4-25A4-4715-A43D-BB5FAC2F7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143250"/>
            <a:ext cx="3371850" cy="2076450"/>
          </a:xfrm>
          <a:prstGeom xmlns:a="http://schemas.openxmlformats.org/drawingml/2006/main" prst="roundRect">
            <a:avLst>
              <a:gd name="adj" fmla="val 550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DD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544D265-3CDB-4458-B770-84A0F7277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143250"/>
            <a:ext cx="33718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solidFill>
              <a:srgbClr val="087F8C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7DFF51B-CBBE-44FA-8565-D8CCE7937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29000"/>
            <a:ext cx="29146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345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1,098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67F5F5-8472-4AF1-9872-0176756AF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95750"/>
            <a:ext cx="2914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Automation and software workflow publications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D41AB70-68A8-4B93-A84A-EE2C5A05B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629150"/>
            <a:ext cx="2914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Scientific activity in the last year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0B0829C-EBAE-424A-B16C-C2135A9F0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0075" y="3143250"/>
            <a:ext cx="3371850" cy="2076450"/>
          </a:xfrm>
          <a:prstGeom xmlns:a="http://schemas.openxmlformats.org/drawingml/2006/main" prst="roundRect">
            <a:avLst>
              <a:gd name="adj" fmla="val 550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DD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F8B4E0F-911D-4A79-A318-1FD849A94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0075" y="3143250"/>
            <a:ext cx="33718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solidFill>
              <a:srgbClr val="087F8C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40FB7C4-CD78-469B-8CFF-9AF1DACF5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3429000"/>
            <a:ext cx="29146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345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328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87CA11F-EC85-4118-B4AE-550741530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4095750"/>
            <a:ext cx="2914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PFAS and contaminant-testing publications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103CC77-9D55-42CB-AB40-DA00D02E4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4629150"/>
            <a:ext cx="2914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Current regulated-testing activity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0B39D41-EA7B-4A4C-82C7-FCE4B8246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143250"/>
            <a:ext cx="3371850" cy="2076450"/>
          </a:xfrm>
          <a:prstGeom xmlns:a="http://schemas.openxmlformats.org/drawingml/2006/main" prst="roundRect">
            <a:avLst>
              <a:gd name="adj" fmla="val 550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DD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0839978-9FCA-4495-9446-DEBFF6845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143250"/>
            <a:ext cx="33718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solidFill>
              <a:srgbClr val="087F8C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8AD0B46-3B40-45FB-8416-59240C15E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429000"/>
            <a:ext cx="29146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345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651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FD0E00E-F660-4141-867E-AE256D6C0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4095750"/>
            <a:ext cx="2914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Oligonucleotide and nucleic-acid publications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F09C0FA-0953-4903-9BB4-EEA727B35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4629150"/>
            <a:ext cx="2914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Substantial application evidence base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D8B7A28-7EE3-44C7-924B-04833928B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486400"/>
            <a:ext cx="11163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Publication volume measures scientific activity—not market share, revenue, or customer adoption.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0488405-F8AA-4FF7-99BB-A429BC3D9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819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WATERS NEXT GEN COMPETITIVE INTELLIGENCE · 23 JUL 2026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419EC03-1F30-4032-8AB5-D7D38A437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43890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86932591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3F8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577F2F6-1C2E-491C-B87B-5C32A2B03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LEADERSHIP BRIEF · 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7C567B6-E639-46DE-A657-BF1D076B1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"/>
            <a:ext cx="110966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Five signals now shape the roadmap conversation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5BEBBC-CF59-48DB-88BA-E8608CB82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76350"/>
            <a:ext cx="10620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Each signal comes from a different evidence class; together they show why leadership attention is warranted.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C0EF34-E68F-42EA-B28B-69BEEE7C7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71650"/>
            <a:ext cx="11163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D5C6"/>
          </a:solidFill>
          <a:ln xmlns:a="http://schemas.openxmlformats.org/drawingml/2006/main" w="0">
            <a:solidFill>
              <a:srgbClr val="45D5C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340D58F-0115-4CC7-BBC9-E7CD98B1A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57400"/>
            <a:ext cx="5314950" cy="139065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DD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C59A844-6E31-41B0-8187-1183DC72D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28850"/>
            <a:ext cx="40005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87F8C"/>
          </a:solidFill>
          <a:ln xmlns:a="http://schemas.openxmlformats.org/drawingml/2006/main" w="9525">
            <a:solidFill>
              <a:srgbClr val="087F8C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AE959DE-BD73-478C-8BB9-DB5709CEF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050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50883F4-6D91-4D5B-8592-43C0E66CD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219325"/>
            <a:ext cx="44005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SCIENTIFIC MARKET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F116D51-42E0-4250-A0E2-C610E574B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466975"/>
            <a:ext cx="44005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PFAS activity remains substantial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286D95B-D992-4867-A489-2A58B5BCE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933700"/>
            <a:ext cx="4400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328 records in the current one-year evidence window.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4D44520-1007-4533-BCF0-D1F669972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057400"/>
            <a:ext cx="5314950" cy="139065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DD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BAC223C-F903-43A3-B005-136A6261F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228850"/>
            <a:ext cx="40005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58C00"/>
          </a:solidFill>
          <a:ln xmlns:a="http://schemas.openxmlformats.org/drawingml/2006/main" w="9525">
            <a:solidFill>
              <a:srgbClr val="D58C0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A36E8F5-CD25-4B10-BE98-3C1AD1FA2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3050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79BF881-DB03-4CFC-864E-B41C39D56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219325"/>
            <a:ext cx="44005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D58C0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D58C00"/>
                </a:solidFill>
                <a:latin typeface="Aptos"/>
                <a:ea typeface="Aptos"/>
                <a:cs typeface="Aptos"/>
              </a:rPr>
              <a:t>COMPETITOR LAUNCH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B413524-0D3C-4FEB-BC79-040B18C80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466975"/>
            <a:ext cx="44005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Agilent is packaging LC/TOF into MAM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671449D-7360-4D4F-A744-0A6A5716D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933700"/>
            <a:ext cx="4400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6230C positioning competes on workflow value, not only hardware.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10083F1-58C8-4078-966F-219437926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0"/>
            <a:ext cx="5314950" cy="139065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DD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D0CD246-A949-4F66-A768-87D47598E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90950"/>
            <a:ext cx="40005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87F8C"/>
          </a:solidFill>
          <a:ln xmlns:a="http://schemas.openxmlformats.org/drawingml/2006/main" w="9525">
            <a:solidFill>
              <a:srgbClr val="087F8C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1534364-93FD-4ED6-8FDA-E4AF0915E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671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EA25623-4788-497A-862F-AFCEFBC80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781425"/>
            <a:ext cx="44005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CUSTOMER EVIDENCE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DD9BCE5-EC48-4DEB-ACF2-C8177CF3E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029075"/>
            <a:ext cx="44005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Troubleshooting time is a product opportunity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AD0099A-F5AD-4FF8-A47B-AEE1CBC71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495800"/>
            <a:ext cx="4400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The exact public source supports Waters UPLC high-pressure troubleshooting.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9925B2A-086C-4B96-832B-0CD644177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619500"/>
            <a:ext cx="5314950" cy="139065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DD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DFE562E-DBC8-47DC-B82D-BDBA92116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790950"/>
            <a:ext cx="40005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58C00"/>
          </a:solidFill>
          <a:ln xmlns:a="http://schemas.openxmlformats.org/drawingml/2006/main" w="9525">
            <a:solidFill>
              <a:srgbClr val="D58C0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FA0E51C-9618-4031-8E5F-C64004E5B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8671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FB957D1-D45D-4996-8266-D925F102A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781425"/>
            <a:ext cx="44005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D58C0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D58C00"/>
                </a:solidFill>
                <a:latin typeface="Aptos"/>
                <a:ea typeface="Aptos"/>
                <a:cs typeface="Aptos"/>
              </a:rPr>
              <a:t>CORPORATE INTENT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945BAA8-A9CC-44F9-8A59-96C226F89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4029075"/>
            <a:ext cx="44005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Agilent calls LC and LC-MS growth engines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3AC45DE-34B4-4DD4-A194-0FA3F578D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4495800"/>
            <a:ext cx="4400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Direct SEC evidence links the portfolio to growth markets.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14103AB-4E17-4FE8-B945-308779FD1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8525" y="5181600"/>
            <a:ext cx="5314950" cy="139065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DDF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351F119-0A62-4759-AFA5-0EFD8B2D3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5353050"/>
            <a:ext cx="40005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87F8C"/>
          </a:solidFill>
          <a:ln xmlns:a="http://schemas.openxmlformats.org/drawingml/2006/main" w="9525">
            <a:solidFill>
              <a:srgbClr val="087F8C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D86DAAB-4F34-450F-A397-D6F02D63C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54292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189D1A1-18E0-44FA-8956-B0B936042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5343525"/>
            <a:ext cx="44005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CONFERENCE MOMENT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53AFB40-E847-442D-A152-C85C4CE3A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5591175"/>
            <a:ext cx="44005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Bioprocessing Summit begins Aug 10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610B72C-EF80-4495-A7CE-25F62296C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6057900"/>
            <a:ext cx="4400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A near-term stage for MAM, complex modalities and transfer proof.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3C50A7C-A05D-47B2-A82A-730B7381F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819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WATERS NEXT GEN COMPETITIVE INTELLIGENCE · 23 JUL 2026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5C3CDEF-9839-4187-ABF7-D2354CA8C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43890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05684908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3F8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3414CD1-7FDB-4A18-BA1E-32E819D07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LEADERSHIP BRIEF · 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4E02DE3-7D04-4324-BDE9-72F4AE527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"/>
            <a:ext cx="110966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Competitors are packaging execution—not only instruments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F26B002-DD2C-4E00-ACE3-48818D870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76350"/>
            <a:ext cx="10620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Four current moves make workflow speed, automation, software and method execution more visible to customers.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A2D5A8-145C-495E-A97D-B7E97FAFE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71650"/>
            <a:ext cx="11163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D5C6"/>
          </a:solidFill>
          <a:ln xmlns:a="http://schemas.openxmlformats.org/drawingml/2006/main" w="0">
            <a:solidFill>
              <a:srgbClr val="45D5C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DCA543-1C85-458A-AAB5-D3856E2A3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95500"/>
            <a:ext cx="5276850" cy="1695450"/>
          </a:xfrm>
          <a:prstGeom xmlns:a="http://schemas.openxmlformats.org/drawingml/2006/main" prst="roundRect">
            <a:avLst>
              <a:gd name="adj" fmla="val 674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DD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7043EE0-627F-484C-A975-014AD9F6D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95500"/>
            <a:ext cx="762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solidFill>
              <a:srgbClr val="087F8C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E647E71-9BD6-4854-9DE3-51B549639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76475"/>
            <a:ext cx="2952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SHIMADZU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454F798-9D05-4617-93B7-03A63FC1B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276475"/>
            <a:ext cx="1257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03 Mar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F2A5385-7B5E-44CB-805E-4DDC06ED7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62225"/>
            <a:ext cx="476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Nexera X4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B569C5-4818-40C2-8056-E79EE019E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14675"/>
            <a:ext cx="476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A new LC platform framed around workflow execution and usability.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B3FDACD-7858-4A32-A8F4-95B35D1CE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095500"/>
            <a:ext cx="5276850" cy="1695450"/>
          </a:xfrm>
          <a:prstGeom xmlns:a="http://schemas.openxmlformats.org/drawingml/2006/main" prst="roundRect">
            <a:avLst>
              <a:gd name="adj" fmla="val 674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DD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9EFCFE4-1136-4D37-AA28-13CB6E950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095500"/>
            <a:ext cx="762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8C00"/>
          </a:solidFill>
          <a:ln xmlns:a="http://schemas.openxmlformats.org/drawingml/2006/main" w="0">
            <a:solidFill>
              <a:srgbClr val="D58C0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A76182E-85F9-4372-A8D3-872CBA383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276475"/>
            <a:ext cx="2952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58C00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58C00"/>
                </a:solidFill>
                <a:latin typeface="Aptos"/>
                <a:ea typeface="Aptos"/>
                <a:cs typeface="Aptos"/>
              </a:rPr>
              <a:t>AGILENT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154FE8D-E973-4885-B197-590619FA7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2276475"/>
            <a:ext cx="1257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03 Jun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1AA24E4-03AB-444E-B30A-6A6A523CB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562225"/>
            <a:ext cx="476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6230C LC/TOF in MAM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CDDCA3B-EBAE-43DD-AC23-40BB6B002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114675"/>
            <a:ext cx="476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Positions instrument value inside a defined biopharma workflow.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45A0034-1DB7-4A57-9A23-DA2435240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38600"/>
            <a:ext cx="5276850" cy="1695450"/>
          </a:xfrm>
          <a:prstGeom xmlns:a="http://schemas.openxmlformats.org/drawingml/2006/main" prst="roundRect">
            <a:avLst>
              <a:gd name="adj" fmla="val 674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DD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C92995C-73F0-4C76-AD07-D7AF49229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38600"/>
            <a:ext cx="762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solidFill>
              <a:srgbClr val="087F8C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236D06E-AE03-4216-8A9F-536C0CD0B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19575"/>
            <a:ext cx="2952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SCIEX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A18AFBE-F7DC-4196-A28F-C52496E61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4219575"/>
            <a:ext cx="1257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01 Jun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C47938D-198D-47EF-84D5-5955FA78F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05325"/>
            <a:ext cx="476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novus V55 + SCIEX OS 5.0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FF4D81E-EFC9-4EFE-BCE4-C3FB9F36B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57775"/>
            <a:ext cx="476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A software-led launch makes the operating experience part of the system promise.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BBA8244-8B8A-49B4-8AA3-BFA420919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038600"/>
            <a:ext cx="5276850" cy="1695450"/>
          </a:xfrm>
          <a:prstGeom xmlns:a="http://schemas.openxmlformats.org/drawingml/2006/main" prst="roundRect">
            <a:avLst>
              <a:gd name="adj" fmla="val 674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DD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6A9070B-42CD-44C9-A4FD-265C87E6F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038600"/>
            <a:ext cx="762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8C00"/>
          </a:solidFill>
          <a:ln xmlns:a="http://schemas.openxmlformats.org/drawingml/2006/main" w="0">
            <a:solidFill>
              <a:srgbClr val="D58C0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DC134DE-A4A2-4D14-A80E-F15BCBD92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219575"/>
            <a:ext cx="2952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58C00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58C00"/>
                </a:solidFill>
                <a:latin typeface="Aptos"/>
                <a:ea typeface="Aptos"/>
                <a:cs typeface="Aptos"/>
              </a:rPr>
              <a:t>THERMO FISHER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FD092DB-1E6A-4AB4-8869-9313905E0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4219575"/>
            <a:ext cx="1257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29 Jun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00EAF43-30B1-4BA3-8481-CB69A668F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505325"/>
            <a:ext cx="476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Vanquish Amplify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AA23D06-2613-4DEF-BBE7-5F49CBC8A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5057775"/>
            <a:ext cx="476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Keeps UHPLC differentiation tied to operator and workflow performance.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3A52A72-CF98-462E-A6EC-0D297B73E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819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WATERS NEXT GEN COMPETITIVE INTELLIGENCE · 23 JUL 2026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9E9D340-7485-42BB-BC1F-A21F5423E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43890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66165230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3F8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851466E-9C43-4CC7-ACDA-188DD8F6B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LEADERSHIP BRIEF · 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81F21C-D860-4062-97E2-C93BF35BD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"/>
            <a:ext cx="110966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Guided diagnosis is a measurable product opportunity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CBFF25A-600B-43D4-B426-149BA7A26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76350"/>
            <a:ext cx="10620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The source supports a troubleshooting pattern; it does not, by itself, prove a carryover or autosampler defect.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3557FB9-F7DF-4C42-A60C-5EFEA81EB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71650"/>
            <a:ext cx="11163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D5C6"/>
          </a:solidFill>
          <a:ln xmlns:a="http://schemas.openxmlformats.org/drawingml/2006/main" w="0">
            <a:solidFill>
              <a:srgbClr val="45D5C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F87B635-A36A-47D2-A993-42A3CB1DE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114550"/>
            <a:ext cx="4324350" cy="3695700"/>
          </a:xfrm>
          <a:prstGeom xmlns:a="http://schemas.openxmlformats.org/drawingml/2006/main" prst="roundRect">
            <a:avLst>
              <a:gd name="adj" fmla="val 3093"/>
            </a:avLst>
          </a:prstGeom>
          <a:solidFill xmlns:a="http://schemas.openxmlformats.org/drawingml/2006/main">
            <a:srgbClr val="153640"/>
          </a:solidFill>
          <a:ln xmlns:a="http://schemas.openxmlformats.org/drawingml/2006/main" w="9525">
            <a:solidFill>
              <a:srgbClr val="15364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8C52C8A-6699-42F6-B529-98512ABDF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47650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45D5C6"/>
                </a:solidFill>
                <a:latin typeface="Aptos"/>
                <a:ea typeface="Aptos"/>
                <a:cs typeface="Aptos"/>
              </a:defRPr>
            </a:pPr>
            <a:r>
              <a:rPr sz="3750" b="1">
                <a:solidFill>
                  <a:srgbClr val="45D5C6"/>
                </a:solidFill>
                <a:latin typeface="Aptos"/>
                <a:ea typeface="Aptos"/>
                <a:cs typeface="Aptos"/>
              </a:rPr>
              <a:t>68/100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07F266D-443C-4ED4-9F30-98D33AA18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16230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9D9D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C9D9DB"/>
                </a:solidFill>
                <a:latin typeface="Aptos"/>
                <a:ea typeface="Aptos"/>
                <a:cs typeface="Aptos"/>
              </a:rPr>
              <a:t>EVIDENCE CONFIDENCE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7EEAC40-A605-4484-AD57-2BD23029D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714750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What is directly supported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1EDD9BC-EE12-4595-9F76-0BD48F654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171950"/>
            <a:ext cx="333375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Waters UPLC</a:t>
            </a:r>
          </a:p>
          <a:p xmlns:a="http://schemas.openxmlformats.org/drawingml/2006/main">
            <a:pPr algn="l"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high pressure</a:t>
            </a:r>
          </a:p>
          <a:p xmlns:a="http://schemas.openxmlformats.org/drawingml/2006/main">
            <a:pPr algn="l"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troubleshooting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A9FFB15-0A7E-40EF-A125-FBF02CAA5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114550"/>
            <a:ext cx="6534150" cy="3695700"/>
          </a:xfrm>
          <a:prstGeom xmlns:a="http://schemas.openxmlformats.org/drawingml/2006/main" prst="roundRect">
            <a:avLst>
              <a:gd name="adj" fmla="val 30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DD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E7C9BE7-C87A-4384-B48C-C3F4FE83E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419350"/>
            <a:ext cx="5810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WHAT LEADERS SHOULD TAKE FROM IT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884A3EE-2520-44D0-98E4-9DDE53461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781300"/>
            <a:ext cx="571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6207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217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Treat diagnosis time as a measurable workflow outcome.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AB4618F-0410-49C8-9300-C9339C701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3600450"/>
            <a:ext cx="561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Validate three things before adding requirements: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FFF98CB-A250-40F1-A8C3-BF4D2B9FB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4019550"/>
            <a:ext cx="5524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53640"/>
                </a:solidFill>
                <a:latin typeface="Aptos"/>
                <a:ea typeface="Aptos"/>
                <a:cs typeface="Aptos"/>
              </a:rPr>
              <a:t>1. Which failure modes repeat across customer and field records</a:t>
            </a:r>
          </a:p>
          <a:p xmlns:a="http://schemas.openxmlformats.org/drawingml/2006/main">
            <a:pPr algn="l">
              <a:defRPr sz="1350" b="0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53640"/>
                </a:solidFill>
                <a:latin typeface="Aptos"/>
                <a:ea typeface="Aptos"/>
                <a:cs typeface="Aptos"/>
              </a:rPr>
              <a:t>2. How long users take to isolate and recover from them</a:t>
            </a:r>
          </a:p>
          <a:p xmlns:a="http://schemas.openxmlformats.org/drawingml/2006/main">
            <a:pPr algn="l">
              <a:defRPr sz="1350" b="0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53640"/>
                </a:solidFill>
                <a:latin typeface="Aptos"/>
                <a:ea typeface="Aptos"/>
                <a:cs typeface="Aptos"/>
              </a:rPr>
              <a:t>3. Whether guided diagnostics materially shorten that path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48CD99A-2E77-4A07-A8A3-B325F5A8A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314950"/>
            <a:ext cx="561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Current evidence is directional—not a prevalence estimate.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EC9DDA5-DC65-42F6-B140-1F24DAD0E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819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WATERS NEXT GEN COMPETITIVE INTELLIGENCE · 23 JUL 2026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44DA705-2F91-4497-89AF-785D635C9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43890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214462356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3F8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1A9DAB3-BB91-4287-916A-12BC13A29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LEADERSHIP BRIEF · 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089B9BD-4100-4C6B-95F1-86EE2F372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"/>
            <a:ext cx="110966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Three decisions have different urgency and evidence profiles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A82A61C-1E28-4F2A-8FD7-869A60BB7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76350"/>
            <a:ext cx="10620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Priority scores rank roadmap attention. They are not confidence scores and do not replace customer validation.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B2BA6E-FDFF-4159-8B44-5A0BC29FB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71650"/>
            <a:ext cx="11163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D5C6"/>
          </a:solidFill>
          <a:ln xmlns:a="http://schemas.openxmlformats.org/drawingml/2006/main" w="0">
            <a:solidFill>
              <a:srgbClr val="45D5C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A269B3-1C32-42B1-9592-5E11F2E4C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152650"/>
            <a:ext cx="3409950" cy="3581400"/>
          </a:xfrm>
          <a:prstGeom xmlns:a="http://schemas.openxmlformats.org/drawingml/2006/main" prst="roundRect">
            <a:avLst>
              <a:gd name="adj" fmla="val 33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58C0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C0771CE-0AF0-4FE9-902D-03429CACC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152650"/>
            <a:ext cx="34099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8C00"/>
          </a:solidFill>
          <a:ln xmlns:a="http://schemas.openxmlformats.org/drawingml/2006/main" w="0">
            <a:solidFill>
              <a:srgbClr val="D58C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6BE2CA4-BECD-410B-9C09-EED7BA10D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00300"/>
            <a:ext cx="2990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58C00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58C00"/>
                </a:solidFill>
                <a:latin typeface="Aptos"/>
                <a:ea typeface="Aptos"/>
                <a:cs typeface="Aptos"/>
              </a:rPr>
              <a:t>DUE 07 AUG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E3CC29A-3953-4C19-959E-42EC48521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24150"/>
            <a:ext cx="2990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55/100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309E265-08CE-4459-9AA2-1946BB522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43250"/>
            <a:ext cx="2990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PRIORITY SCORE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82EAFD-8AA6-4C19-ADB2-032D6FFD1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24250"/>
            <a:ext cx="29908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Package a PFAS-ready regulated quantitation workflow?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0685A25-5E7D-4EEE-982E-882107653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00550"/>
            <a:ext cx="29908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DDF"/>
          </a:solidFill>
          <a:ln xmlns:a="http://schemas.openxmlformats.org/drawingml/2006/main" w="0">
            <a:solidFill>
              <a:srgbClr val="CEDDD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26A13C8-AFA0-4AF9-8D68-F2F5DE2A2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52950"/>
            <a:ext cx="2990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REQUIRED OUTPUT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7039248-6941-41E3-A169-39411ADDB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19650"/>
            <a:ext cx="29908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53640"/>
                </a:solidFill>
                <a:latin typeface="Aptos"/>
                <a:ea typeface="Aptos"/>
                <a:cs typeface="Aptos"/>
              </a:rPr>
              <a:t>A claims matrix versus Thermo, SCIEX and Shimadzu, ending in a go/no-go.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7736019-100E-498B-8B02-EBF76E328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2152650"/>
            <a:ext cx="3409950" cy="3581400"/>
          </a:xfrm>
          <a:prstGeom xmlns:a="http://schemas.openxmlformats.org/drawingml/2006/main" prst="roundRect">
            <a:avLst>
              <a:gd name="adj" fmla="val 33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DD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2F7F758-8E4E-4815-8956-61B326C7F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2152650"/>
            <a:ext cx="34099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solidFill>
              <a:srgbClr val="087F8C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BAF19B9-F773-4D57-B1F2-E4481DFA9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2400300"/>
            <a:ext cx="2990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DUE 14 AUG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615E905-ACDE-4E15-9635-429281194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2724150"/>
            <a:ext cx="2990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72/100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89FA200-E791-44C7-BC6C-838E481C1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3143250"/>
            <a:ext cx="2990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PRIORITY SCORE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2D729E8-B5A2-4EA0-846E-7574C14BC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3524250"/>
            <a:ext cx="29908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Do Next Gen LC and Alliance iS need new end-to-end workflow requirements?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CA82114-9579-4D35-BE28-CF6A1B7CF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4400550"/>
            <a:ext cx="29908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DDF"/>
          </a:solidFill>
          <a:ln xmlns:a="http://schemas.openxmlformats.org/drawingml/2006/main" w="0">
            <a:solidFill>
              <a:srgbClr val="CEDDD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65A6B92-704A-4072-9994-F79CDB2FD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4552950"/>
            <a:ext cx="2990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REQUIRED OUTPUT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6C522B5-1624-4D20-AAD7-3468F5F77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4819650"/>
            <a:ext cx="29908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53640"/>
                </a:solidFill>
                <a:latin typeface="Aptos"/>
                <a:ea typeface="Aptos"/>
                <a:cs typeface="Aptos"/>
              </a:rPr>
              <a:t>One recommendation: build, package existing capability, reposition, or stop.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F4D0460-2FCE-4A65-BEA3-5DA4192BF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152650"/>
            <a:ext cx="3409950" cy="3581400"/>
          </a:xfrm>
          <a:prstGeom xmlns:a="http://schemas.openxmlformats.org/drawingml/2006/main" prst="roundRect">
            <a:avLst>
              <a:gd name="adj" fmla="val 33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DD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8FEA1E9-F244-4A48-BAC8-20BABD0BB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152650"/>
            <a:ext cx="34099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solidFill>
              <a:srgbClr val="087F8C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EC4DCCE-D8A6-4BDD-A956-09FBC7FE5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400300"/>
            <a:ext cx="2990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DUE 21 AUG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4A06445-467E-4BC2-B016-AC19BADAB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724150"/>
            <a:ext cx="2990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61/100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EAE0FD9-8F26-41BE-B47B-0925A30F3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143250"/>
            <a:ext cx="2990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PRIORITY SCORE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A7D139C-1A22-4147-8588-6DECDFF87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524250"/>
            <a:ext cx="29908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Does Next Gen LC need an oligonucleotide method-readiness package?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9B354F3-9AF4-4105-A23A-687A6808F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400550"/>
            <a:ext cx="29908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DDF"/>
          </a:solidFill>
          <a:ln xmlns:a="http://schemas.openxmlformats.org/drawingml/2006/main" w="0">
            <a:solidFill>
              <a:srgbClr val="CEDDDF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1BB30D4-07AC-4ADD-9330-50F5D2E39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552950"/>
            <a:ext cx="2990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REQUIRED OUTPUT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F40707D-BC91-4FEB-8782-D3CD43372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819650"/>
            <a:ext cx="29908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53640"/>
                </a:solidFill>
                <a:latin typeface="Aptos"/>
                <a:ea typeface="Aptos"/>
                <a:cs typeface="Aptos"/>
              </a:rPr>
              <a:t>A readiness dossier covering compatibility, carryover, throughput, transfer and software.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E13F28E-5AEE-4D39-9A64-4AE04D42D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819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WATERS NEXT GEN COMPETITIVE INTELLIGENCE · 23 JUL 2026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96EB7E2-8BE9-43B7-A60D-0BBB76ACB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43890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46858985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3F8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0ACD8A9-D120-4A70-BF6D-698BA48A8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LEADERSHIP BRIEF · 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56D1AB3-944D-4B28-83D7-FBE904F1D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"/>
            <a:ext cx="110966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Close the evidence gaps before adding roadmap scope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2B7EEBD-73FB-41F8-A97A-950C589F1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76350"/>
            <a:ext cx="10620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Use the next 30 days to sequence dated deliverables around the conference moment.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A81CC5A-DE12-4F83-9CE6-701C78344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71650"/>
            <a:ext cx="11163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D5C6"/>
          </a:solidFill>
          <a:ln xmlns:a="http://schemas.openxmlformats.org/drawingml/2006/main" w="0">
            <a:solidFill>
              <a:srgbClr val="45D5C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8D3D468-C2BE-45EC-8B3C-26846328B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067050"/>
            <a:ext cx="9144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DDF"/>
          </a:solidFill>
          <a:ln xmlns:a="http://schemas.openxmlformats.org/drawingml/2006/main" w="0">
            <a:solidFill>
              <a:srgbClr val="CEDDD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7FB8415-E660-4367-BC38-B31082186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2857500"/>
            <a:ext cx="476250" cy="476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58C00"/>
          </a:solidFill>
          <a:ln xmlns:a="http://schemas.openxmlformats.org/drawingml/2006/main" w="9525">
            <a:solidFill>
              <a:srgbClr val="D58C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D742239-7973-403E-82D1-0F7E1642A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476625"/>
            <a:ext cx="914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D58C00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D58C00"/>
                </a:solidFill>
                <a:latin typeface="Aptos"/>
                <a:ea typeface="Aptos"/>
                <a:cs typeface="Aptos"/>
              </a:rPr>
              <a:t>07 AUG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68E38A6-F56D-4D9C-8805-FDF26A5B2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905250"/>
            <a:ext cx="2209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PFAS decision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4EABCA-CA25-4234-ABE9-FB0FDBC91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514850"/>
            <a:ext cx="2209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Complete claims matrix and make the package go/no-go.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D1D1C77-E295-4B84-8A30-002E2E7A0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857500"/>
            <a:ext cx="476250" cy="476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87F8C"/>
          </a:solidFill>
          <a:ln xmlns:a="http://schemas.openxmlformats.org/drawingml/2006/main" w="9525">
            <a:solidFill>
              <a:srgbClr val="087F8C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1DA4073-910E-499C-8174-66D75C08A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3476625"/>
            <a:ext cx="914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10 AUG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D9CD57D-1EB5-4FA6-979D-F60CA7E91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905250"/>
            <a:ext cx="2209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Conference moment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80BC0E-2018-4746-B5F3-56BBFCD9F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514850"/>
            <a:ext cx="2209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Lead with MAM, complex modalities and transfer proof.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BAC69C1-0186-4D4F-90E6-57A2D486A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2857500"/>
            <a:ext cx="476250" cy="476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87F8C"/>
          </a:solidFill>
          <a:ln xmlns:a="http://schemas.openxmlformats.org/drawingml/2006/main" w="9525">
            <a:solidFill>
              <a:srgbClr val="087F8C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4A3E874-91B7-4745-BD2C-59767916A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476625"/>
            <a:ext cx="914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14 AUG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754C839-7470-4E31-A9A4-ECEDEE2DC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905250"/>
            <a:ext cx="2209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Workflow decision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8580932-92EE-4E41-8B2C-D0697B10C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514850"/>
            <a:ext cx="2209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Choose build, package, reposition, or stop.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9D32752-6B9F-4F53-9451-EF4E65932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2857500"/>
            <a:ext cx="476250" cy="476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87F8C"/>
          </a:solidFill>
          <a:ln xmlns:a="http://schemas.openxmlformats.org/drawingml/2006/main" w="9525">
            <a:solidFill>
              <a:srgbClr val="087F8C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D71AD3F-98E3-4071-88D5-DE169CDBF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3476625"/>
            <a:ext cx="914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21 AUG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DCAC3F1-AA09-4F19-8D47-C478878C3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905250"/>
            <a:ext cx="2209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Oligo decision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CE602AA-69B7-4251-A68E-D4A8476F6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4514850"/>
            <a:ext cx="2209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Complete method-readiness dossier and decide scope.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C364B36-F9E9-43F7-BBE8-347FEAA34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467350"/>
            <a:ext cx="88392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153640"/>
          </a:solidFill>
          <a:ln xmlns:a="http://schemas.openxmlformats.org/drawingml/2006/main" w="9525">
            <a:solidFill>
              <a:srgbClr val="15364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C08FCCE-E5E2-4A4A-B10A-53DC3A08C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5600700"/>
            <a:ext cx="828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136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Gate roadmap capacity on repeated customer-visible evidence plus quantified benefit and engineering effort.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54CDAB6-43DB-490C-A0F8-068484D05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819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WATERS NEXT GEN COMPETITIVE INTELLIGENCE · 23 JUL 2026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F5017E1-7C6A-4F2B-B432-3F95E186C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43890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70380467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3F8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79172A8-9E7E-4011-AB4F-482CB0498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LEADERSHIP BRIEF · 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F4B3473-4D67-4FDA-9998-D303852CA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"/>
            <a:ext cx="110966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Primary sources behind the leadership readout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16D7108-EA0C-4CD5-A1FB-45223A9FF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76350"/>
            <a:ext cx="10620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Direct public evidence is kept separate from inference; publication counts are contextual signals, not market-size claims.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13D6F5F-9558-4772-9017-DAB800C89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71650"/>
            <a:ext cx="11163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D5C6"/>
          </a:solidFill>
          <a:ln xmlns:a="http://schemas.openxmlformats.org/drawingml/2006/main" w="0">
            <a:solidFill>
              <a:srgbClr val="45D5C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DA37F06-2B9E-4648-AF02-DC8870276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133600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BA57F60-A0C5-463F-83BD-ECB0C3E90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095500"/>
            <a:ext cx="1714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SCIENTIFIC MARKET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56FE57B-E533-424B-89AD-D4CF7CAF6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076450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PubMed · PFAS / LC-MS query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582CEC0-0C91-4546-949F-592287867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095500"/>
            <a:ext cx="4305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087F8C"/>
                </a:solidFill>
                <a:latin typeface="Aptos"/>
                <a:ea typeface="Aptos"/>
                <a:cs typeface="Aptos"/>
              </a:rPr>
              <a:t>pubmed.ncbi.nlm.nih.gov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4D42134-47D9-46AF-B9BF-D1CF8793D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552700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DDF"/>
          </a:solidFill>
          <a:ln xmlns:a="http://schemas.openxmlformats.org/drawingml/2006/main" w="0">
            <a:solidFill>
              <a:srgbClr val="CEDDD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094ED03-84D9-4E0C-B09C-602669470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781300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7ABD49B-67E1-4F35-8337-8F3497BAF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743200"/>
            <a:ext cx="1714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AGILENT LAUNCH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03D8CB5-4AD1-4B13-9484-29F98DF49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724150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6230C LC/TOF in MAM workflow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C79A982-F4E3-475C-B1DB-DAD25CC8E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743200"/>
            <a:ext cx="4305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087F8C"/>
                </a:solidFill>
                <a:latin typeface="Aptos"/>
                <a:ea typeface="Aptos"/>
                <a:cs typeface="Aptos"/>
              </a:rPr>
              <a:t>agilent.com/about/newsroom/presrel/2026/29may-ca26021.html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B66C5EC-8D08-4D1B-A413-868CD544E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200400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DDF"/>
          </a:solidFill>
          <a:ln xmlns:a="http://schemas.openxmlformats.org/drawingml/2006/main" w="0">
            <a:solidFill>
              <a:srgbClr val="CEDDD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182C43E-C956-4DDF-9EB8-16A9E4610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429000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E4C54BB-874E-4C97-BE6F-294DE82E0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390900"/>
            <a:ext cx="1714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CUSTOMER EVIDENCE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7F03936-8000-4F15-AA06-B24A86B85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3371850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Waters UPLC high-pressure troubleshooting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9F08582-BB72-4CFA-B57A-FFEB0C8E2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390900"/>
            <a:ext cx="4305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087F8C"/>
                </a:solidFill>
                <a:latin typeface="Aptos"/>
                <a:ea typeface="Aptos"/>
                <a:cs typeface="Aptos"/>
              </a:rPr>
              <a:t>reddit.com/r/CHROMATOGRAPHY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EC62691-D4A3-48E6-8322-C1AD2DBE3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848100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DDF"/>
          </a:solidFill>
          <a:ln xmlns:a="http://schemas.openxmlformats.org/drawingml/2006/main" w="0">
            <a:solidFill>
              <a:srgbClr val="CEDDD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AC9736C-7229-461D-847B-9C6C7F81F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076700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FB077F7-F95F-47D2-B242-3820E31CE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038600"/>
            <a:ext cx="1714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CORPORATE INTENT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47EB324-D669-40FD-93F5-E729D20B3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4019550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Agilent quarterly filing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AEC80B6-952F-4E1B-8459-4F6F11DCA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038600"/>
            <a:ext cx="4305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087F8C"/>
                </a:solidFill>
                <a:latin typeface="Aptos"/>
                <a:ea typeface="Aptos"/>
                <a:cs typeface="Aptos"/>
              </a:rPr>
              <a:t>sec.gov · Agilent quarterly filing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382AD0A-AB53-46FB-86E5-5E26A5B30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495800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DDF"/>
          </a:solidFill>
          <a:ln xmlns:a="http://schemas.openxmlformats.org/drawingml/2006/main" w="0">
            <a:solidFill>
              <a:srgbClr val="CEDDD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3D86274-DFD1-49C2-A41F-89DDC407C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724400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0EB7AF1-F43D-4AAE-A9D1-A0C165794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686300"/>
            <a:ext cx="1714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COMPETITOR LAUNCHES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7AB92A0-0606-432F-BB3A-68DE2B41A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4667250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Nexera X4 · novus V55 / OS 5.0 · Vanquish Amplify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E48423B-7799-4ACC-BFC5-EA5A8C702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686300"/>
            <a:ext cx="4305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087F8C"/>
                </a:solidFill>
                <a:latin typeface="Aptos"/>
                <a:ea typeface="Aptos"/>
                <a:cs typeface="Aptos"/>
              </a:rPr>
              <a:t>shimadzu.com · sciex.com · thermofisher.com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B1B5237-3B4D-4937-AB5E-FE79A334F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143500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DDF"/>
          </a:solidFill>
          <a:ln xmlns:a="http://schemas.openxmlformats.org/drawingml/2006/main" w="0">
            <a:solidFill>
              <a:srgbClr val="CEDDDF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76057CF-A2D9-475B-951E-0CBAACC3B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372100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31EAEA5-FD9A-436E-8C50-FBCA50C54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334000"/>
            <a:ext cx="1714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CONFERENCE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8F402C0-C47B-470C-AEE0-79D2D19D9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5314950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Bioprocessing Summit US 2026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C508859-008C-45AF-86D8-CBEF305EF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334000"/>
            <a:ext cx="4305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087F8C"/>
                </a:solidFill>
                <a:latin typeface="Aptos"/>
                <a:ea typeface="Aptos"/>
                <a:cs typeface="Aptos"/>
              </a:rPr>
              <a:t>bioprocessingsummit.com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7F6F297-FD4C-45E7-9816-9906F0B04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019800"/>
            <a:ext cx="1116330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FFF3D4"/>
          </a:solidFill>
          <a:ln xmlns:a="http://schemas.openxmlformats.org/drawingml/2006/main" w="9525">
            <a:solidFill>
              <a:srgbClr val="FFF3D4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5BAAAED-7BB8-4ACF-B51F-5C80EA4ED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096000"/>
            <a:ext cx="10782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7C5600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7C5600"/>
                </a:solidFill>
                <a:latin typeface="Aptos"/>
                <a:ea typeface="Aptos"/>
                <a:cs typeface="Aptos"/>
              </a:rPr>
              <a:t>Method note: priority scores combine market, competitor, customer, roadmap, source-quality and time-sensitivity factors.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55B3EB3-93E2-4D40-9AFF-7FCBA0582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819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WATERS NEXT GEN COMPETITIVE INTELLIGENCE · 23 JUL 2026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D562509-A741-40A9-ADA7-CF3B936AE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43890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205188685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2026-07-23T13:56:35.1750000Z</dcterms:created>
  <dcterms:modified xsi:type="dcterms:W3CDTF">2026-07-23T13:56:35.1750000Z</dcterms:modified>
</coreProperties>
</file>