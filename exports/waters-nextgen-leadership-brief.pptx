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b3668b8d14978" /><Relationship Type="http://schemas.openxmlformats.org/officeDocument/2006/relationships/extended-properties" Target="/docProps/app.xml" Id="R9209c2b8b84d488c" /><Relationship Type="http://schemas.openxmlformats.org/officeDocument/2006/relationships/officeDocument" Target="/ppt/presentation.xml" Id="R3b6327d10db5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a7cc905b64ff5"/>
  </p:sldMasterIdLst>
  <p:notesMasterIdLst>
    <p:notesMasterId xmlns:r="http://schemas.openxmlformats.org/officeDocument/2006/relationships" r:id="Rb544a85706c54157"/>
  </p:notesMasterIdLst>
  <p:sldIdLst>
    <p:sldId xmlns:r="http://schemas.openxmlformats.org/officeDocument/2006/relationships" id="256" r:id="R071aa9813b4b4b31"/>
    <p:sldId xmlns:r="http://schemas.openxmlformats.org/officeDocument/2006/relationships" id="257" r:id="R9e3b7c803930429b"/>
    <p:sldId xmlns:r="http://schemas.openxmlformats.org/officeDocument/2006/relationships" id="258" r:id="R0e85141eda3b4ad1"/>
    <p:sldId xmlns:r="http://schemas.openxmlformats.org/officeDocument/2006/relationships" id="259" r:id="R6ed19f9d9c5242e9"/>
    <p:sldId xmlns:r="http://schemas.openxmlformats.org/officeDocument/2006/relationships" id="260" r:id="R2ade433dfa8c4ffa"/>
    <p:sldId xmlns:r="http://schemas.openxmlformats.org/officeDocument/2006/relationships" id="261" r:id="Rd937389090654348"/>
    <p:sldId xmlns:r="http://schemas.openxmlformats.org/officeDocument/2006/relationships" id="262" r:id="Rbf5174700954410a"/>
    <p:sldId xmlns:r="http://schemas.openxmlformats.org/officeDocument/2006/relationships" id="263" r:id="Rf8bb5d70a61e4a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8fb0f388a54e25" /><Relationship Type="http://schemas.openxmlformats.org/officeDocument/2006/relationships/slideMaster" Target="/ppt/slideMasters/slideMaster1.xml" Id="R05da7cc905b64ff5" /><Relationship Type="http://schemas.openxmlformats.org/officeDocument/2006/relationships/notesMaster" Target="/ppt/notesMasters/notesMaster1.xml" Id="Rb544a85706c54157" /><Relationship Type="http://schemas.openxmlformats.org/officeDocument/2006/relationships/presProps" Target="/ppt/presProps.xml" Id="Rc32c1dc9f49b459e" /><Relationship Type="http://schemas.openxmlformats.org/officeDocument/2006/relationships/tableStyles" Target="/ppt/tableStyles.xml" Id="R06d65f5a2e9f416a" /><Relationship Type="http://schemas.openxmlformats.org/officeDocument/2006/relationships/slide" Target="/ppt/slides/slide1.xml" Id="R071aa9813b4b4b31" /><Relationship Type="http://schemas.openxmlformats.org/officeDocument/2006/relationships/slide" Target="/ppt/slides/slide2.xml" Id="R9e3b7c803930429b" /><Relationship Type="http://schemas.openxmlformats.org/officeDocument/2006/relationships/slide" Target="/ppt/slides/slide3.xml" Id="R0e85141eda3b4ad1" /><Relationship Type="http://schemas.openxmlformats.org/officeDocument/2006/relationships/slide" Target="/ppt/slides/slide4.xml" Id="R6ed19f9d9c5242e9" /><Relationship Type="http://schemas.openxmlformats.org/officeDocument/2006/relationships/slide" Target="/ppt/slides/slide5.xml" Id="R2ade433dfa8c4ffa" /><Relationship Type="http://schemas.openxmlformats.org/officeDocument/2006/relationships/slide" Target="/ppt/slides/slide6.xml" Id="Rd937389090654348" /><Relationship Type="http://schemas.openxmlformats.org/officeDocument/2006/relationships/slide" Target="/ppt/slides/slide7.xml" Id="Rbf5174700954410a" /><Relationship Type="http://schemas.openxmlformats.org/officeDocument/2006/relationships/slide" Target="/ppt/slides/slide8.xml" Id="Rf8bb5d70a61e4a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3acd6d50a749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53290f9b8483d" /><Relationship Type="http://schemas.openxmlformats.org/officeDocument/2006/relationships/notesMaster" Target="/ppt/notesMasters/notesMaster1.xml" Id="Rc72b43122a3b44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398f9b8f943a0" /><Relationship Type="http://schemas.openxmlformats.org/officeDocument/2006/relationships/notesMaster" Target="/ppt/notesMasters/notesMaster1.xml" Id="R6e5c954d8a73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eb2bb2982a45cf" /><Relationship Type="http://schemas.openxmlformats.org/officeDocument/2006/relationships/notesMaster" Target="/ppt/notesMasters/notesMaster1.xml" Id="R5630bdd276e345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b1ff2a3a54d26" /><Relationship Type="http://schemas.openxmlformats.org/officeDocument/2006/relationships/notesMaster" Target="/ppt/notesMasters/notesMaster1.xml" Id="R56bdda7c2ff841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a69bb671f4156" /><Relationship Type="http://schemas.openxmlformats.org/officeDocument/2006/relationships/notesMaster" Target="/ppt/notesMasters/notesMaster1.xml" Id="R47d77af6d55447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57f6cbcef4336" /><Relationship Type="http://schemas.openxmlformats.org/officeDocument/2006/relationships/notesMaster" Target="/ppt/notesMasters/notesMaster1.xml" Id="R54e894f08df6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1ae361760141fb" /><Relationship Type="http://schemas.openxmlformats.org/officeDocument/2006/relationships/notesMaster" Target="/ppt/notesMasters/notesMaster1.xml" Id="Rf441c41703f143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a01816b2f04811" /><Relationship Type="http://schemas.openxmlformats.org/officeDocument/2006/relationships/notesMaster" Target="/ppt/notesMasters/notesMaster1.xml" Id="Rd6e0af01fd99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https://www.labwrench.com/thread/135698/hplc-pump-and-autosampler-preventative-performance-maintenance</a:t>
            </a:r>
          </a:p>
          <a:p xmlns:a="http://schemas.openxmlformats.org/drawingml/2006/main">
            <a:r>
              <a:t>- https://www.selectscience.net/product/acquity-uplc-r-beh-c18-and-c8-columns</a:t>
            </a:r>
          </a:p>
          <a:p xmlns:a="http://schemas.openxmlformats.org/drawingml/2006/main">
            <a:r>
              <a:t>- https://www.fda.gov/inspections-compliance-enforcement-and-criminal-investigations/compliance-actions-and-activities/warning-letters/datatables-data?_format=xlsx&amp;page=0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https://www.thermofisher.com/us/en/home/industrial/chromatography/liquid-chromatography-lc/hplc-uhplc-systems/vanquish-amplify-uhplc-system.html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https://www.labwrench.com/thread/135698/hplc-pump-and-autosampler-preventative-performance-maintenance</a:t>
            </a:r>
          </a:p>
          <a:p xmlns:a="http://schemas.openxmlformats.org/drawingml/2006/main">
            <a:r>
              <a:t>- https://www.selectscience.net/product/acquity-uplc-r-beh-c18-and-c8-columns</a:t>
            </a:r>
          </a:p>
          <a:p xmlns:a="http://schemas.openxmlformats.org/drawingml/2006/main">
            <a:r>
              <a:t>- https://www.fda.gov/inspections-compliance-enforcement-and-criminal-investigations/compliance-actions-and-activities/warning-letters/datatables-data?_format=xlsx&amp;page=0</a:t>
            </a:r>
          </a:p>
          <a:p xmlns:a="http://schemas.openxmlformats.org/drawingml/2006/main">
            <a:r>
              <a:t>- https://www.fda.gov/media/190190/download?attachment=</a:t>
            </a:r>
          </a:p>
          <a:p xmlns:a="http://schemas.openxmlformats.org/drawingml/2006/main">
            <a:r>
              <a:t>- https://www.selectscience.net/product/arc-hplc-system?reviewItem=c6866ce0f446fc50</a:t>
            </a:r>
          </a:p>
          <a:p xmlns:a="http://schemas.openxmlformats.org/drawingml/2006/main">
            <a:r>
              <a:t>- https://www.selectscience.net/product/arc-hplc-system?reviewItem=0e5b2545d7d11f15</a:t>
            </a:r>
          </a:p>
          <a:p xmlns:a="http://schemas.openxmlformats.org/drawingml/2006/main">
            <a:r>
              <a:t>- https://www.selectscience.net/product/arc-hplc-system?reviewItem=0568db63471e745f</a:t>
            </a:r>
          </a:p>
          <a:p xmlns:a="http://schemas.openxmlformats.org/drawingml/2006/main">
            <a:r>
              <a:t>- https://www.selectscience.net/product/arc-hplc-system?reviewItem=dd59084477b562c5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https://www.thermofisher.com/order/catalog/product/VQ-AMPLIFY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https://www.thermofisher.com/order/catalog/product/VQ-AMPLIFY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https://pubmed.ncbi.nlm.nih.gov/?term=%28%28oligonucleotide+OR+%22nucleic+acid%22+OR+siRNA%29+AND+%28%22LC-MS%22+OR+chromatography+OR+%22mass+spectrometry%22%29%29+AND+%28%222025%2F09%2F08%22%5BDate+-+Publication%5D+%3A+%222026%2F09%2F08%22%5BDate+-+Publication%5D%29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285692a884e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42bdcf79a4393" /><Relationship Type="http://schemas.openxmlformats.org/officeDocument/2006/relationships/slideLayout" Target="/ppt/slideLayouts/slideLayout1.xml" Id="Re62b86348e90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b86348e90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f21cb7eb94dda" /><Relationship Type="http://schemas.openxmlformats.org/officeDocument/2006/relationships/notesSlide" Target="/ppt/notesSlides/notesSlide1.xml" Id="R7759cd990eeb4d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934e55fc4b82" /><Relationship Type="http://schemas.openxmlformats.org/officeDocument/2006/relationships/notesSlide" Target="/ppt/notesSlides/notesSlide2.xml" Id="R712a640bb79048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02fb6c8794411" /><Relationship Type="http://schemas.openxmlformats.org/officeDocument/2006/relationships/notesSlide" Target="/ppt/notesSlides/notesSlide3.xml" Id="Rdacecb9a456f4c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cc6965ecf4562" /><Relationship Type="http://schemas.openxmlformats.org/officeDocument/2006/relationships/notesSlide" Target="/ppt/notesSlides/notesSlide4.xml" Id="R72f964739a3a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0d9a9a7274e67" /><Relationship Type="http://schemas.openxmlformats.org/officeDocument/2006/relationships/notesSlide" Target="/ppt/notesSlides/notesSlide5.xml" Id="Rb372974ed5a041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a1e3b77314004" /><Relationship Type="http://schemas.openxmlformats.org/officeDocument/2006/relationships/notesSlide" Target="/ppt/notesSlides/notesSlide6.xml" Id="Re2e670d1e7bf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2b519d4c84a4c" /><Relationship Type="http://schemas.openxmlformats.org/officeDocument/2006/relationships/notesSlide" Target="/ppt/notesSlides/notesSlide7.xml" Id="R00863821748f4a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d83e9c9224699" /><Relationship Type="http://schemas.openxmlformats.org/officeDocument/2006/relationships/hyperlink" Target="https://pubmed.ncbi.nlm.nih.gov/?term=%28%28PFAS+OR+%22per-+and+polyfluoroalkyl%22%29+AND+%28%22LC-MS%22+OR+%22LC-MS%2FMS%22+OR+chromatography%29%29+AND+%28%222025%2F09%2F08%22%5BDate+-+Publication%5D+%3A+%222026%2F09%2F08%22%5BDate+-+Publication%5D%29" TargetMode="External" Id="R486445a988b2490a" /><Relationship Type="http://schemas.openxmlformats.org/officeDocument/2006/relationships/hyperlink" Target="https://www.agilent.com/about/newsroom/presrel/2026/29may-ca26021.html" TargetMode="External" Id="R920f1152316349fc" /><Relationship Type="http://schemas.openxmlformats.org/officeDocument/2006/relationships/hyperlink" Target="https://www.sec.gov/Archives/edgar/data/1090872/000109087226000055/a-20260430.htm" TargetMode="External" Id="Rd3b9d96a0d1e4c9f" /><Relationship Type="http://schemas.openxmlformats.org/officeDocument/2006/relationships/hyperlink" Target="https://www.shimadzu.com/news/2026/k8iri3_20_z4uvwt.html" TargetMode="External" Id="Rb00ad112b305496e" /><Relationship Type="http://schemas.openxmlformats.org/officeDocument/2006/relationships/hyperlink" Target="https://sciex.com/about-us/press-releases/2026/sciex-launches-its-5th-generation-of-nominal-mass-novus-v55-system-with-sciexos-5-0-software" TargetMode="External" Id="Rb245d4684f934e38" /><Relationship Type="http://schemas.openxmlformats.org/officeDocument/2006/relationships/hyperlink" Target="https://www.bioprocessingsummit.com/" TargetMode="External" Id="R5769aac7b70f4b85" /><Relationship Type="http://schemas.openxmlformats.org/officeDocument/2006/relationships/notesSlide" Target="/ppt/notesSlides/notesSlide8.xml" Id="R2333cc2545f5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D2D08-6F2D-4889-AAA8-65A1395F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A9606-F7D9-4D7F-9A59-211D867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WATERS · NEXT GEN 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306E3-6204-48E7-A41B-42A387A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AF293-9AA1-4087-8250-F17C490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Five external signals. Three evidence-gated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7FCB9-CB51-4008-814B-EFF85630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A concise executive readout of scientific momentum, competitor moves, customer friction, corporate intent, and the next conference moment.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E30F-AC74-4350-9CD4-DA5C1A7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85900"/>
            <a:ext cx="2400300" cy="2647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D4A54"/>
          </a:solidFill>
          <a:ln xmlns:a="http://schemas.openxmlformats.org/drawingml/2006/main" w="9525">
            <a:solidFill>
              <a:srgbClr val="2B62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125CC-F6EF-4407-A457-DB7A7BE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DATA 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FF3E4-DC10-4EC6-AE4B-BB933704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4EBAD-50BD-4D92-9D2D-3FE7340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4478D-71F0-44F6-9CE1-4D1E519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536DE-33C2-4D43-9256-AE8DD30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C39BE-3E6D-48DD-880E-2988F68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Prepared for roadmap review · waters-ci-20260909030324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2F3CA-BF8D-4DC8-A2C3-2C0D158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5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0188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3C63B-074B-4A6C-9474-3614B14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A4362-C2EA-47AB-B259-49BCE6B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178A-A323-4921-A7D5-2B8B1C4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strongest cross-page pattern is not a single specification—it is proof that the full workflow is easier to execute, transfer, and troubleshoot.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C72B2-E6DB-4E94-837B-FE918204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CCA17-7506-41FF-854B-A24E60B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935D3-A634-4F3A-AA56-96E008EE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LEADERSHIP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23CBE-C2C9-421F-B0A4-A1E46417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621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new requirements against workflow proof, not feature parity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B7C99-EC7F-400C-B0B0-33067C8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A9D7-D6D0-4858-BC11-02309F8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0E9CC-C2B2-4436-B76E-C963CE19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1,166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2E5E-0781-42EB-B7F7-BCC63FB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Automation and software workflow publications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549D2-8D15-43BE-9B76-DE308CE2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activity in the last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B9265-2E17-4CAC-9338-DB3E2E05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57E74-3415-4636-8795-12F82144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89803-C0EE-40AF-BC1B-65B2EEC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342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FCD61-349F-4774-9BC6-FB6B27E6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and contaminant-testing publications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16117-AA9F-4631-B695-23F56103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 regulated-testing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3A712-A51D-4656-85DD-4C5F48FF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2CB43-95A8-473F-8C29-A92803F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B350F-3F22-4970-A84D-B9A14BF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666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883BA-45CE-488F-9B75-C413A7A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Oligonucleotide and nucleic-acid publications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BB85C-1403-4811-A8E5-4EB403B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Substantial application evidence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5DA38-DC6D-4CBA-81C3-64498A71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BE62A-93EE-4FE7-8207-FF5CC31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9244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25EAD0-0B98-47C4-9660-1F0874D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4FFF-43C8-471A-82CF-6E5F495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Five signals now shape the roadmap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DF04D-F667-4A44-BBE6-F481007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Each signal comes from a different evidence class; together they show why leadership attention is warranted.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84CCE-7291-4692-B093-036E5EE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74DD5-851D-44EC-B06F-1C2224CA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BAAA9-51D3-4D0A-8679-8F30DDCE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C7E45-EDC6-49D6-9613-0DC0975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EF886-7C34-47FE-8954-DF82A024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780A3-42DA-456B-B398-B64B70F0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activity remains substantial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B0847-9391-494C-B5DB-F8AD03A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342 records from the canonical PubMed query.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CA587-974B-4005-B484-B200669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C7C2B-C10F-4F12-819E-B8B10E5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64D32-CF35-4E61-A0B6-34DBF55E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F14DD-4DAD-4162-960E-B18F46A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COMPETITOR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340B-F6A3-48EF-85F7-EC4243EC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is packaging LC/TOF into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1D791-763B-44B1-860F-BD36A9D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issuer evidence from Agilent's official release.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45107-47C7-4EE4-9B5D-D67EC12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CD6D8-4F68-40EB-932C-703DC72D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2EB07-8367-4A84-92AA-4C5AAC9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2D592-EB6F-44BE-BFE8-24CFB0C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CUSTOMER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AC30F-A7A7-4555-B2F1-0AAB164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Troubleshooting requires internal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DC9ED-FE92-4006-B546-BC5E7EAC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Public forum recurrence requires internal field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20631-22E7-484C-B149-B6CA98C5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78D25-69C8-483B-923B-D2EB33D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8377D-7ACD-4D03-BCB4-96415EC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28A4E-8B80-4DD0-B3E7-E315F38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CORPORATE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2A87E-8A07-43B0-B6B3-6552BE9B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calls LC and LC-MS growth engines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F3F96-28E4-4810-A520-9FA8A4E8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issuer filing; no independent external corroboration.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D85CE6-35A5-44C9-90E7-2403C61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816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A22EC-D696-48D7-A3CA-2D39A7C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53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E0F88-1921-416F-A849-C19218E2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29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D8A8F-93C9-496C-A3AA-F01FA24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435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A21FB7-68C2-4C57-8FCA-C1F3FF92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911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begins Aug 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9544B1-CF45-453F-AF30-662CC03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579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agenda and sponsor facts from the event site.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24B9F-4F33-4940-8610-86B9CE3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06BF92-3B9A-48E0-86DA-9578085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131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9F860-65BB-452B-B65A-BB7746E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E5DF6-451B-4ECA-A489-5EC355A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 competitor actions suggest workflow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60F28-755B-405D-AD0D-320679E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 confidence is Directional: each company view lacks two independently corroborating source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531C1-7D57-4060-9C7B-37F0D659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3918-46AC-4CA6-8D4D-BD88C8C1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5F7C3-309E-4A7E-AB73-05BF335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43680-B2AB-4681-B464-9850161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SHIMADZU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639CC-44AC-48CC-A655-B1405ED4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CEBCA-5B75-40EC-BFE6-2C84A193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Nexera X4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13D71-4E44-4ECC-BB05-B7D53F11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productivity-led LC positioning. Alternative: normal platform refresh.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F8771-AE4B-4855-8419-3176707D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6B103-08D7-487B-8436-98C9EC2F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A54C4-8F80-4027-8CF7-F371D089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AGILENT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9A06A-9BFA-440C-9F0F-966C5EA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Jun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B717E-2D81-4201-BC4F-177FFF5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6230C LC/TOF in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FB638-3744-4BD1-BC04-E9099C80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application-specific workflow packaging. Alternative: campaign positioning.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5898F-958F-468C-A9D9-AC2CB662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97B05-9CE3-4D3A-9786-A0D700A9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7440B-4F75-48AA-91FA-AB5506E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420C3-9C48-4838-BC6E-DF48B6BB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01 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86550-ED95-49DB-B622-0E1C6DB9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novus V55 + SCIEX OS 5.0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0D6A5-1D84-4740-AF24-21BE5A94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software-led nominal-mass offer; this does not verify broader HRMS depth.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A57C7-741E-4A05-9B89-31BE777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E2AC3-FEC6-453B-BE08-A46195B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33955-385A-4B0E-99ED-E0E84456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THERMO FISHER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3330A-9D1C-4C97-8E7F-BE0361FC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D5872-5D3E-4B59-8B2D-222CE634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Vanquish Amplify product page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5211D-09F5-43DF-B768-1D94B47A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inert biopharma workflow packaging. Alternative: portfolio positioning.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3805F9-3486-4FA1-B441-E988BEF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6C7E6-58B9-448D-AB3D-A6BD3DE5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7419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C675F-A60F-4BDC-8A5B-5CE95F9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E539D-C354-420D-B2EF-A7E8482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Customer evidence is a validation input—not a prevalence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6C6B-8B84-434F-9A90-0FEEE91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Forum evidence is promoted to leadership only when at least three independent sources support the same theme.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DFC1-95AA-4571-BFB1-0CE7DD8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86857-327A-4266-B333-25105DF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324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648ED-BFB2-4C1F-AD01-81BA6A6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DIRECTIONAL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9631C-C2AD-4557-AA4D-AC040C2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CUSTOMER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E9DC8-B3BE-4ADC-8E97-8542C6C7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991A1-EF10-4379-AC86-1F571636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3+ independent sources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plus internal field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32CD9-2944-4A68-8D6C-9585B85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65341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4B9FE-1302-4EA6-8C64-890E4CE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WHAT LEADERS SHOULD TAKE FROM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DFD02-542C-4729-A600-4086F6CA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Do not infer product weakness from one complaint.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1FC40-EC03-4935-9E0F-8DF5CCD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Before adding requirements, validate: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84237-4DD5-4C1B-8D56-84F42D0A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552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1. Which failure modes repeat across customer and field records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2. How long users take to isolate and recover from them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3. Whether guided diagnostics materially shorten that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8690-D994-4E73-9C7B-F3D8DE8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19DED-5AC6-4C8C-A158-50900A0E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0282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36E7DF-A606-425A-981C-2E05398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8DCF4-11D6-4C25-BF6E-0FEFF8A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Three decisions are evidence-prioritized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72B2-A7A7-40D1-9470-2767EC1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evidence-priority score compares application activity, competitor activity, and source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D9A9-21B1-462B-80F9-E328FC5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821B2-744A-4028-A819-B729183E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85FE8-04A7-4987-A477-422B5DC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E29C-23C6-41C5-A113-6250C6E2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87CD3-9A04-44A6-8F03-DCFC891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5368F-63B9-4C0F-885E-D8E05564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54/100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CA8E5-4599-4967-8BA5-39DA0B3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to package a PFAS-ready regulated quantitation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790FF-3F5D-4981-A581-E7C5E33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9B736-5AFB-4DAE-970F-0F599A86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Product Management and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C6582-D35D-48BC-8744-D5F4F62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08DE1-1483-4214-A80D-E60AF42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74913-A3EF-4359-8C66-30F8CDAA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51A8C-9692-4C48-955C-D3185BBD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4C76E-03D9-4F38-A342-91A95637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8FD67-73AB-4449-B89B-DA823156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AC53B-136F-459E-852E-0365BCB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59/100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92417-F2A9-4D24-9D92-B622581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and Alliance iS need new end-to-end workflow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39F60-52AA-4F52-81F6-CBD87819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B8002-8459-485F-81A8-A6D705D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LC Platform PM and Software 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99A75-23D9-4984-B962-620498B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AAC38-6634-4A03-BBDC-CC1894B4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build, package existing capabilities, reposition, or 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1254A-B588-46E3-A6E2-DAF7115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AE185-9AE1-4FA3-A70C-EFACE39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DB467-432E-4992-82A8-51108E7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8A807-11FD-4BAA-9B6A-23B4655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68402-E958-403D-9BEA-DC61D96A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54/100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0167B4-38B5-4636-8538-8DE79E0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needs an oligonucleotide method-readiness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A602A-F0B9-4AAF-9B8D-A9570F1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1B3C7-69F2-4A8F-8F75-787C13F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Biopharma Applications and Next Gen LC PM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8E60B-E992-4A56-AC5B-82A9B57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8CE9E-87EC-4719-8BDC-146A101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06C0D-FAD7-47D3-AA5A-CC3D520F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92DA8-B203-4E61-8EA9-94D5C761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3801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876C1-DEA0-49E6-92D7-99E4F562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6A8F7-2678-4F0B-B7BB-788B3E0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Close the evidence gaps before adding roadmap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32AD4-D60C-450B-BA59-36BB2F4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Sequence evidence gates around the next roadmap review without inventing calendar commitments.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C6630-F218-456A-B617-323B24C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D03F0-0BD6-44D8-9A33-56492B34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FFE6A-F993-472A-988A-EED27B6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DAC2D-5094-4F98-91A9-A7760BE2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9EE29-2B17-438C-A3DE-2C063A2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DE3A9-6AAE-4466-9A3C-4E3DAEB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Complete claims matrix and make the package go/no-go.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9CD56-D009-4FF8-8086-7A7F3CC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2769C-91A7-42B9-ADF3-276F3D2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4B37-4E27-4F4E-98EB-ED7C258F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758D7-D04E-4438-BFA2-5C5B99D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Lead with MAM, complex modalities and transfer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0C924-DB7D-430C-8FAE-F36F04F7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5F1A9-5837-4C63-851F-3816D66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F95B8-0270-4E42-BF24-421A1863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Workflow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2D36B-316C-484E-A192-CFA9F41A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build, package, reposition, or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1892F-AF7B-451D-9765-2960CF6B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879C1-2326-46CB-98AF-28B3B358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B58B8-AD58-49D9-A265-78CA34C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F4696-85AF-42F3-B53D-F00F5A7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package, build, partner, monitor, or stop.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DF559-3F1C-4FE1-92F3-EB7BE5DF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67350"/>
            <a:ext cx="8839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9D2D8-73FA-41E1-9435-ED98F42C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 roadmap capacity on repeated customer-visible evidence plus quantified benefit and engineering effort.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8480E-9546-4DE7-9876-14F2684D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C0FD5-1630-4322-9FAE-295ABB7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5869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34001B-37D5-4DDE-A2FE-B115842A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9DA22-E448-4F93-B162-2987E77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Primary sources behind the leadership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25306-0835-4A4E-8EFF-8FBC09E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public evidence is kept separate from inference; publication counts are contextual signals, not market-size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6ACB4-80E5-4FEB-8EE7-6187D2E4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CC138-DA37-4DB2-B049-185F85BA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96588-180B-4516-9895-E2189E4E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FA00-847F-4719-B819-CFF6CD3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PubMed · PFAS / LC-MS query</a:t>
            </a:r>
          </a:p>
        </p:txBody>
      </p:sp>
      <p:sp>
        <p:nvSpPr>
          <p:cNvPr id="8" name="">
            <a:hlinkClick xmlns:r="http://schemas.openxmlformats.org/officeDocument/2006/relationships" xmlns:a="http://schemas.openxmlformats.org/drawingml/2006/main" r:id="R486445a988b2490a"/>
            <a:extLst xmlns:a="http://schemas.openxmlformats.org/drawingml/2006/main">
              <a:ext uri="{FF2B5EF4-FFF2-40B4-BE49-F238E27FC236}">
                <a16:creationId xmlns:a16="http://schemas.microsoft.com/office/drawing/2014/main" id="{673FA212-499E-460D-9F35-25DAEEC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1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https://pubmed.ncbi.nlm.nih.gov/?term=%28%28PFAS+OR+%22per-+and+polyfluoroalkyl%22%29+AND+%28%22LC-MS%22+OR+%22LC-MS%2FMS%22+OR+chromatography%29%29+AND+%28%222025%2F09%2F08%22%5BDate+-+Publication%5D+%3A+%222026%2F09%2F08%22%5BDate+-+Publication%5D%29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087C8-0DA7-4BB1-BCD9-CB26ACDC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A2B1C-9256-4B6B-AD65-4A47289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6BB11-89D4-46D3-814A-8DE339A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9D96D-130F-48FE-8EFF-8A69C44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6230C LC/TOF in MAM workflow</a:t>
            </a:r>
          </a:p>
        </p:txBody>
      </p:sp>
      <p:sp>
        <p:nvSpPr>
          <p:cNvPr id="13" name="">
            <a:hlinkClick xmlns:r="http://schemas.openxmlformats.org/officeDocument/2006/relationships" xmlns:a="http://schemas.openxmlformats.org/drawingml/2006/main" r:id="R920f1152316349fc"/>
            <a:extLst xmlns:a="http://schemas.openxmlformats.org/drawingml/2006/main">
              <a:ext uri="{FF2B5EF4-FFF2-40B4-BE49-F238E27FC236}">
                <a16:creationId xmlns:a16="http://schemas.microsoft.com/office/drawing/2014/main" id="{A03B8DB9-94CD-4345-8FFB-043BB56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https://www.agilent.com/about/newsroom/presrel/2026/29may-ca26021.html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4B4B1-255D-4EEF-823B-BB8CAFEB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B88B2-FD87-42AB-980B-9E4C3A2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B4B30-8BEA-4ACB-9930-F483DA9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FILING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E6AFA-54F7-4A8C-B69F-B13E6B5B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Issuer-reported LC / LC-MS growth</a:t>
            </a:r>
          </a:p>
        </p:txBody>
      </p:sp>
      <p:sp>
        <p:nvSpPr>
          <p:cNvPr id="18" name="">
            <a:hlinkClick xmlns:r="http://schemas.openxmlformats.org/officeDocument/2006/relationships" xmlns:a="http://schemas.openxmlformats.org/drawingml/2006/main" r:id="Rd3b9d96a0d1e4c9f"/>
            <a:extLst xmlns:a="http://schemas.openxmlformats.org/drawingml/2006/main">
              <a:ext uri="{FF2B5EF4-FFF2-40B4-BE49-F238E27FC236}">
                <a16:creationId xmlns:a16="http://schemas.microsoft.com/office/drawing/2014/main" id="{7362A52C-4D71-4B11-BA8D-E001BEE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https://www.sec.gov/Archives/edgar/data/1090872/000109087226000055/a-20260430.htm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64032-3F59-4AAE-8BA0-F14315F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2CEB3-17AE-46A2-B365-2016169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9B944-13C6-430E-B3D6-16D9A769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SHIMADZU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E0013-C9F9-4E25-A972-A09C110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9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Nexera X4 UHPLC</a:t>
            </a:r>
          </a:p>
        </p:txBody>
      </p:sp>
      <p:sp>
        <p:nvSpPr>
          <p:cNvPr id="23" name="">
            <a:hlinkClick xmlns:r="http://schemas.openxmlformats.org/officeDocument/2006/relationships" xmlns:a="http://schemas.openxmlformats.org/drawingml/2006/main" r:id="Rb00ad112b305496e"/>
            <a:extLst xmlns:a="http://schemas.openxmlformats.org/drawingml/2006/main">
              <a:ext uri="{FF2B5EF4-FFF2-40B4-BE49-F238E27FC236}">
                <a16:creationId xmlns:a16="http://schemas.microsoft.com/office/drawing/2014/main" id="{610ED8F1-B5AD-4337-8AD7-4ACDD0E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https://www.shimadzu.com/news/2026/k8iri3_20_z4uvwt.html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3DA43-07D1-41AA-9454-512346D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E0E8E-4152-410E-9610-0F5D14C5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19F2C-4930-45A4-A240-2D4241D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SCIEX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FCFDA-A06C-4F9D-AD9C-90F2511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novus V55 with SCIEX OS 5.0</a:t>
            </a:r>
          </a:p>
        </p:txBody>
      </p:sp>
      <p:sp>
        <p:nvSpPr>
          <p:cNvPr id="28" name="">
            <a:hlinkClick xmlns:r="http://schemas.openxmlformats.org/officeDocument/2006/relationships" xmlns:a="http://schemas.openxmlformats.org/drawingml/2006/main" r:id="Rb245d4684f934e38"/>
            <a:extLst xmlns:a="http://schemas.openxmlformats.org/drawingml/2006/main">
              <a:ext uri="{FF2B5EF4-FFF2-40B4-BE49-F238E27FC236}">
                <a16:creationId xmlns:a16="http://schemas.microsoft.com/office/drawing/2014/main" id="{CA43CB49-1E53-4D44-A986-64386F7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https://sciex.com/about-us/press-releases/2026/sciex-launches-its-5th-generation-of-nominal-mass-novus-v55-system-with-sciexos-5-0-software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4953A-0E76-4BA3-8DDD-0E0460C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633F9-7F48-4A68-B486-79FBAE4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01B2F7-1049-44E0-95B3-525F720F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CONFERENCE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897DF-CB69-4298-B224-DDED01FB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US 2026</a:t>
            </a:r>
          </a:p>
        </p:txBody>
      </p:sp>
      <p:sp>
        <p:nvSpPr>
          <p:cNvPr id="33" name="">
            <a:hlinkClick xmlns:r="http://schemas.openxmlformats.org/officeDocument/2006/relationships" xmlns:a="http://schemas.openxmlformats.org/drawingml/2006/main" r:id="R5769aac7b70f4b85"/>
            <a:extLst xmlns:a="http://schemas.openxmlformats.org/drawingml/2006/main">
              <a:ext uri="{FF2B5EF4-FFF2-40B4-BE49-F238E27FC236}">
                <a16:creationId xmlns:a16="http://schemas.microsoft.com/office/drawing/2014/main" id="{56AF48F1-DDDF-4602-A4E5-3AE986A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https://www.bioprocessingsummit.com/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0BC8E-6104-4408-940B-4DD277B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C02CC-D036-4A46-9A7C-C57D654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56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5600"/>
                </a:solidFill>
                <a:latin typeface="Aptos"/>
                <a:ea typeface="Aptos"/>
                <a:cs typeface="Aptos"/>
              </a:rPr>
              <a:t>Snapshot: waters-ci-20260909030324 · As of 2026-09-08 · Business magnitude requires Waters internal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F4588-AA3E-44E1-9D6B-B139DC0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08 SEP 2026 · waters-ci-20260909030324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B96A0A-B6B0-47CC-A2A7-39D7316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2690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2026-09-09T03:15:40.2660000Z</dcterms:created>
  <dcterms:modified xsi:type="dcterms:W3CDTF">2026-09-09T03:15:40.2670000Z</dcterms:modified>
</coreProperties>
</file>